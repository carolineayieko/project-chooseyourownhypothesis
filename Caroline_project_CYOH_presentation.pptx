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7B2D18-B300-FA43-B69B-62FFA26063C8}" type="datetimeFigureOut">
              <a:rPr lang="en-US" smtClean="0"/>
              <a:t>12/15/25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A168D-38D9-B047-822A-F167E3340AA0}" type="slidenum">
              <a:rPr lang="en-US" smtClean="0"/>
              <a:t>‹#›</a:t>
            </a:fld>
            <a:endParaRPr lang="en-US"/>
          </a:p>
        </p:txBody>
      </p:sp>
    </p:spTree>
    <p:extLst>
      <p:ext uri="{BB962C8B-B14F-4D97-AF65-F5344CB8AC3E}">
        <p14:creationId xmlns:p14="http://schemas.microsoft.com/office/powerpoint/2010/main" val="4055294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Distracted driving is a major public safety issue. Quantifying the specific risk helps inform insurance models and public policy.</a:t>
            </a:r>
          </a:p>
        </p:txBody>
      </p:sp>
      <p:sp>
        <p:nvSpPr>
          <p:cNvPr id="4" name="Slide Number Placeholder 3"/>
          <p:cNvSpPr>
            <a:spLocks noGrp="1"/>
          </p:cNvSpPr>
          <p:nvPr>
            <p:ph type="sldNum" sz="quarter" idx="5"/>
          </p:nvPr>
        </p:nvSpPr>
        <p:spPr/>
        <p:txBody>
          <a:bodyPr/>
          <a:lstStyle/>
          <a:p>
            <a:fld id="{583A168D-38D9-B047-822A-F167E3340AA0}" type="slidenum">
              <a:rPr lang="en-US" smtClean="0"/>
              <a:t>1</a:t>
            </a:fld>
            <a:endParaRPr lang="en-US"/>
          </a:p>
        </p:txBody>
      </p:sp>
    </p:spTree>
    <p:extLst>
      <p:ext uri="{BB962C8B-B14F-4D97-AF65-F5344CB8AC3E}">
        <p14:creationId xmlns:p14="http://schemas.microsoft.com/office/powerpoint/2010/main" val="2774408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83A168D-38D9-B047-822A-F167E3340AA0}" type="slidenum">
              <a:rPr lang="en-US" smtClean="0"/>
              <a:t>3</a:t>
            </a:fld>
            <a:endParaRPr lang="en-US"/>
          </a:p>
        </p:txBody>
      </p:sp>
    </p:spTree>
    <p:extLst>
      <p:ext uri="{BB962C8B-B14F-4D97-AF65-F5344CB8AC3E}">
        <p14:creationId xmlns:p14="http://schemas.microsoft.com/office/powerpoint/2010/main" val="228149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3A168D-38D9-B047-822A-F167E3340AA0}" type="slidenum">
              <a:rPr lang="en-US" smtClean="0"/>
              <a:t>4</a:t>
            </a:fld>
            <a:endParaRPr lang="en-US"/>
          </a:p>
        </p:txBody>
      </p:sp>
    </p:spTree>
    <p:extLst>
      <p:ext uri="{BB962C8B-B14F-4D97-AF65-F5344CB8AC3E}">
        <p14:creationId xmlns:p14="http://schemas.microsoft.com/office/powerpoint/2010/main" val="464376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F7C1B1-FAD3-1847-BAA2-20EE38C9D46F}" type="datetimeFigureOut">
              <a:rPr lang="en-US" smtClean="0"/>
              <a:t>12/15/25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E658F20F-9F59-BA4D-B3F5-F1EF2E2B2A8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5172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F7C1B1-FAD3-1847-BAA2-20EE38C9D46F}" type="datetimeFigureOut">
              <a:rPr lang="en-US" smtClean="0"/>
              <a:t>12/15/25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58F20F-9F59-BA4D-B3F5-F1EF2E2B2A8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2765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F7C1B1-FAD3-1847-BAA2-20EE38C9D46F}" type="datetimeFigureOut">
              <a:rPr lang="en-US" smtClean="0"/>
              <a:t>12/15/25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58F20F-9F59-BA4D-B3F5-F1EF2E2B2A8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9391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F7C1B1-FAD3-1847-BAA2-20EE38C9D46F}" type="datetimeFigureOut">
              <a:rPr lang="en-US" smtClean="0"/>
              <a:t>12/15/25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58F20F-9F59-BA4D-B3F5-F1EF2E2B2A8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97945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F7C1B1-FAD3-1847-BAA2-20EE38C9D46F}" type="datetimeFigureOut">
              <a:rPr lang="en-US" smtClean="0"/>
              <a:t>12/15/25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58F20F-9F59-BA4D-B3F5-F1EF2E2B2A8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6971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F7C1B1-FAD3-1847-BAA2-20EE38C9D46F}" type="datetimeFigureOut">
              <a:rPr lang="en-US" smtClean="0"/>
              <a:t>12/15/25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58F20F-9F59-BA4D-B3F5-F1EF2E2B2A8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0885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F7C1B1-FAD3-1847-BAA2-20EE38C9D46F}" type="datetimeFigureOut">
              <a:rPr lang="en-US" smtClean="0"/>
              <a:t>12/15/25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58F20F-9F59-BA4D-B3F5-F1EF2E2B2A8E}" type="slidenum">
              <a:rPr lang="en-US" smtClean="0"/>
              <a:t>‹#›</a:t>
            </a:fld>
            <a:endParaRPr lang="en-US"/>
          </a:p>
        </p:txBody>
      </p:sp>
    </p:spTree>
    <p:extLst>
      <p:ext uri="{BB962C8B-B14F-4D97-AF65-F5344CB8AC3E}">
        <p14:creationId xmlns:p14="http://schemas.microsoft.com/office/powerpoint/2010/main" val="1412574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F7C1B1-FAD3-1847-BAA2-20EE38C9D46F}" type="datetimeFigureOut">
              <a:rPr lang="en-US" smtClean="0"/>
              <a:t>12/15/25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58F20F-9F59-BA4D-B3F5-F1EF2E2B2A8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1911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5F7C1B1-FAD3-1847-BAA2-20EE38C9D46F}" type="datetimeFigureOut">
              <a:rPr lang="en-US" smtClean="0"/>
              <a:t>12/15/25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E658F20F-9F59-BA4D-B3F5-F1EF2E2B2A8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7314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F7C1B1-FAD3-1847-BAA2-20EE38C9D46F}" type="datetimeFigureOut">
              <a:rPr lang="en-US" smtClean="0"/>
              <a:t>12/15/25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58F20F-9F59-BA4D-B3F5-F1EF2E2B2A8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3933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F7C1B1-FAD3-1847-BAA2-20EE38C9D46F}" type="datetimeFigureOut">
              <a:rPr lang="en-US" smtClean="0"/>
              <a:t>12/15/25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58F20F-9F59-BA4D-B3F5-F1EF2E2B2A8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8662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5F7C1B1-FAD3-1847-BAA2-20EE38C9D46F}" type="datetimeFigureOut">
              <a:rPr lang="en-US" smtClean="0"/>
              <a:t>12/15/25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658F20F-9F59-BA4D-B3F5-F1EF2E2B2A8E}"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08153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2F98E-7BA5-3485-7740-79A5C38107D6}"/>
              </a:ext>
            </a:extLst>
          </p:cNvPr>
          <p:cNvSpPr>
            <a:spLocks noGrp="1"/>
          </p:cNvSpPr>
          <p:nvPr>
            <p:ph type="ctrTitle"/>
          </p:nvPr>
        </p:nvSpPr>
        <p:spPr/>
        <p:txBody>
          <a:bodyPr>
            <a:normAutofit fontScale="90000"/>
          </a:bodyPr>
          <a:lstStyle/>
          <a:p>
            <a:r>
              <a:rPr lang="en-US" dirty="0"/>
              <a:t>Distracted Driving Impact Analysis: Fault &amp; Severity</a:t>
            </a:r>
          </a:p>
        </p:txBody>
      </p:sp>
      <p:sp>
        <p:nvSpPr>
          <p:cNvPr id="3" name="Subtitle 2">
            <a:extLst>
              <a:ext uri="{FF2B5EF4-FFF2-40B4-BE49-F238E27FC236}">
                <a16:creationId xmlns:a16="http://schemas.microsoft.com/office/drawing/2014/main" id="{F7998FD2-E0A2-F55A-C49F-B75CBDC8A055}"/>
              </a:ext>
            </a:extLst>
          </p:cNvPr>
          <p:cNvSpPr>
            <a:spLocks noGrp="1"/>
          </p:cNvSpPr>
          <p:nvPr>
            <p:ph type="subTitle" idx="1"/>
          </p:nvPr>
        </p:nvSpPr>
        <p:spPr/>
        <p:txBody>
          <a:bodyPr>
            <a:normAutofit fontScale="77500" lnSpcReduction="20000"/>
          </a:bodyPr>
          <a:lstStyle/>
          <a:p>
            <a:r>
              <a:rPr lang="en-US" b="1" dirty="0"/>
              <a:t>Name: </a:t>
            </a:r>
            <a:r>
              <a:rPr lang="en-US" dirty="0"/>
              <a:t>Caroline Ayieko</a:t>
            </a:r>
          </a:p>
          <a:p>
            <a:r>
              <a:rPr lang="en-US" b="1" dirty="0"/>
              <a:t>Question: </a:t>
            </a:r>
            <a:r>
              <a:rPr lang="en-US" dirty="0"/>
              <a:t>Does Distracted driving significantly increase the likelihood of a driver being found  “At Fault” and lead to more severe vehicle damage?</a:t>
            </a:r>
          </a:p>
          <a:p>
            <a:endParaRPr lang="en-US" dirty="0"/>
          </a:p>
        </p:txBody>
      </p:sp>
    </p:spTree>
    <p:extLst>
      <p:ext uri="{BB962C8B-B14F-4D97-AF65-F5344CB8AC3E}">
        <p14:creationId xmlns:p14="http://schemas.microsoft.com/office/powerpoint/2010/main" val="289467849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9D9A-D5B7-93BE-263A-5BEB8A6B3608}"/>
              </a:ext>
            </a:extLst>
          </p:cNvPr>
          <p:cNvSpPr>
            <a:spLocks noGrp="1"/>
          </p:cNvSpPr>
          <p:nvPr>
            <p:ph type="title"/>
          </p:nvPr>
        </p:nvSpPr>
        <p:spPr/>
        <p:txBody>
          <a:bodyPr/>
          <a:lstStyle/>
          <a:p>
            <a:r>
              <a:rPr lang="en-US" dirty="0"/>
              <a:t>Data &amp; hypotheses</a:t>
            </a:r>
          </a:p>
        </p:txBody>
      </p:sp>
      <p:sp>
        <p:nvSpPr>
          <p:cNvPr id="3" name="Content Placeholder 2">
            <a:extLst>
              <a:ext uri="{FF2B5EF4-FFF2-40B4-BE49-F238E27FC236}">
                <a16:creationId xmlns:a16="http://schemas.microsoft.com/office/drawing/2014/main" id="{141C8D69-7E60-E1DD-F209-40CFFE6228D9}"/>
              </a:ext>
            </a:extLst>
          </p:cNvPr>
          <p:cNvSpPr>
            <a:spLocks noGrp="1"/>
          </p:cNvSpPr>
          <p:nvPr>
            <p:ph idx="1"/>
          </p:nvPr>
        </p:nvSpPr>
        <p:spPr/>
        <p:txBody>
          <a:bodyPr>
            <a:normAutofit fontScale="92500"/>
          </a:bodyPr>
          <a:lstStyle/>
          <a:p>
            <a:r>
              <a:rPr lang="en-US" b="1" dirty="0"/>
              <a:t>Data Source:  </a:t>
            </a:r>
            <a:r>
              <a:rPr lang="en-US" dirty="0"/>
              <a:t>“Crash Reporting- Drivers Data” (Montgomery County, MD) from </a:t>
            </a:r>
            <a:r>
              <a:rPr lang="en-US" dirty="0" err="1"/>
              <a:t>Data.gov</a:t>
            </a:r>
            <a:endParaRPr lang="en-US" dirty="0"/>
          </a:p>
          <a:p>
            <a:pPr lvl="1"/>
            <a:r>
              <a:rPr lang="en-US" dirty="0"/>
              <a:t>Size: ~160,000 drivers analyzed</a:t>
            </a:r>
          </a:p>
          <a:p>
            <a:r>
              <a:rPr lang="en-US" b="1" dirty="0"/>
              <a:t>Key Variables:</a:t>
            </a:r>
          </a:p>
          <a:p>
            <a:pPr lvl="1"/>
            <a:r>
              <a:rPr lang="en-US" b="1" dirty="0"/>
              <a:t>Independent</a:t>
            </a:r>
            <a:r>
              <a:rPr lang="en-US" dirty="0"/>
              <a:t>: Distraction Status (Distracted vs. Not Distracted).</a:t>
            </a:r>
          </a:p>
          <a:p>
            <a:pPr lvl="1"/>
            <a:r>
              <a:rPr lang="en-US" b="1" dirty="0"/>
              <a:t>Dependent:</a:t>
            </a:r>
            <a:r>
              <a:rPr lang="en-US" dirty="0"/>
              <a:t> Fault Status (Binary) and Vehicle Damage (Ordinal 0-4).</a:t>
            </a:r>
          </a:p>
          <a:p>
            <a:r>
              <a:rPr lang="en-US" b="1" dirty="0"/>
              <a:t>Hypothesis:</a:t>
            </a:r>
            <a:endParaRPr lang="en-US" dirty="0"/>
          </a:p>
          <a:p>
            <a:pPr lvl="1"/>
            <a:r>
              <a:rPr lang="en-US" b="1" dirty="0"/>
              <a:t>Null:</a:t>
            </a:r>
            <a:r>
              <a:rPr lang="en-US" dirty="0"/>
              <a:t> Distraction has no effect on fault rates or damage severity.</a:t>
            </a:r>
          </a:p>
          <a:p>
            <a:pPr lvl="1"/>
            <a:r>
              <a:rPr lang="en-US" b="1" dirty="0"/>
              <a:t>Alternative:</a:t>
            </a:r>
            <a:r>
              <a:rPr lang="en-US" dirty="0"/>
              <a:t> Distracted drivers are more likely to be at fault and cause more severe damage.</a:t>
            </a:r>
          </a:p>
          <a:p>
            <a:endParaRPr lang="en-US" dirty="0"/>
          </a:p>
        </p:txBody>
      </p:sp>
    </p:spTree>
    <p:extLst>
      <p:ext uri="{BB962C8B-B14F-4D97-AF65-F5344CB8AC3E}">
        <p14:creationId xmlns:p14="http://schemas.microsoft.com/office/powerpoint/2010/main" val="48689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91D96-FED9-BCDC-EE6B-ABF735DB2D2D}"/>
              </a:ext>
            </a:extLst>
          </p:cNvPr>
          <p:cNvSpPr>
            <a:spLocks noGrp="1"/>
          </p:cNvSpPr>
          <p:nvPr>
            <p:ph type="title"/>
          </p:nvPr>
        </p:nvSpPr>
        <p:spPr/>
        <p:txBody>
          <a:bodyPr/>
          <a:lstStyle/>
          <a:p>
            <a:r>
              <a:rPr lang="en-US" dirty="0"/>
              <a:t>Methodology</a:t>
            </a:r>
          </a:p>
        </p:txBody>
      </p:sp>
      <p:sp>
        <p:nvSpPr>
          <p:cNvPr id="4" name="Rectangle 1">
            <a:extLst>
              <a:ext uri="{FF2B5EF4-FFF2-40B4-BE49-F238E27FC236}">
                <a16:creationId xmlns:a16="http://schemas.microsoft.com/office/drawing/2014/main" id="{19D70000-A7F1-D10C-A617-0249E22B8EA0}"/>
              </a:ext>
            </a:extLst>
          </p:cNvPr>
          <p:cNvSpPr>
            <a:spLocks noGrp="1" noChangeArrowheads="1"/>
          </p:cNvSpPr>
          <p:nvPr>
            <p:ph idx="1"/>
          </p:nvPr>
        </p:nvSpPr>
        <p:spPr bwMode="auto">
          <a:xfrm>
            <a:off x="1345254" y="2351288"/>
            <a:ext cx="10680424"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Approach:</a:t>
            </a:r>
            <a:r>
              <a:rPr kumimoji="0" lang="en-US" altLang="en-US" sz="1800" b="0" i="0" u="none" strike="noStrike" cap="none" normalizeH="0" baseline="0" dirty="0">
                <a:ln>
                  <a:noFill/>
                </a:ln>
                <a:solidFill>
                  <a:schemeClr val="tx1"/>
                </a:solidFill>
                <a:effectLst/>
                <a:latin typeface="Arial" panose="020B0604020202020204" pitchFamily="34" charset="0"/>
              </a:rPr>
              <a:t> Used resampling techniques (5,000 iterations) to avoid assumptions about data normality.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Metric 1: Fault Rate (Difference in Proportions)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Tested via </a:t>
            </a:r>
            <a:r>
              <a:rPr kumimoji="0" lang="en-US" altLang="en-US" sz="1600" b="1" i="0" u="none" strike="noStrike" cap="none" normalizeH="0" baseline="0" dirty="0">
                <a:ln>
                  <a:noFill/>
                </a:ln>
                <a:solidFill>
                  <a:schemeClr val="tx1"/>
                </a:solidFill>
                <a:effectLst/>
                <a:latin typeface="Arial" panose="020B0604020202020204" pitchFamily="34" charset="0"/>
              </a:rPr>
              <a:t>Permutation Test</a:t>
            </a:r>
            <a:r>
              <a:rPr kumimoji="0" lang="en-US" altLang="en-US" sz="1600" b="0" i="0" u="none" strike="noStrike" cap="none" normalizeH="0" baseline="0" dirty="0">
                <a:ln>
                  <a:noFill/>
                </a:ln>
                <a:solidFill>
                  <a:schemeClr val="tx1"/>
                </a:solidFill>
                <a:effectLst/>
                <a:latin typeface="Arial" panose="020B0604020202020204" pitchFamily="34" charset="0"/>
              </a:rPr>
              <a:t> (to establish significance) and </a:t>
            </a:r>
            <a:r>
              <a:rPr kumimoji="0" lang="en-US" altLang="en-US" sz="1600" b="1" i="0" u="none" strike="noStrike" cap="none" normalizeH="0" baseline="0" dirty="0">
                <a:ln>
                  <a:noFill/>
                </a:ln>
                <a:solidFill>
                  <a:schemeClr val="tx1"/>
                </a:solidFill>
                <a:effectLst/>
                <a:latin typeface="Arial" panose="020B0604020202020204" pitchFamily="34" charset="0"/>
              </a:rPr>
              <a:t>Bootstrapping</a:t>
            </a:r>
            <a:r>
              <a:rPr kumimoji="0" lang="en-US" altLang="en-US" sz="1600" b="0" i="0" u="none" strike="noStrike" cap="none" normalizeH="0" baseline="0" dirty="0">
                <a:ln>
                  <a:noFill/>
                </a:ln>
                <a:solidFill>
                  <a:schemeClr val="tx1"/>
                </a:solidFill>
                <a:effectLst/>
                <a:latin typeface="Arial" panose="020B0604020202020204" pitchFamily="34" charset="0"/>
              </a:rPr>
              <a:t> (to estimate uncertainty).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Metric 2: Damage Severity (Difference in Medians)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Tested via </a:t>
            </a:r>
            <a:r>
              <a:rPr kumimoji="0" lang="en-US" altLang="en-US" sz="1600" b="1" i="0" u="none" strike="noStrike" cap="none" normalizeH="0" baseline="0" dirty="0">
                <a:ln>
                  <a:noFill/>
                </a:ln>
                <a:solidFill>
                  <a:schemeClr val="tx1"/>
                </a:solidFill>
                <a:effectLst/>
                <a:latin typeface="Arial" panose="020B0604020202020204" pitchFamily="34" charset="0"/>
              </a:rPr>
              <a:t>Bootstrapping only</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ClrTx/>
              <a:buSzTx/>
              <a:buNone/>
            </a:pPr>
            <a:endParaRPr lang="en-US" b="1" dirty="0"/>
          </a:p>
          <a:p>
            <a:pPr marL="457200" lvl="1" indent="0" eaLnBrk="0" fontAlgn="base" hangingPunct="0">
              <a:lnSpc>
                <a:spcPct val="100000"/>
              </a:lnSpc>
              <a:spcBef>
                <a:spcPct val="0"/>
              </a:spcBef>
              <a:spcAft>
                <a:spcPct val="0"/>
              </a:spcAft>
              <a:buClrTx/>
              <a:buSzTx/>
              <a:buNone/>
            </a:pPr>
            <a:r>
              <a:rPr lang="en-US" b="1" dirty="0"/>
              <a:t>Why CLT does not apply: </a:t>
            </a:r>
          </a:p>
          <a:p>
            <a:pPr lvl="1" eaLnBrk="0" fontAlgn="base" hangingPunct="0">
              <a:lnSpc>
                <a:spcPct val="100000"/>
              </a:lnSpc>
              <a:spcBef>
                <a:spcPct val="0"/>
              </a:spcBef>
              <a:spcAft>
                <a:spcPct val="0"/>
              </a:spcAft>
              <a:buClrTx/>
              <a:buSzTx/>
            </a:pPr>
            <a:r>
              <a:rPr lang="en-US" dirty="0"/>
              <a:t>	The damage score is discrete and ordinal (integers 0-4) and the sampling distribution of a median</a:t>
            </a:r>
          </a:p>
          <a:p>
            <a:pPr marL="457200" lvl="1" indent="0" eaLnBrk="0" fontAlgn="base" hangingPunct="0">
              <a:lnSpc>
                <a:spcPct val="100000"/>
              </a:lnSpc>
              <a:spcBef>
                <a:spcPct val="0"/>
              </a:spcBef>
              <a:spcAft>
                <a:spcPct val="0"/>
              </a:spcAft>
              <a:buClrTx/>
              <a:buSzTx/>
              <a:buNone/>
            </a:pPr>
            <a:r>
              <a:rPr lang="en-US"/>
              <a:t>from </a:t>
            </a:r>
            <a:r>
              <a:rPr lang="en-US" dirty="0"/>
              <a:t>such a distribution is generally not normal</a:t>
            </a:r>
            <a:r>
              <a:rPr lang="en-US"/>
              <a:t>, making </a:t>
            </a:r>
            <a:r>
              <a:rPr lang="en-US" dirty="0"/>
              <a:t>standard parametric confidence intervals invalid.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4498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075E0-6A8D-16B9-D7BA-5E4B104B34D7}"/>
              </a:ext>
            </a:extLst>
          </p:cNvPr>
          <p:cNvSpPr>
            <a:spLocks noGrp="1"/>
          </p:cNvSpPr>
          <p:nvPr>
            <p:ph type="title"/>
          </p:nvPr>
        </p:nvSpPr>
        <p:spPr>
          <a:xfrm>
            <a:off x="1451579" y="804519"/>
            <a:ext cx="9603275" cy="1049235"/>
          </a:xfrm>
        </p:spPr>
        <p:txBody>
          <a:bodyPr>
            <a:normAutofit/>
          </a:bodyPr>
          <a:lstStyle/>
          <a:p>
            <a:r>
              <a:rPr lang="en-US" dirty="0"/>
              <a:t>Key result: metric 1-fault rate</a:t>
            </a:r>
          </a:p>
        </p:txBody>
      </p:sp>
      <p:sp>
        <p:nvSpPr>
          <p:cNvPr id="4" name="Rectangle 1">
            <a:extLst>
              <a:ext uri="{FF2B5EF4-FFF2-40B4-BE49-F238E27FC236}">
                <a16:creationId xmlns:a16="http://schemas.microsoft.com/office/drawing/2014/main" id="{174A9DB4-24BD-D709-19D6-F440AAAB937B}"/>
              </a:ext>
            </a:extLst>
          </p:cNvPr>
          <p:cNvSpPr>
            <a:spLocks noGrp="1" noChangeArrowheads="1"/>
          </p:cNvSpPr>
          <p:nvPr>
            <p:ph idx="1"/>
          </p:nvPr>
        </p:nvSpPr>
        <p:spPr bwMode="auto">
          <a:xfrm>
            <a:off x="1451579" y="2015734"/>
            <a:ext cx="5622284" cy="34506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rPr>
              <a:t>Finding:</a:t>
            </a:r>
            <a:r>
              <a:rPr kumimoji="0" lang="en-US" altLang="en-US" sz="1300" b="0" i="0" u="none" strike="noStrike" cap="none" normalizeH="0" baseline="0" dirty="0">
                <a:ln>
                  <a:noFill/>
                </a:ln>
                <a:effectLst/>
                <a:latin typeface="Arial" panose="020B0604020202020204" pitchFamily="34" charset="0"/>
              </a:rPr>
              <a:t> Distracted drivers were approximately </a:t>
            </a:r>
            <a:r>
              <a:rPr kumimoji="0" lang="en-US" altLang="en-US" sz="1300" b="1" i="0" u="none" strike="noStrike" cap="none" normalizeH="0" baseline="0" dirty="0">
                <a:ln>
                  <a:noFill/>
                </a:ln>
                <a:effectLst/>
                <a:latin typeface="Arial" panose="020B0604020202020204" pitchFamily="34" charset="0"/>
              </a:rPr>
              <a:t>66% more likely</a:t>
            </a:r>
            <a:r>
              <a:rPr kumimoji="0" lang="en-US" altLang="en-US" sz="1300" b="0" i="0" u="none" strike="noStrike" cap="none" normalizeH="0" baseline="0" dirty="0">
                <a:ln>
                  <a:noFill/>
                </a:ln>
                <a:effectLst/>
                <a:latin typeface="Arial" panose="020B0604020202020204" pitchFamily="34" charset="0"/>
              </a:rPr>
              <a:t> to be found at fault </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300" b="0" i="0" u="none" strike="noStrike" cap="none" normalizeH="0" baseline="0" dirty="0">
                <a:ln>
                  <a:noFill/>
                </a:ln>
                <a:effectLst/>
                <a:latin typeface="Arial" panose="020B0604020202020204" pitchFamily="34" charset="0"/>
              </a:rPr>
              <a:t>than non-distracted drivers.</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rPr>
              <a:t>Significance:</a:t>
            </a:r>
            <a:r>
              <a:rPr kumimoji="0" lang="en-US" altLang="en-US" sz="1300" b="0" i="0" u="none" strike="noStrike" cap="none" normalizeH="0" baseline="0" dirty="0">
                <a:ln>
                  <a:noFill/>
                </a:ln>
                <a:effectLst/>
                <a:latin typeface="Arial" panose="020B0604020202020204" pitchFamily="34" charset="0"/>
              </a:rPr>
              <a:t> P-value = </a:t>
            </a:r>
            <a:r>
              <a:rPr kumimoji="0" lang="en-US" altLang="en-US" sz="1300" b="1" i="0" u="none" strike="noStrike" cap="none" normalizeH="0" baseline="0" dirty="0">
                <a:ln>
                  <a:noFill/>
                </a:ln>
                <a:effectLst/>
                <a:latin typeface="Arial" panose="020B0604020202020204" pitchFamily="34" charset="0"/>
              </a:rPr>
              <a:t>0.0000</a:t>
            </a:r>
            <a:r>
              <a:rPr kumimoji="0" lang="en-US" altLang="en-US" sz="13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300" b="1" i="0" u="none" strike="noStrike" cap="none" normalizeH="0" baseline="0" dirty="0">
                <a:ln>
                  <a:noFill/>
                </a:ln>
                <a:effectLst/>
                <a:latin typeface="Arial" panose="020B0604020202020204" pitchFamily="34" charset="0"/>
              </a:rPr>
              <a:t>Uncertainty:</a:t>
            </a:r>
            <a:r>
              <a:rPr kumimoji="0" lang="en-US" altLang="en-US" sz="1300" b="0" i="0" u="none" strike="noStrike" cap="none" normalizeH="0" baseline="0" dirty="0">
                <a:ln>
                  <a:noFill/>
                </a:ln>
                <a:effectLst/>
                <a:latin typeface="Arial" panose="020B0604020202020204" pitchFamily="34" charset="0"/>
              </a:rPr>
              <a:t> 95% Confidence Interval: </a:t>
            </a:r>
            <a:r>
              <a:rPr kumimoji="0" lang="en-US" altLang="en-US" sz="1300" b="1" i="0" u="none" strike="noStrike" cap="none" normalizeH="0" baseline="0" dirty="0">
                <a:ln>
                  <a:noFill/>
                </a:ln>
                <a:effectLst/>
                <a:latin typeface="Arial" panose="020B0604020202020204" pitchFamily="34" charset="0"/>
              </a:rPr>
              <a:t>[0.656, 0.663]</a:t>
            </a:r>
            <a:r>
              <a:rPr kumimoji="0" lang="en-US" altLang="en-US" sz="13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10000"/>
              </a:lnSpc>
              <a:spcBef>
                <a:spcPct val="0"/>
              </a:spcBef>
              <a:spcAft>
                <a:spcPts val="600"/>
              </a:spcAft>
              <a:buClrTx/>
              <a:buSzTx/>
              <a:buFontTx/>
              <a:buChar char="•"/>
              <a:tabLst/>
            </a:pPr>
            <a:r>
              <a:rPr lang="en-US" altLang="en-US" sz="1300" b="1" dirty="0">
                <a:latin typeface="Arial" panose="020B0604020202020204" pitchFamily="34" charset="0"/>
              </a:rPr>
              <a:t>T</a:t>
            </a:r>
            <a:r>
              <a:rPr kumimoji="0" lang="en-US" altLang="en-US" sz="1300" b="1" i="0" u="none" strike="noStrike" cap="none" normalizeH="0" baseline="0" dirty="0">
                <a:ln>
                  <a:noFill/>
                </a:ln>
                <a:effectLst/>
                <a:latin typeface="Arial" panose="020B0604020202020204" pitchFamily="34" charset="0"/>
              </a:rPr>
              <a:t>he "Massive Statistical Gap" Plot.</a:t>
            </a:r>
            <a:endParaRPr kumimoji="0" lang="en-US" altLang="en-US" sz="1300" b="0" i="0" u="none" strike="noStrike" cap="none" normalizeH="0" baseline="0" dirty="0">
              <a:ln>
                <a:noFill/>
              </a:ln>
              <a:effectLst/>
              <a:latin typeface="Arial" panose="020B0604020202020204" pitchFamily="34" charset="0"/>
            </a:endParaRPr>
          </a:p>
          <a:p>
            <a:pPr marL="457200" lvl="1" indent="0" eaLnBrk="0" fontAlgn="base" hangingPunct="0">
              <a:lnSpc>
                <a:spcPct val="110000"/>
              </a:lnSpc>
              <a:spcBef>
                <a:spcPct val="0"/>
              </a:spcBef>
              <a:spcAft>
                <a:spcPts val="600"/>
              </a:spcAft>
              <a:buClrTx/>
              <a:buSzTx/>
              <a:buFontTx/>
              <a:buChar char="•"/>
            </a:pPr>
            <a:r>
              <a:rPr kumimoji="0" lang="en-US" altLang="en-US" sz="1100" b="0" i="1" u="none" strike="noStrike" cap="none" normalizeH="0" baseline="0" dirty="0">
                <a:ln>
                  <a:noFill/>
                </a:ln>
                <a:effectLst/>
                <a:latin typeface="Arial" panose="020B0604020202020204" pitchFamily="34" charset="0"/>
              </a:rPr>
              <a:t>Why:</a:t>
            </a:r>
            <a:r>
              <a:rPr kumimoji="0" lang="en-US" altLang="en-US" sz="1100" b="0" i="0" u="none" strike="noStrike" cap="none" normalizeH="0" baseline="0" dirty="0">
                <a:ln>
                  <a:noFill/>
                </a:ln>
                <a:effectLst/>
                <a:latin typeface="Arial" panose="020B0604020202020204" pitchFamily="34" charset="0"/>
              </a:rPr>
              <a:t> </a:t>
            </a:r>
            <a:r>
              <a:rPr kumimoji="0" lang="en-US" altLang="en-US" sz="1200" b="0" i="0" u="none" strike="noStrike" cap="none" normalizeH="0" baseline="0" dirty="0">
                <a:ln>
                  <a:noFill/>
                </a:ln>
                <a:effectLst/>
                <a:latin typeface="Arial" panose="020B0604020202020204" pitchFamily="34" charset="0"/>
              </a:rPr>
              <a:t>This visualization (the side-by-side plot with the grey null distribution on the left and your red observed line far to the right) is the strongest evidence you have. It visually proves that the observed effect is impossible to generate by random chance.</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300" b="0" i="0" u="none" strike="noStrike" cap="none" normalizeH="0" baseline="0" dirty="0">
              <a:ln>
                <a:noFill/>
              </a:ln>
              <a:effectLst/>
              <a:latin typeface="Arial" panose="020B0604020202020204" pitchFamily="34" charset="0"/>
            </a:endParaRPr>
          </a:p>
        </p:txBody>
      </p:sp>
      <p:pic>
        <p:nvPicPr>
          <p:cNvPr id="6" name="Picture 5" descr="A screenshot of a graph&#10;&#10;AI-generated content may be incorrect.">
            <a:extLst>
              <a:ext uri="{FF2B5EF4-FFF2-40B4-BE49-F238E27FC236}">
                <a16:creationId xmlns:a16="http://schemas.microsoft.com/office/drawing/2014/main" id="{B3B9C56D-A96C-A601-AED7-024E4CDE5921}"/>
              </a:ext>
            </a:extLst>
          </p:cNvPr>
          <p:cNvPicPr>
            <a:picLocks noChangeAspect="1"/>
          </p:cNvPicPr>
          <p:nvPr/>
        </p:nvPicPr>
        <p:blipFill>
          <a:blip r:embed="rId3"/>
          <a:stretch>
            <a:fillRect/>
          </a:stretch>
        </p:blipFill>
        <p:spPr>
          <a:xfrm>
            <a:off x="7073863" y="2199503"/>
            <a:ext cx="4603272" cy="3266844"/>
          </a:xfrm>
          <a:prstGeom prst="rect">
            <a:avLst/>
          </a:prstGeom>
        </p:spPr>
      </p:pic>
    </p:spTree>
    <p:extLst>
      <p:ext uri="{BB962C8B-B14F-4D97-AF65-F5344CB8AC3E}">
        <p14:creationId xmlns:p14="http://schemas.microsoft.com/office/powerpoint/2010/main" val="2235989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9830-377C-5044-75A4-F74FFD252EF8}"/>
              </a:ext>
            </a:extLst>
          </p:cNvPr>
          <p:cNvSpPr>
            <a:spLocks noGrp="1"/>
          </p:cNvSpPr>
          <p:nvPr>
            <p:ph type="title"/>
          </p:nvPr>
        </p:nvSpPr>
        <p:spPr/>
        <p:txBody>
          <a:bodyPr/>
          <a:lstStyle/>
          <a:p>
            <a:r>
              <a:rPr lang="en-US" dirty="0"/>
              <a:t>Bootstrap distribution </a:t>
            </a:r>
          </a:p>
        </p:txBody>
      </p:sp>
      <p:pic>
        <p:nvPicPr>
          <p:cNvPr id="5" name="Content Placeholder 4" descr="A graph of a function&#10;&#10;AI-generated content may be incorrect.">
            <a:extLst>
              <a:ext uri="{FF2B5EF4-FFF2-40B4-BE49-F238E27FC236}">
                <a16:creationId xmlns:a16="http://schemas.microsoft.com/office/drawing/2014/main" id="{69E15D6F-FC85-9B1F-5200-55216141EF38}"/>
              </a:ext>
            </a:extLst>
          </p:cNvPr>
          <p:cNvPicPr>
            <a:picLocks noGrp="1" noChangeAspect="1"/>
          </p:cNvPicPr>
          <p:nvPr>
            <p:ph idx="1"/>
          </p:nvPr>
        </p:nvPicPr>
        <p:blipFill>
          <a:blip r:embed="rId2"/>
          <a:stretch>
            <a:fillRect/>
          </a:stretch>
        </p:blipFill>
        <p:spPr>
          <a:xfrm>
            <a:off x="1617205" y="2016125"/>
            <a:ext cx="9271914" cy="3449638"/>
          </a:xfrm>
        </p:spPr>
      </p:pic>
    </p:spTree>
    <p:extLst>
      <p:ext uri="{BB962C8B-B14F-4D97-AF65-F5344CB8AC3E}">
        <p14:creationId xmlns:p14="http://schemas.microsoft.com/office/powerpoint/2010/main" val="1473457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A1B5A-D3E9-9917-B16F-4B61F4D501E1}"/>
              </a:ext>
            </a:extLst>
          </p:cNvPr>
          <p:cNvSpPr>
            <a:spLocks noGrp="1"/>
          </p:cNvSpPr>
          <p:nvPr>
            <p:ph type="title"/>
          </p:nvPr>
        </p:nvSpPr>
        <p:spPr>
          <a:xfrm>
            <a:off x="1451579" y="804519"/>
            <a:ext cx="9603275" cy="1049235"/>
          </a:xfrm>
        </p:spPr>
        <p:txBody>
          <a:bodyPr>
            <a:normAutofit/>
          </a:bodyPr>
          <a:lstStyle/>
          <a:p>
            <a:r>
              <a:rPr lang="en-US" dirty="0"/>
              <a:t>Key result metric 2: Damage severity</a:t>
            </a:r>
          </a:p>
        </p:txBody>
      </p:sp>
      <p:sp>
        <p:nvSpPr>
          <p:cNvPr id="5" name="Rectangle 2">
            <a:extLst>
              <a:ext uri="{FF2B5EF4-FFF2-40B4-BE49-F238E27FC236}">
                <a16:creationId xmlns:a16="http://schemas.microsoft.com/office/drawing/2014/main" id="{F57F8A5B-2C12-FDB1-D20B-6B3A0571990E}"/>
              </a:ext>
            </a:extLst>
          </p:cNvPr>
          <p:cNvSpPr>
            <a:spLocks noGrp="1" noChangeArrowheads="1"/>
          </p:cNvSpPr>
          <p:nvPr>
            <p:ph idx="1"/>
          </p:nvPr>
        </p:nvSpPr>
        <p:spPr bwMode="auto">
          <a:xfrm>
            <a:off x="1451579" y="2015734"/>
            <a:ext cx="5622284" cy="34506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lvl="0" eaLnBrk="0" fontAlgn="base" hangingPunct="0">
              <a:lnSpc>
                <a:spcPct val="110000"/>
              </a:lnSpc>
              <a:spcBef>
                <a:spcPct val="0"/>
              </a:spcBef>
              <a:spcAft>
                <a:spcPct val="0"/>
              </a:spcAft>
              <a:buClrTx/>
              <a:buSzTx/>
            </a:pPr>
            <a:r>
              <a:rPr lang="en-US" sz="1300" b="1" dirty="0"/>
              <a:t>Finding:</a:t>
            </a:r>
            <a:r>
              <a:rPr lang="en-US" sz="1300" dirty="0"/>
              <a:t> The observed difference in </a:t>
            </a:r>
            <a:r>
              <a:rPr lang="en-US" sz="1300" b="1" dirty="0"/>
              <a:t>median</a:t>
            </a:r>
            <a:r>
              <a:rPr lang="en-US" sz="1300" dirty="0"/>
              <a:t> damage was </a:t>
            </a:r>
            <a:r>
              <a:rPr lang="en-US" sz="1300" b="1" dirty="0"/>
              <a:t>0.0</a:t>
            </a:r>
            <a:r>
              <a:rPr lang="en-US" sz="1300" dirty="0"/>
              <a:t>. </a:t>
            </a:r>
            <a:r>
              <a:rPr kumimoji="0" lang="en-US" altLang="en-US" sz="1300" b="0" i="0" u="none" strike="noStrike" cap="none" normalizeH="0" baseline="0" dirty="0">
                <a:ln>
                  <a:noFill/>
                </a:ln>
                <a:effectLst/>
                <a:latin typeface="Arial" panose="020B0604020202020204" pitchFamily="34" charset="0"/>
              </a:rPr>
              <a:t>Both groups had a median score of 2.0 </a:t>
            </a:r>
          </a:p>
          <a:p>
            <a:pPr lvl="0" eaLnBrk="0" fontAlgn="base" hangingPunct="0">
              <a:lnSpc>
                <a:spcPct val="110000"/>
              </a:lnSpc>
              <a:spcBef>
                <a:spcPct val="0"/>
              </a:spcBef>
              <a:spcAft>
                <a:spcPct val="0"/>
              </a:spcAft>
              <a:buClrTx/>
              <a:buSzTx/>
            </a:pPr>
            <a:r>
              <a:rPr kumimoji="0" lang="en-US" altLang="en-US" sz="1300" b="0" i="0" u="none" strike="noStrike" cap="none" normalizeH="0" baseline="0" dirty="0">
                <a:ln>
                  <a:noFill/>
                </a:ln>
                <a:effectLst/>
                <a:latin typeface="Arial" panose="020B0604020202020204" pitchFamily="34" charset="0"/>
              </a:rPr>
              <a:t>("Functional Damage").</a:t>
            </a:r>
          </a:p>
          <a:p>
            <a:pPr marR="0" lvl="0" defTabSz="914400" rtl="0" eaLnBrk="0" fontAlgn="base" latinLnBrk="0" hangingPunct="0">
              <a:lnSpc>
                <a:spcPct val="110000"/>
              </a:lnSpc>
              <a:spcBef>
                <a:spcPct val="0"/>
              </a:spcBef>
              <a:spcAft>
                <a:spcPct val="0"/>
              </a:spcAft>
              <a:buClrTx/>
              <a:buSzTx/>
              <a:tabLst/>
            </a:pPr>
            <a:r>
              <a:rPr kumimoji="0" lang="en-US" altLang="en-US" sz="1300" b="1" i="0" u="none" strike="noStrike" cap="none" normalizeH="0" baseline="0" dirty="0">
                <a:ln>
                  <a:noFill/>
                </a:ln>
                <a:effectLst/>
                <a:latin typeface="Arial" panose="020B0604020202020204" pitchFamily="34" charset="0"/>
              </a:rPr>
              <a:t>Uncertainty:</a:t>
            </a:r>
            <a:r>
              <a:rPr kumimoji="0" lang="en-US" altLang="en-US" sz="1300" b="0" i="0" u="none" strike="noStrike" cap="none" normalizeH="0" baseline="0" dirty="0">
                <a:ln>
                  <a:noFill/>
                </a:ln>
                <a:effectLst/>
                <a:latin typeface="Arial" panose="020B0604020202020204" pitchFamily="34" charset="0"/>
              </a:rPr>
              <a:t> 95% Confidence Interval: </a:t>
            </a:r>
            <a:r>
              <a:rPr kumimoji="0" lang="en-US" altLang="en-US" sz="1300" b="1" i="0" u="none" strike="noStrike" cap="none" normalizeH="0" baseline="0" dirty="0">
                <a:ln>
                  <a:noFill/>
                </a:ln>
                <a:effectLst/>
                <a:latin typeface="Arial" panose="020B0604020202020204" pitchFamily="34" charset="0"/>
              </a:rPr>
              <a:t>[0.0, 1.0]</a:t>
            </a:r>
            <a:r>
              <a:rPr kumimoji="0" lang="en-US" altLang="en-US" sz="1300" b="0" i="0" u="none" strike="noStrike" cap="none" normalizeH="0" baseline="0" dirty="0">
                <a:ln>
                  <a:noFill/>
                </a:ln>
                <a:effectLst/>
                <a:latin typeface="Arial" panose="020B0604020202020204" pitchFamily="34" charset="0"/>
              </a:rPr>
              <a:t>.</a:t>
            </a:r>
          </a:p>
          <a:p>
            <a:pPr marR="0" lvl="0" defTabSz="914400" rtl="0" eaLnBrk="0" fontAlgn="base" latinLnBrk="0" hangingPunct="0">
              <a:lnSpc>
                <a:spcPct val="110000"/>
              </a:lnSpc>
              <a:spcBef>
                <a:spcPct val="0"/>
              </a:spcBef>
              <a:spcAft>
                <a:spcPct val="0"/>
              </a:spcAft>
              <a:buClrTx/>
              <a:buSzTx/>
              <a:tabLst/>
            </a:pPr>
            <a:r>
              <a:rPr kumimoji="0" lang="en-US" altLang="en-US" sz="1300" b="1" i="0" u="none" strike="noStrike" cap="none" normalizeH="0" baseline="0" dirty="0">
                <a:ln>
                  <a:noFill/>
                </a:ln>
                <a:effectLst/>
                <a:latin typeface="Arial" panose="020B0604020202020204" pitchFamily="34" charset="0"/>
              </a:rPr>
              <a:t>Interpretation:</a:t>
            </a:r>
            <a:r>
              <a:rPr kumimoji="0" lang="en-US" altLang="en-US" sz="1300" b="0" i="0" u="none" strike="noStrike" cap="none" normalizeH="0" baseline="0" dirty="0">
                <a:ln>
                  <a:noFill/>
                </a:ln>
                <a:effectLst/>
                <a:latin typeface="Arial" panose="020B0604020202020204" pitchFamily="34" charset="0"/>
              </a:rPr>
              <a:t> While the median didn't shift, the interval extends to 1.0, </a:t>
            </a:r>
          </a:p>
          <a:p>
            <a:pPr marR="0" lvl="0" defTabSz="914400" rtl="0" eaLnBrk="0" fontAlgn="base" latinLnBrk="0" hangingPunct="0">
              <a:lnSpc>
                <a:spcPct val="110000"/>
              </a:lnSpc>
              <a:spcBef>
                <a:spcPct val="0"/>
              </a:spcBef>
              <a:spcAft>
                <a:spcPct val="0"/>
              </a:spcAft>
              <a:buClrTx/>
              <a:buSzTx/>
              <a:tabLst/>
            </a:pPr>
            <a:r>
              <a:rPr kumimoji="0" lang="en-US" altLang="en-US" sz="1300" b="0" i="0" u="none" strike="noStrike" cap="none" normalizeH="0" baseline="0" dirty="0">
                <a:ln>
                  <a:noFill/>
                </a:ln>
                <a:effectLst/>
                <a:latin typeface="Arial" panose="020B0604020202020204" pitchFamily="34" charset="0"/>
              </a:rPr>
              <a:t>suggesting a potential skew toward higher severity that the median metric misses </a:t>
            </a:r>
          </a:p>
          <a:p>
            <a:pPr marR="0" lvl="0" defTabSz="914400" rtl="0" eaLnBrk="0" fontAlgn="base" latinLnBrk="0" hangingPunct="0">
              <a:lnSpc>
                <a:spcPct val="110000"/>
              </a:lnSpc>
              <a:spcBef>
                <a:spcPct val="0"/>
              </a:spcBef>
              <a:spcAft>
                <a:spcPct val="0"/>
              </a:spcAft>
              <a:buClrTx/>
              <a:buSzTx/>
              <a:tabLst/>
            </a:pPr>
            <a:r>
              <a:rPr kumimoji="0" lang="en-US" altLang="en-US" sz="1300" b="0" i="0" u="none" strike="noStrike" cap="none" normalizeH="0" baseline="0" dirty="0">
                <a:ln>
                  <a:noFill/>
                </a:ln>
                <a:effectLst/>
                <a:latin typeface="Arial" panose="020B0604020202020204" pitchFamily="34" charset="0"/>
              </a:rPr>
              <a:t>due to the coarse data scale.</a:t>
            </a:r>
          </a:p>
          <a:p>
            <a:pPr>
              <a:lnSpc>
                <a:spcPct val="110000"/>
              </a:lnSpc>
            </a:pPr>
            <a:r>
              <a:rPr lang="en-US" sz="1300" b="1" dirty="0"/>
              <a:t>The Bootstrap Median Histogram.</a:t>
            </a:r>
            <a:endParaRPr lang="en-US" sz="1300" dirty="0"/>
          </a:p>
          <a:p>
            <a:pPr lvl="1">
              <a:lnSpc>
                <a:spcPct val="110000"/>
              </a:lnSpc>
            </a:pPr>
            <a:r>
              <a:rPr lang="en-US" sz="1300" i="1" dirty="0"/>
              <a:t>Why:</a:t>
            </a:r>
            <a:r>
              <a:rPr lang="en-US" sz="1300" dirty="0"/>
              <a:t> This (the purple histogram) shows the discrete nature of the data and </a:t>
            </a:r>
          </a:p>
          <a:p>
            <a:pPr>
              <a:lnSpc>
                <a:spcPct val="110000"/>
              </a:lnSpc>
            </a:pPr>
            <a:r>
              <a:rPr lang="en-US" sz="1300" dirty="0"/>
              <a:t>helps explain why the result is less conclusive than the fault rate.</a:t>
            </a:r>
          </a:p>
          <a:p>
            <a:pPr marL="0" marR="0" lvl="0" indent="0" defTabSz="914400" rtl="0" eaLnBrk="0" fontAlgn="base" latinLnBrk="0" hangingPunct="0">
              <a:lnSpc>
                <a:spcPct val="110000"/>
              </a:lnSpc>
              <a:spcBef>
                <a:spcPct val="0"/>
              </a:spcBef>
              <a:spcAft>
                <a:spcPct val="0"/>
              </a:spcAft>
              <a:buClrTx/>
              <a:buSzTx/>
              <a:buFontTx/>
              <a:buChar char="•"/>
              <a:tabLst/>
            </a:pPr>
            <a:endParaRPr kumimoji="0" lang="en-US" altLang="en-US" sz="1300" b="0" i="0" u="none" strike="noStrike" cap="none" normalizeH="0" baseline="0" dirty="0">
              <a:ln>
                <a:noFill/>
              </a:ln>
              <a:effectLst/>
              <a:latin typeface="Arial" panose="020B0604020202020204" pitchFamily="34" charset="0"/>
            </a:endParaRPr>
          </a:p>
        </p:txBody>
      </p:sp>
      <p:pic>
        <p:nvPicPr>
          <p:cNvPr id="8" name="Picture 7" descr="A graph with purple bars&#10;&#10;AI-generated content may be incorrect.">
            <a:extLst>
              <a:ext uri="{FF2B5EF4-FFF2-40B4-BE49-F238E27FC236}">
                <a16:creationId xmlns:a16="http://schemas.microsoft.com/office/drawing/2014/main" id="{1ED0FB77-420E-FAF7-1113-1AC01E3BF33E}"/>
              </a:ext>
            </a:extLst>
          </p:cNvPr>
          <p:cNvPicPr>
            <a:picLocks noChangeAspect="1"/>
          </p:cNvPicPr>
          <p:nvPr/>
        </p:nvPicPr>
        <p:blipFill>
          <a:blip r:embed="rId2"/>
          <a:srcRect t="2214" r="3" b="3"/>
          <a:stretch>
            <a:fillRect/>
          </a:stretch>
        </p:blipFill>
        <p:spPr>
          <a:xfrm>
            <a:off x="7554139" y="2310714"/>
            <a:ext cx="3500715" cy="2615613"/>
          </a:xfrm>
          <a:prstGeom prst="rect">
            <a:avLst/>
          </a:prstGeom>
        </p:spPr>
      </p:pic>
    </p:spTree>
    <p:extLst>
      <p:ext uri="{BB962C8B-B14F-4D97-AF65-F5344CB8AC3E}">
        <p14:creationId xmlns:p14="http://schemas.microsoft.com/office/powerpoint/2010/main" val="160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37CA1-2195-E0D7-E05A-FC0131D6C890}"/>
              </a:ext>
            </a:extLst>
          </p:cNvPr>
          <p:cNvSpPr>
            <a:spLocks noGrp="1"/>
          </p:cNvSpPr>
          <p:nvPr>
            <p:ph type="title"/>
          </p:nvPr>
        </p:nvSpPr>
        <p:spPr/>
        <p:txBody>
          <a:bodyPr/>
          <a:lstStyle/>
          <a:p>
            <a:r>
              <a:rPr lang="en-US" dirty="0"/>
              <a:t>Conclusion &amp; limitations</a:t>
            </a:r>
          </a:p>
        </p:txBody>
      </p:sp>
      <p:sp>
        <p:nvSpPr>
          <p:cNvPr id="4" name="Rectangle 1">
            <a:extLst>
              <a:ext uri="{FF2B5EF4-FFF2-40B4-BE49-F238E27FC236}">
                <a16:creationId xmlns:a16="http://schemas.microsoft.com/office/drawing/2014/main" id="{8C92C37E-A075-CB4F-3699-9FDD328F80C0}"/>
              </a:ext>
            </a:extLst>
          </p:cNvPr>
          <p:cNvSpPr>
            <a:spLocks noGrp="1" noChangeArrowheads="1"/>
          </p:cNvSpPr>
          <p:nvPr>
            <p:ph idx="1"/>
          </p:nvPr>
        </p:nvSpPr>
        <p:spPr bwMode="auto">
          <a:xfrm>
            <a:off x="1446498" y="2128832"/>
            <a:ext cx="8536311"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Conclusion:</a:t>
            </a:r>
            <a:r>
              <a:rPr kumimoji="0" lang="en-US" altLang="en-US" sz="1800" b="0" i="0" u="none" strike="noStrike" cap="none" normalizeH="0" baseline="0" dirty="0">
                <a:ln>
                  <a:noFill/>
                </a:ln>
                <a:solidFill>
                  <a:schemeClr val="tx1"/>
                </a:solidFill>
                <a:effectLst/>
                <a:latin typeface="Arial" panose="020B0604020202020204" pitchFamily="34" charset="0"/>
              </a:rPr>
              <a:t> Distraction is a definitive predictor of </a:t>
            </a:r>
            <a:r>
              <a:rPr kumimoji="0" lang="en-US" altLang="en-US" sz="1800" b="1" i="0" u="none" strike="noStrike" cap="none" normalizeH="0" baseline="0" dirty="0">
                <a:ln>
                  <a:noFill/>
                </a:ln>
                <a:solidFill>
                  <a:schemeClr val="tx1"/>
                </a:solidFill>
                <a:effectLst/>
                <a:latin typeface="Arial" panose="020B0604020202020204" pitchFamily="34" charset="0"/>
              </a:rPr>
              <a:t>liability</a:t>
            </a:r>
            <a:r>
              <a:rPr kumimoji="0" lang="en-US" altLang="en-US" sz="1800" b="0" i="0" u="none" strike="noStrike" cap="none" normalizeH="0" baseline="0" dirty="0">
                <a:ln>
                  <a:noFill/>
                </a:ln>
                <a:solidFill>
                  <a:schemeClr val="tx1"/>
                </a:solidFill>
                <a:effectLst/>
                <a:latin typeface="Arial" panose="020B0604020202020204" pitchFamily="34" charset="0"/>
              </a:rPr>
              <a:t> (causing the crash),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but it does not guarantee the crash will be more </a:t>
            </a:r>
            <a:r>
              <a:rPr kumimoji="0" lang="en-US" altLang="en-US" sz="1800" b="1" i="0" u="none" strike="noStrike" cap="none" normalizeH="0" baseline="0" dirty="0">
                <a:ln>
                  <a:noFill/>
                </a:ln>
                <a:solidFill>
                  <a:schemeClr val="tx1"/>
                </a:solidFill>
                <a:effectLst/>
                <a:latin typeface="Arial" panose="020B0604020202020204" pitchFamily="34" charset="0"/>
              </a:rPr>
              <a:t>severe</a:t>
            </a:r>
            <a:r>
              <a:rPr kumimoji="0" lang="en-US" altLang="en-US" sz="1800" b="0" i="0" u="none" strike="noStrike" cap="none" normalizeH="0" baseline="0" dirty="0">
                <a:ln>
                  <a:noFill/>
                </a:ln>
                <a:solidFill>
                  <a:schemeClr val="tx1"/>
                </a:solidFill>
                <a:effectLst/>
                <a:latin typeface="Arial" panose="020B0604020202020204" pitchFamily="34" charset="0"/>
              </a:rPr>
              <a:t> than a baseline accident.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Self-Reporting Bias:</a:t>
            </a:r>
            <a:r>
              <a:rPr kumimoji="0" lang="en-US" altLang="en-US" sz="1600" b="0" i="0" u="none" strike="noStrike" cap="none" normalizeH="0" baseline="0" dirty="0">
                <a:ln>
                  <a:noFill/>
                </a:ln>
                <a:solidFill>
                  <a:schemeClr val="tx1"/>
                </a:solidFill>
                <a:effectLst/>
                <a:latin typeface="Arial" panose="020B0604020202020204" pitchFamily="34" charset="0"/>
              </a:rPr>
              <a:t> Distraction is likely underreported in police data.</a:t>
            </a:r>
          </a:p>
          <a:p>
            <a:pPr marL="457200" lvl="1" indent="0" eaLnBrk="0" fontAlgn="base"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Ordinal Scale:</a:t>
            </a:r>
            <a:r>
              <a:rPr kumimoji="0" lang="en-US" altLang="en-US" sz="1600" b="0" i="0" u="none" strike="noStrike" cap="none" normalizeH="0" baseline="0" dirty="0">
                <a:ln>
                  <a:noFill/>
                </a:ln>
                <a:solidFill>
                  <a:schemeClr val="tx1"/>
                </a:solidFill>
                <a:effectLst/>
                <a:latin typeface="Arial" panose="020B0604020202020204" pitchFamily="34" charset="0"/>
              </a:rPr>
              <a:t> The 0-4 damage scale is too coarse to capture subtle differences </a:t>
            </a:r>
          </a:p>
          <a:p>
            <a:pPr marL="457200" lvl="1" indent="0" eaLnBrk="0" fontAlgn="base" hangingPunct="0">
              <a:lnSpc>
                <a:spcPct val="100000"/>
              </a:lnSpc>
              <a:spcBef>
                <a:spcPct val="0"/>
              </a:spcBef>
              <a:spcAft>
                <a:spcPct val="0"/>
              </a:spcAft>
              <a:buClrTx/>
              <a:buSzTx/>
              <a:buNone/>
            </a:pPr>
            <a:r>
              <a:rPr kumimoji="0" lang="en-US" altLang="en-US" sz="1600" b="0" i="0" u="none" strike="noStrike" cap="none" normalizeH="0" baseline="0" dirty="0">
                <a:ln>
                  <a:noFill/>
                </a:ln>
                <a:solidFill>
                  <a:schemeClr val="tx1"/>
                </a:solidFill>
                <a:effectLst/>
                <a:latin typeface="Arial" panose="020B0604020202020204" pitchFamily="34" charset="0"/>
              </a:rPr>
              <a:t>in crash intensity (e.g., repair costs).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103828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186</TotalTime>
  <Words>534</Words>
  <Application>Microsoft Macintosh PowerPoint</Application>
  <PresentationFormat>Widescreen</PresentationFormat>
  <Paragraphs>51</Paragraphs>
  <Slides>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Gill Sans MT</vt:lpstr>
      <vt:lpstr>Gallery</vt:lpstr>
      <vt:lpstr>Distracted Driving Impact Analysis: Fault &amp; Severity</vt:lpstr>
      <vt:lpstr>Data &amp; hypotheses</vt:lpstr>
      <vt:lpstr>Methodology</vt:lpstr>
      <vt:lpstr>Key result: metric 1-fault rate</vt:lpstr>
      <vt:lpstr>Bootstrap distribution </vt:lpstr>
      <vt:lpstr>Key result metric 2: Damage severity</vt:lpstr>
      <vt:lpstr>Conclusion &amp;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Ayieko, Caroline K.</dc:creator>
  <cp:lastModifiedBy>Ayieko, Caroline K.</cp:lastModifiedBy>
  <cp:revision>5</cp:revision>
  <dcterms:created xsi:type="dcterms:W3CDTF">2025-12-14T20:42:36Z</dcterms:created>
  <dcterms:modified xsi:type="dcterms:W3CDTF">2025-12-16T00:54:59Z</dcterms:modified>
</cp:coreProperties>
</file>