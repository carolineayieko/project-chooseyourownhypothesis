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6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24"/>
    <p:restoredTop sz="94658"/>
  </p:normalViewPr>
  <p:slideViewPr>
    <p:cSldViewPr snapToGrid="0">
      <p:cViewPr varScale="1">
        <p:scale>
          <a:sx n="120" d="100"/>
          <a:sy n="120" d="100"/>
        </p:scale>
        <p:origin x="6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4" Type="http://schemas.openxmlformats.org/officeDocument/2006/relationships/image" Target="../media/image9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0F1EB55-0879-470F-B27C-F73222E2F1CC}" type="doc">
      <dgm:prSet loTypeId="urn:microsoft.com/office/officeart/2005/8/layout/process4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1225E44-82D4-44D1-BCAB-A33757883A8B}">
      <dgm:prSet/>
      <dgm:spPr/>
      <dgm:t>
        <a:bodyPr/>
        <a:lstStyle/>
        <a:p>
          <a:r>
            <a:rPr lang="en-US" b="1"/>
            <a:t>Data Source:  </a:t>
          </a:r>
          <a:r>
            <a:rPr lang="en-US"/>
            <a:t>“Crash Reporting- Drivers Data” (Montgomery County, MD) from Data.gov</a:t>
          </a:r>
        </a:p>
      </dgm:t>
    </dgm:pt>
    <dgm:pt modelId="{B95216EC-4FF5-42C3-989A-9A68B23015BD}" type="parTrans" cxnId="{2DC2C70D-C5C6-465F-9B9D-8AB60F3A7D4E}">
      <dgm:prSet/>
      <dgm:spPr/>
      <dgm:t>
        <a:bodyPr/>
        <a:lstStyle/>
        <a:p>
          <a:endParaRPr lang="en-US"/>
        </a:p>
      </dgm:t>
    </dgm:pt>
    <dgm:pt modelId="{F56EB070-E794-43FE-95AC-CC07AEF2E4B6}" type="sibTrans" cxnId="{2DC2C70D-C5C6-465F-9B9D-8AB60F3A7D4E}">
      <dgm:prSet/>
      <dgm:spPr/>
      <dgm:t>
        <a:bodyPr/>
        <a:lstStyle/>
        <a:p>
          <a:endParaRPr lang="en-US"/>
        </a:p>
      </dgm:t>
    </dgm:pt>
    <dgm:pt modelId="{C7BA8D6D-C931-4265-87B7-FD5083AFDBE1}">
      <dgm:prSet/>
      <dgm:spPr/>
      <dgm:t>
        <a:bodyPr/>
        <a:lstStyle/>
        <a:p>
          <a:r>
            <a:rPr lang="en-US"/>
            <a:t>Size: ~160,000 drivers analyzed</a:t>
          </a:r>
        </a:p>
      </dgm:t>
    </dgm:pt>
    <dgm:pt modelId="{41B198F0-A5D7-4726-996E-24B8AA714122}" type="parTrans" cxnId="{F08CD86B-5618-4827-AD5B-1F59C4793804}">
      <dgm:prSet/>
      <dgm:spPr/>
      <dgm:t>
        <a:bodyPr/>
        <a:lstStyle/>
        <a:p>
          <a:endParaRPr lang="en-US"/>
        </a:p>
      </dgm:t>
    </dgm:pt>
    <dgm:pt modelId="{F88C13CA-981E-4368-9806-A7F0ED32E620}" type="sibTrans" cxnId="{F08CD86B-5618-4827-AD5B-1F59C4793804}">
      <dgm:prSet/>
      <dgm:spPr/>
      <dgm:t>
        <a:bodyPr/>
        <a:lstStyle/>
        <a:p>
          <a:endParaRPr lang="en-US"/>
        </a:p>
      </dgm:t>
    </dgm:pt>
    <dgm:pt modelId="{ED2D86C1-3275-4F4B-B903-E0CD9B684116}">
      <dgm:prSet/>
      <dgm:spPr/>
      <dgm:t>
        <a:bodyPr/>
        <a:lstStyle/>
        <a:p>
          <a:r>
            <a:rPr lang="en-US" b="1"/>
            <a:t>Key Variables:</a:t>
          </a:r>
          <a:endParaRPr lang="en-US"/>
        </a:p>
      </dgm:t>
    </dgm:pt>
    <dgm:pt modelId="{8B217DDF-117E-46A9-B43F-D55F3620DE53}" type="parTrans" cxnId="{34B046CF-16B2-41A6-8518-6F631D31D75F}">
      <dgm:prSet/>
      <dgm:spPr/>
      <dgm:t>
        <a:bodyPr/>
        <a:lstStyle/>
        <a:p>
          <a:endParaRPr lang="en-US"/>
        </a:p>
      </dgm:t>
    </dgm:pt>
    <dgm:pt modelId="{FB39F39F-EF28-4CC7-9D74-FD3300EEFE89}" type="sibTrans" cxnId="{34B046CF-16B2-41A6-8518-6F631D31D75F}">
      <dgm:prSet/>
      <dgm:spPr/>
      <dgm:t>
        <a:bodyPr/>
        <a:lstStyle/>
        <a:p>
          <a:endParaRPr lang="en-US"/>
        </a:p>
      </dgm:t>
    </dgm:pt>
    <dgm:pt modelId="{851915E8-96DB-40C1-971C-10510F1D2188}">
      <dgm:prSet/>
      <dgm:spPr/>
      <dgm:t>
        <a:bodyPr/>
        <a:lstStyle/>
        <a:p>
          <a:r>
            <a:rPr lang="en-US" b="1"/>
            <a:t>Independent</a:t>
          </a:r>
          <a:r>
            <a:rPr lang="en-US"/>
            <a:t>: Distraction Status (Distracted vs. Not Distracted).</a:t>
          </a:r>
        </a:p>
      </dgm:t>
    </dgm:pt>
    <dgm:pt modelId="{BC9861CB-D24E-4880-B2FF-778DDEE569A3}" type="parTrans" cxnId="{E5E9BA5E-B9A6-4B5B-A6D1-DFEBCE6B6D34}">
      <dgm:prSet/>
      <dgm:spPr/>
      <dgm:t>
        <a:bodyPr/>
        <a:lstStyle/>
        <a:p>
          <a:endParaRPr lang="en-US"/>
        </a:p>
      </dgm:t>
    </dgm:pt>
    <dgm:pt modelId="{DCFB991A-A67A-4C1C-860E-6B05E049B9C6}" type="sibTrans" cxnId="{E5E9BA5E-B9A6-4B5B-A6D1-DFEBCE6B6D34}">
      <dgm:prSet/>
      <dgm:spPr/>
      <dgm:t>
        <a:bodyPr/>
        <a:lstStyle/>
        <a:p>
          <a:endParaRPr lang="en-US"/>
        </a:p>
      </dgm:t>
    </dgm:pt>
    <dgm:pt modelId="{21F6B728-BDDE-4BA5-BE27-FE67754FBCA4}">
      <dgm:prSet/>
      <dgm:spPr/>
      <dgm:t>
        <a:bodyPr/>
        <a:lstStyle/>
        <a:p>
          <a:r>
            <a:rPr lang="en-US" b="1"/>
            <a:t>Dependent:</a:t>
          </a:r>
          <a:r>
            <a:rPr lang="en-US"/>
            <a:t> Fault Status (Binary) and Vehicle Damage (Ordinal 0-4).</a:t>
          </a:r>
        </a:p>
      </dgm:t>
    </dgm:pt>
    <dgm:pt modelId="{FE12E4F0-B4DF-4770-B301-15D5B1CAE39F}" type="parTrans" cxnId="{F5DE2651-3860-48B2-B637-DB30ED9CF6F7}">
      <dgm:prSet/>
      <dgm:spPr/>
      <dgm:t>
        <a:bodyPr/>
        <a:lstStyle/>
        <a:p>
          <a:endParaRPr lang="en-US"/>
        </a:p>
      </dgm:t>
    </dgm:pt>
    <dgm:pt modelId="{2827AF0F-1090-40D4-A691-52ADC490C0BF}" type="sibTrans" cxnId="{F5DE2651-3860-48B2-B637-DB30ED9CF6F7}">
      <dgm:prSet/>
      <dgm:spPr/>
      <dgm:t>
        <a:bodyPr/>
        <a:lstStyle/>
        <a:p>
          <a:endParaRPr lang="en-US"/>
        </a:p>
      </dgm:t>
    </dgm:pt>
    <dgm:pt modelId="{ACC261BF-9CBF-4CF7-BA64-08E44427EC8E}">
      <dgm:prSet/>
      <dgm:spPr/>
      <dgm:t>
        <a:bodyPr/>
        <a:lstStyle/>
        <a:p>
          <a:r>
            <a:rPr lang="en-US" b="1"/>
            <a:t>Hypothesis:</a:t>
          </a:r>
          <a:endParaRPr lang="en-US"/>
        </a:p>
      </dgm:t>
    </dgm:pt>
    <dgm:pt modelId="{6D8E8000-92FC-4D32-826B-A78B511896F2}" type="parTrans" cxnId="{7D94D135-CA79-400F-B263-2152AC23066A}">
      <dgm:prSet/>
      <dgm:spPr/>
      <dgm:t>
        <a:bodyPr/>
        <a:lstStyle/>
        <a:p>
          <a:endParaRPr lang="en-US"/>
        </a:p>
      </dgm:t>
    </dgm:pt>
    <dgm:pt modelId="{2E032C92-68DA-4A42-8023-5FB80EF8A6F9}" type="sibTrans" cxnId="{7D94D135-CA79-400F-B263-2152AC23066A}">
      <dgm:prSet/>
      <dgm:spPr/>
      <dgm:t>
        <a:bodyPr/>
        <a:lstStyle/>
        <a:p>
          <a:endParaRPr lang="en-US"/>
        </a:p>
      </dgm:t>
    </dgm:pt>
    <dgm:pt modelId="{D171F699-6EB4-4163-B87F-2CED6DED7965}">
      <dgm:prSet/>
      <dgm:spPr/>
      <dgm:t>
        <a:bodyPr/>
        <a:lstStyle/>
        <a:p>
          <a:r>
            <a:rPr lang="en-US" b="1"/>
            <a:t>Null:</a:t>
          </a:r>
          <a:r>
            <a:rPr lang="en-US"/>
            <a:t> Distraction has no effect on fault rates or damage severity.</a:t>
          </a:r>
        </a:p>
      </dgm:t>
    </dgm:pt>
    <dgm:pt modelId="{52D4834E-E952-40D4-ADBB-3EC0D2DC7689}" type="parTrans" cxnId="{A1D867B6-9AB7-4E9B-A846-2A59A6D3D7D1}">
      <dgm:prSet/>
      <dgm:spPr/>
      <dgm:t>
        <a:bodyPr/>
        <a:lstStyle/>
        <a:p>
          <a:endParaRPr lang="en-US"/>
        </a:p>
      </dgm:t>
    </dgm:pt>
    <dgm:pt modelId="{7D4DF318-8B3F-43C0-BB4E-157FB290189A}" type="sibTrans" cxnId="{A1D867B6-9AB7-4E9B-A846-2A59A6D3D7D1}">
      <dgm:prSet/>
      <dgm:spPr/>
      <dgm:t>
        <a:bodyPr/>
        <a:lstStyle/>
        <a:p>
          <a:endParaRPr lang="en-US"/>
        </a:p>
      </dgm:t>
    </dgm:pt>
    <dgm:pt modelId="{0141C691-EDC9-49BE-B766-314E8B5384DD}">
      <dgm:prSet/>
      <dgm:spPr/>
      <dgm:t>
        <a:bodyPr/>
        <a:lstStyle/>
        <a:p>
          <a:r>
            <a:rPr lang="en-US" b="1"/>
            <a:t>Alternative:</a:t>
          </a:r>
          <a:r>
            <a:rPr lang="en-US"/>
            <a:t> Distracted drivers are more likely to be at fault and cause more severe damage.</a:t>
          </a:r>
        </a:p>
      </dgm:t>
    </dgm:pt>
    <dgm:pt modelId="{F8BD60DF-45C1-4191-B224-CC09A7463CD9}" type="parTrans" cxnId="{30C75B49-CE75-4783-9490-B5EB823D70D4}">
      <dgm:prSet/>
      <dgm:spPr/>
      <dgm:t>
        <a:bodyPr/>
        <a:lstStyle/>
        <a:p>
          <a:endParaRPr lang="en-US"/>
        </a:p>
      </dgm:t>
    </dgm:pt>
    <dgm:pt modelId="{54844D58-C785-4ACC-A6C1-23E37003082D}" type="sibTrans" cxnId="{30C75B49-CE75-4783-9490-B5EB823D70D4}">
      <dgm:prSet/>
      <dgm:spPr/>
      <dgm:t>
        <a:bodyPr/>
        <a:lstStyle/>
        <a:p>
          <a:endParaRPr lang="en-US"/>
        </a:p>
      </dgm:t>
    </dgm:pt>
    <dgm:pt modelId="{AC125F9B-F422-2440-B517-4C754746F6DB}" type="pres">
      <dgm:prSet presAssocID="{D0F1EB55-0879-470F-B27C-F73222E2F1CC}" presName="Name0" presStyleCnt="0">
        <dgm:presLayoutVars>
          <dgm:dir/>
          <dgm:animLvl val="lvl"/>
          <dgm:resizeHandles val="exact"/>
        </dgm:presLayoutVars>
      </dgm:prSet>
      <dgm:spPr/>
    </dgm:pt>
    <dgm:pt modelId="{4233141A-1F91-E24E-B691-6B9B08993281}" type="pres">
      <dgm:prSet presAssocID="{ACC261BF-9CBF-4CF7-BA64-08E44427EC8E}" presName="boxAndChildren" presStyleCnt="0"/>
      <dgm:spPr/>
    </dgm:pt>
    <dgm:pt modelId="{01113379-A0C2-0340-83BB-453C7934B095}" type="pres">
      <dgm:prSet presAssocID="{ACC261BF-9CBF-4CF7-BA64-08E44427EC8E}" presName="parentTextBox" presStyleLbl="node1" presStyleIdx="0" presStyleCnt="3"/>
      <dgm:spPr/>
    </dgm:pt>
    <dgm:pt modelId="{3A77B70A-5B3A-4646-9F06-D6DC0A5E694D}" type="pres">
      <dgm:prSet presAssocID="{ACC261BF-9CBF-4CF7-BA64-08E44427EC8E}" presName="entireBox" presStyleLbl="node1" presStyleIdx="0" presStyleCnt="3"/>
      <dgm:spPr/>
    </dgm:pt>
    <dgm:pt modelId="{71472A26-1602-B94D-B483-86463CB949F4}" type="pres">
      <dgm:prSet presAssocID="{ACC261BF-9CBF-4CF7-BA64-08E44427EC8E}" presName="descendantBox" presStyleCnt="0"/>
      <dgm:spPr/>
    </dgm:pt>
    <dgm:pt modelId="{79675938-371C-E241-B08A-216175D7AFE6}" type="pres">
      <dgm:prSet presAssocID="{D171F699-6EB4-4163-B87F-2CED6DED7965}" presName="childTextBox" presStyleLbl="fgAccFollowNode1" presStyleIdx="0" presStyleCnt="5">
        <dgm:presLayoutVars>
          <dgm:bulletEnabled val="1"/>
        </dgm:presLayoutVars>
      </dgm:prSet>
      <dgm:spPr/>
    </dgm:pt>
    <dgm:pt modelId="{CD650A08-8FC3-A14C-9410-B15BB942AE9E}" type="pres">
      <dgm:prSet presAssocID="{0141C691-EDC9-49BE-B766-314E8B5384DD}" presName="childTextBox" presStyleLbl="fgAccFollowNode1" presStyleIdx="1" presStyleCnt="5">
        <dgm:presLayoutVars>
          <dgm:bulletEnabled val="1"/>
        </dgm:presLayoutVars>
      </dgm:prSet>
      <dgm:spPr/>
    </dgm:pt>
    <dgm:pt modelId="{E4773264-7712-924F-93B9-854996AC912D}" type="pres">
      <dgm:prSet presAssocID="{FB39F39F-EF28-4CC7-9D74-FD3300EEFE89}" presName="sp" presStyleCnt="0"/>
      <dgm:spPr/>
    </dgm:pt>
    <dgm:pt modelId="{2F6D2FBD-0AEF-B440-BDB2-3363A491E1A6}" type="pres">
      <dgm:prSet presAssocID="{ED2D86C1-3275-4F4B-B903-E0CD9B684116}" presName="arrowAndChildren" presStyleCnt="0"/>
      <dgm:spPr/>
    </dgm:pt>
    <dgm:pt modelId="{E1B300AF-58B8-D84C-A5D3-2A9B896FE0A4}" type="pres">
      <dgm:prSet presAssocID="{ED2D86C1-3275-4F4B-B903-E0CD9B684116}" presName="parentTextArrow" presStyleLbl="node1" presStyleIdx="0" presStyleCnt="3"/>
      <dgm:spPr/>
    </dgm:pt>
    <dgm:pt modelId="{7FA5C4CB-A306-E048-B469-FF444A8422A5}" type="pres">
      <dgm:prSet presAssocID="{ED2D86C1-3275-4F4B-B903-E0CD9B684116}" presName="arrow" presStyleLbl="node1" presStyleIdx="1" presStyleCnt="3"/>
      <dgm:spPr/>
    </dgm:pt>
    <dgm:pt modelId="{6EBCC739-19D6-974B-8BA8-1FA095BF2002}" type="pres">
      <dgm:prSet presAssocID="{ED2D86C1-3275-4F4B-B903-E0CD9B684116}" presName="descendantArrow" presStyleCnt="0"/>
      <dgm:spPr/>
    </dgm:pt>
    <dgm:pt modelId="{89CE0525-81E2-F641-8A74-D289140296D5}" type="pres">
      <dgm:prSet presAssocID="{851915E8-96DB-40C1-971C-10510F1D2188}" presName="childTextArrow" presStyleLbl="fgAccFollowNode1" presStyleIdx="2" presStyleCnt="5">
        <dgm:presLayoutVars>
          <dgm:bulletEnabled val="1"/>
        </dgm:presLayoutVars>
      </dgm:prSet>
      <dgm:spPr/>
    </dgm:pt>
    <dgm:pt modelId="{B228CA8A-3D21-1A49-AD2C-6E7226595E82}" type="pres">
      <dgm:prSet presAssocID="{21F6B728-BDDE-4BA5-BE27-FE67754FBCA4}" presName="childTextArrow" presStyleLbl="fgAccFollowNode1" presStyleIdx="3" presStyleCnt="5">
        <dgm:presLayoutVars>
          <dgm:bulletEnabled val="1"/>
        </dgm:presLayoutVars>
      </dgm:prSet>
      <dgm:spPr/>
    </dgm:pt>
    <dgm:pt modelId="{B6EFD4AE-743F-E14D-A16C-43ADC5BD1869}" type="pres">
      <dgm:prSet presAssocID="{F56EB070-E794-43FE-95AC-CC07AEF2E4B6}" presName="sp" presStyleCnt="0"/>
      <dgm:spPr/>
    </dgm:pt>
    <dgm:pt modelId="{68407C68-F3D9-7E4A-BC33-B7CDAF6B8D20}" type="pres">
      <dgm:prSet presAssocID="{21225E44-82D4-44D1-BCAB-A33757883A8B}" presName="arrowAndChildren" presStyleCnt="0"/>
      <dgm:spPr/>
    </dgm:pt>
    <dgm:pt modelId="{06A2D506-552C-2449-92E6-DA35E5586E43}" type="pres">
      <dgm:prSet presAssocID="{21225E44-82D4-44D1-BCAB-A33757883A8B}" presName="parentTextArrow" presStyleLbl="node1" presStyleIdx="1" presStyleCnt="3"/>
      <dgm:spPr/>
    </dgm:pt>
    <dgm:pt modelId="{F5D033D3-10A9-154A-976B-C1EB3D4080E1}" type="pres">
      <dgm:prSet presAssocID="{21225E44-82D4-44D1-BCAB-A33757883A8B}" presName="arrow" presStyleLbl="node1" presStyleIdx="2" presStyleCnt="3"/>
      <dgm:spPr/>
    </dgm:pt>
    <dgm:pt modelId="{866062FC-A174-F840-9F65-750606D8FA2C}" type="pres">
      <dgm:prSet presAssocID="{21225E44-82D4-44D1-BCAB-A33757883A8B}" presName="descendantArrow" presStyleCnt="0"/>
      <dgm:spPr/>
    </dgm:pt>
    <dgm:pt modelId="{9479A8E7-5757-D341-AA07-C587EFF73A36}" type="pres">
      <dgm:prSet presAssocID="{C7BA8D6D-C931-4265-87B7-FD5083AFDBE1}" presName="childTextArrow" presStyleLbl="fgAccFollowNode1" presStyleIdx="4" presStyleCnt="5">
        <dgm:presLayoutVars>
          <dgm:bulletEnabled val="1"/>
        </dgm:presLayoutVars>
      </dgm:prSet>
      <dgm:spPr/>
    </dgm:pt>
  </dgm:ptLst>
  <dgm:cxnLst>
    <dgm:cxn modelId="{C3E51B0C-1336-0446-9AF9-AB9149DED6E8}" type="presOf" srcId="{C7BA8D6D-C931-4265-87B7-FD5083AFDBE1}" destId="{9479A8E7-5757-D341-AA07-C587EFF73A36}" srcOrd="0" destOrd="0" presId="urn:microsoft.com/office/officeart/2005/8/layout/process4"/>
    <dgm:cxn modelId="{2DC2C70D-C5C6-465F-9B9D-8AB60F3A7D4E}" srcId="{D0F1EB55-0879-470F-B27C-F73222E2F1CC}" destId="{21225E44-82D4-44D1-BCAB-A33757883A8B}" srcOrd="0" destOrd="0" parTransId="{B95216EC-4FF5-42C3-989A-9A68B23015BD}" sibTransId="{F56EB070-E794-43FE-95AC-CC07AEF2E4B6}"/>
    <dgm:cxn modelId="{92A92B1B-AC40-DD4A-BDA3-ACE856FDC322}" type="presOf" srcId="{851915E8-96DB-40C1-971C-10510F1D2188}" destId="{89CE0525-81E2-F641-8A74-D289140296D5}" srcOrd="0" destOrd="0" presId="urn:microsoft.com/office/officeart/2005/8/layout/process4"/>
    <dgm:cxn modelId="{66742B30-CDC5-F348-9540-1CF6356D4D82}" type="presOf" srcId="{D0F1EB55-0879-470F-B27C-F73222E2F1CC}" destId="{AC125F9B-F422-2440-B517-4C754746F6DB}" srcOrd="0" destOrd="0" presId="urn:microsoft.com/office/officeart/2005/8/layout/process4"/>
    <dgm:cxn modelId="{7D94D135-CA79-400F-B263-2152AC23066A}" srcId="{D0F1EB55-0879-470F-B27C-F73222E2F1CC}" destId="{ACC261BF-9CBF-4CF7-BA64-08E44427EC8E}" srcOrd="2" destOrd="0" parTransId="{6D8E8000-92FC-4D32-826B-A78B511896F2}" sibTransId="{2E032C92-68DA-4A42-8023-5FB80EF8A6F9}"/>
    <dgm:cxn modelId="{05D56A39-7BB8-7241-885A-26B51838C464}" type="presOf" srcId="{ACC261BF-9CBF-4CF7-BA64-08E44427EC8E}" destId="{01113379-A0C2-0340-83BB-453C7934B095}" srcOrd="0" destOrd="0" presId="urn:microsoft.com/office/officeart/2005/8/layout/process4"/>
    <dgm:cxn modelId="{30C75B49-CE75-4783-9490-B5EB823D70D4}" srcId="{ACC261BF-9CBF-4CF7-BA64-08E44427EC8E}" destId="{0141C691-EDC9-49BE-B766-314E8B5384DD}" srcOrd="1" destOrd="0" parTransId="{F8BD60DF-45C1-4191-B224-CC09A7463CD9}" sibTransId="{54844D58-C785-4ACC-A6C1-23E37003082D}"/>
    <dgm:cxn modelId="{F5DE2651-3860-48B2-B637-DB30ED9CF6F7}" srcId="{ED2D86C1-3275-4F4B-B903-E0CD9B684116}" destId="{21F6B728-BDDE-4BA5-BE27-FE67754FBCA4}" srcOrd="1" destOrd="0" parTransId="{FE12E4F0-B4DF-4770-B301-15D5B1CAE39F}" sibTransId="{2827AF0F-1090-40D4-A691-52ADC490C0BF}"/>
    <dgm:cxn modelId="{E5E9BA5E-B9A6-4B5B-A6D1-DFEBCE6B6D34}" srcId="{ED2D86C1-3275-4F4B-B903-E0CD9B684116}" destId="{851915E8-96DB-40C1-971C-10510F1D2188}" srcOrd="0" destOrd="0" parTransId="{BC9861CB-D24E-4880-B2FF-778DDEE569A3}" sibTransId="{DCFB991A-A67A-4C1C-860E-6B05E049B9C6}"/>
    <dgm:cxn modelId="{F08CD86B-5618-4827-AD5B-1F59C4793804}" srcId="{21225E44-82D4-44D1-BCAB-A33757883A8B}" destId="{C7BA8D6D-C931-4265-87B7-FD5083AFDBE1}" srcOrd="0" destOrd="0" parTransId="{41B198F0-A5D7-4726-996E-24B8AA714122}" sibTransId="{F88C13CA-981E-4368-9806-A7F0ED32E620}"/>
    <dgm:cxn modelId="{1DBDCF80-2272-954C-962C-036ACC03CBF1}" type="presOf" srcId="{ED2D86C1-3275-4F4B-B903-E0CD9B684116}" destId="{7FA5C4CB-A306-E048-B469-FF444A8422A5}" srcOrd="1" destOrd="0" presId="urn:microsoft.com/office/officeart/2005/8/layout/process4"/>
    <dgm:cxn modelId="{198E258B-87C9-E645-974A-7A58EAE2C97A}" type="presOf" srcId="{D171F699-6EB4-4163-B87F-2CED6DED7965}" destId="{79675938-371C-E241-B08A-216175D7AFE6}" srcOrd="0" destOrd="0" presId="urn:microsoft.com/office/officeart/2005/8/layout/process4"/>
    <dgm:cxn modelId="{F57AD68F-98AD-6140-9192-E581613EC2A5}" type="presOf" srcId="{ACC261BF-9CBF-4CF7-BA64-08E44427EC8E}" destId="{3A77B70A-5B3A-4646-9F06-D6DC0A5E694D}" srcOrd="1" destOrd="0" presId="urn:microsoft.com/office/officeart/2005/8/layout/process4"/>
    <dgm:cxn modelId="{926FDE99-8386-1A41-9BC0-97B6D82E0146}" type="presOf" srcId="{21225E44-82D4-44D1-BCAB-A33757883A8B}" destId="{06A2D506-552C-2449-92E6-DA35E5586E43}" srcOrd="0" destOrd="0" presId="urn:microsoft.com/office/officeart/2005/8/layout/process4"/>
    <dgm:cxn modelId="{A1D867B6-9AB7-4E9B-A846-2A59A6D3D7D1}" srcId="{ACC261BF-9CBF-4CF7-BA64-08E44427EC8E}" destId="{D171F699-6EB4-4163-B87F-2CED6DED7965}" srcOrd="0" destOrd="0" parTransId="{52D4834E-E952-40D4-ADBB-3EC0D2DC7689}" sibTransId="{7D4DF318-8B3F-43C0-BB4E-157FB290189A}"/>
    <dgm:cxn modelId="{4D19EFBA-2DA4-F545-8A9E-ACA349103F40}" type="presOf" srcId="{21F6B728-BDDE-4BA5-BE27-FE67754FBCA4}" destId="{B228CA8A-3D21-1A49-AD2C-6E7226595E82}" srcOrd="0" destOrd="0" presId="urn:microsoft.com/office/officeart/2005/8/layout/process4"/>
    <dgm:cxn modelId="{0FE3A6BB-B10F-F44E-8D19-1A382B99E546}" type="presOf" srcId="{0141C691-EDC9-49BE-B766-314E8B5384DD}" destId="{CD650A08-8FC3-A14C-9410-B15BB942AE9E}" srcOrd="0" destOrd="0" presId="urn:microsoft.com/office/officeart/2005/8/layout/process4"/>
    <dgm:cxn modelId="{34B046CF-16B2-41A6-8518-6F631D31D75F}" srcId="{D0F1EB55-0879-470F-B27C-F73222E2F1CC}" destId="{ED2D86C1-3275-4F4B-B903-E0CD9B684116}" srcOrd="1" destOrd="0" parTransId="{8B217DDF-117E-46A9-B43F-D55F3620DE53}" sibTransId="{FB39F39F-EF28-4CC7-9D74-FD3300EEFE89}"/>
    <dgm:cxn modelId="{30BB21DE-E9DF-2541-850D-D988E183F529}" type="presOf" srcId="{21225E44-82D4-44D1-BCAB-A33757883A8B}" destId="{F5D033D3-10A9-154A-976B-C1EB3D4080E1}" srcOrd="1" destOrd="0" presId="urn:microsoft.com/office/officeart/2005/8/layout/process4"/>
    <dgm:cxn modelId="{C10F4EF8-FFD7-A24F-B845-5803D541C659}" type="presOf" srcId="{ED2D86C1-3275-4F4B-B903-E0CD9B684116}" destId="{E1B300AF-58B8-D84C-A5D3-2A9B896FE0A4}" srcOrd="0" destOrd="0" presId="urn:microsoft.com/office/officeart/2005/8/layout/process4"/>
    <dgm:cxn modelId="{34E76125-13D0-334C-BE92-500BEDA5AF0D}" type="presParOf" srcId="{AC125F9B-F422-2440-B517-4C754746F6DB}" destId="{4233141A-1F91-E24E-B691-6B9B08993281}" srcOrd="0" destOrd="0" presId="urn:microsoft.com/office/officeart/2005/8/layout/process4"/>
    <dgm:cxn modelId="{DCBFB02E-A8C3-E648-8291-4C3E5585E0E6}" type="presParOf" srcId="{4233141A-1F91-E24E-B691-6B9B08993281}" destId="{01113379-A0C2-0340-83BB-453C7934B095}" srcOrd="0" destOrd="0" presId="urn:microsoft.com/office/officeart/2005/8/layout/process4"/>
    <dgm:cxn modelId="{04255ADD-3B98-3B4C-BD4D-7D0F3D9D1F8B}" type="presParOf" srcId="{4233141A-1F91-E24E-B691-6B9B08993281}" destId="{3A77B70A-5B3A-4646-9F06-D6DC0A5E694D}" srcOrd="1" destOrd="0" presId="urn:microsoft.com/office/officeart/2005/8/layout/process4"/>
    <dgm:cxn modelId="{02F32B94-9E38-674F-BF90-C4B916B60334}" type="presParOf" srcId="{4233141A-1F91-E24E-B691-6B9B08993281}" destId="{71472A26-1602-B94D-B483-86463CB949F4}" srcOrd="2" destOrd="0" presId="urn:microsoft.com/office/officeart/2005/8/layout/process4"/>
    <dgm:cxn modelId="{8430596A-F08E-B84C-AF41-E4556D1C8E10}" type="presParOf" srcId="{71472A26-1602-B94D-B483-86463CB949F4}" destId="{79675938-371C-E241-B08A-216175D7AFE6}" srcOrd="0" destOrd="0" presId="urn:microsoft.com/office/officeart/2005/8/layout/process4"/>
    <dgm:cxn modelId="{C303A0B3-EB32-B847-8ED0-99F428B821E7}" type="presParOf" srcId="{71472A26-1602-B94D-B483-86463CB949F4}" destId="{CD650A08-8FC3-A14C-9410-B15BB942AE9E}" srcOrd="1" destOrd="0" presId="urn:microsoft.com/office/officeart/2005/8/layout/process4"/>
    <dgm:cxn modelId="{01004351-04DA-CC4E-B44A-9612DAD99023}" type="presParOf" srcId="{AC125F9B-F422-2440-B517-4C754746F6DB}" destId="{E4773264-7712-924F-93B9-854996AC912D}" srcOrd="1" destOrd="0" presId="urn:microsoft.com/office/officeart/2005/8/layout/process4"/>
    <dgm:cxn modelId="{912FC680-2EAF-1843-B393-28969EB60BC1}" type="presParOf" srcId="{AC125F9B-F422-2440-B517-4C754746F6DB}" destId="{2F6D2FBD-0AEF-B440-BDB2-3363A491E1A6}" srcOrd="2" destOrd="0" presId="urn:microsoft.com/office/officeart/2005/8/layout/process4"/>
    <dgm:cxn modelId="{9CADD068-A03F-414F-9C86-060258783DCA}" type="presParOf" srcId="{2F6D2FBD-0AEF-B440-BDB2-3363A491E1A6}" destId="{E1B300AF-58B8-D84C-A5D3-2A9B896FE0A4}" srcOrd="0" destOrd="0" presId="urn:microsoft.com/office/officeart/2005/8/layout/process4"/>
    <dgm:cxn modelId="{5F82825B-019C-C04D-BB65-929F98B00C07}" type="presParOf" srcId="{2F6D2FBD-0AEF-B440-BDB2-3363A491E1A6}" destId="{7FA5C4CB-A306-E048-B469-FF444A8422A5}" srcOrd="1" destOrd="0" presId="urn:microsoft.com/office/officeart/2005/8/layout/process4"/>
    <dgm:cxn modelId="{372B4131-A216-9E4A-9334-67ACF6149132}" type="presParOf" srcId="{2F6D2FBD-0AEF-B440-BDB2-3363A491E1A6}" destId="{6EBCC739-19D6-974B-8BA8-1FA095BF2002}" srcOrd="2" destOrd="0" presId="urn:microsoft.com/office/officeart/2005/8/layout/process4"/>
    <dgm:cxn modelId="{310ACC8B-4DFE-5F4A-927D-BC64A6B0695C}" type="presParOf" srcId="{6EBCC739-19D6-974B-8BA8-1FA095BF2002}" destId="{89CE0525-81E2-F641-8A74-D289140296D5}" srcOrd="0" destOrd="0" presId="urn:microsoft.com/office/officeart/2005/8/layout/process4"/>
    <dgm:cxn modelId="{90D86A65-3187-494C-8BED-F23CFD50EDC8}" type="presParOf" srcId="{6EBCC739-19D6-974B-8BA8-1FA095BF2002}" destId="{B228CA8A-3D21-1A49-AD2C-6E7226595E82}" srcOrd="1" destOrd="0" presId="urn:microsoft.com/office/officeart/2005/8/layout/process4"/>
    <dgm:cxn modelId="{984F9B1F-947B-4148-BA6A-08D70290ACA5}" type="presParOf" srcId="{AC125F9B-F422-2440-B517-4C754746F6DB}" destId="{B6EFD4AE-743F-E14D-A16C-43ADC5BD1869}" srcOrd="3" destOrd="0" presId="urn:microsoft.com/office/officeart/2005/8/layout/process4"/>
    <dgm:cxn modelId="{4D083F35-6087-5944-96A1-FC51CB4D6E43}" type="presParOf" srcId="{AC125F9B-F422-2440-B517-4C754746F6DB}" destId="{68407C68-F3D9-7E4A-BC33-B7CDAF6B8D20}" srcOrd="4" destOrd="0" presId="urn:microsoft.com/office/officeart/2005/8/layout/process4"/>
    <dgm:cxn modelId="{0558C156-8A8B-DE42-8844-D4D0DF35A716}" type="presParOf" srcId="{68407C68-F3D9-7E4A-BC33-B7CDAF6B8D20}" destId="{06A2D506-552C-2449-92E6-DA35E5586E43}" srcOrd="0" destOrd="0" presId="urn:microsoft.com/office/officeart/2005/8/layout/process4"/>
    <dgm:cxn modelId="{85B33078-7371-854F-AA1C-E519253ED6DB}" type="presParOf" srcId="{68407C68-F3D9-7E4A-BC33-B7CDAF6B8D20}" destId="{F5D033D3-10A9-154A-976B-C1EB3D4080E1}" srcOrd="1" destOrd="0" presId="urn:microsoft.com/office/officeart/2005/8/layout/process4"/>
    <dgm:cxn modelId="{C47F0410-3179-CD49-81DC-54FD6E0604AE}" type="presParOf" srcId="{68407C68-F3D9-7E4A-BC33-B7CDAF6B8D20}" destId="{866062FC-A174-F840-9F65-750606D8FA2C}" srcOrd="2" destOrd="0" presId="urn:microsoft.com/office/officeart/2005/8/layout/process4"/>
    <dgm:cxn modelId="{995ADCD4-422A-4544-B36D-4B2B80B60BDF}" type="presParOf" srcId="{866062FC-A174-F840-9F65-750606D8FA2C}" destId="{9479A8E7-5757-D341-AA07-C587EFF73A36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6B0AF91-1C22-4D12-8EFE-0BCFAED14DE7}" type="doc">
      <dgm:prSet loTypeId="urn:microsoft.com/office/officeart/2016/7/layout/VerticalSolidActionLis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BFA82A7-334D-4EE4-94CC-394D1665E6CF}">
      <dgm:prSet/>
      <dgm:spPr/>
      <dgm:t>
        <a:bodyPr/>
        <a:lstStyle/>
        <a:p>
          <a:r>
            <a:rPr lang="en-US"/>
            <a:t>Approach</a:t>
          </a:r>
        </a:p>
      </dgm:t>
    </dgm:pt>
    <dgm:pt modelId="{FF87A19F-1C9E-4DC4-8381-8FF250490613}" type="parTrans" cxnId="{8002C451-457B-48E8-ABED-E036B2158344}">
      <dgm:prSet/>
      <dgm:spPr/>
      <dgm:t>
        <a:bodyPr/>
        <a:lstStyle/>
        <a:p>
          <a:endParaRPr lang="en-US"/>
        </a:p>
      </dgm:t>
    </dgm:pt>
    <dgm:pt modelId="{BBF99E9E-E109-400F-8EAA-EA7DC6E33CA4}" type="sibTrans" cxnId="{8002C451-457B-48E8-ABED-E036B2158344}">
      <dgm:prSet/>
      <dgm:spPr/>
      <dgm:t>
        <a:bodyPr/>
        <a:lstStyle/>
        <a:p>
          <a:endParaRPr lang="en-US"/>
        </a:p>
      </dgm:t>
    </dgm:pt>
    <dgm:pt modelId="{74435E97-7186-499A-8867-13D4DB93E275}">
      <dgm:prSet/>
      <dgm:spPr/>
      <dgm:t>
        <a:bodyPr/>
        <a:lstStyle/>
        <a:p>
          <a:r>
            <a:rPr lang="en-US"/>
            <a:t>Approach: Used resampling techniques (5,000 iterations) to avoid assumptions about data normality.</a:t>
          </a:r>
        </a:p>
      </dgm:t>
    </dgm:pt>
    <dgm:pt modelId="{4E75D4E4-EAE5-47E4-BB79-6B866BB5F5D8}" type="parTrans" cxnId="{683DE9A5-34E8-49B2-BBD7-C4E28901A2D9}">
      <dgm:prSet/>
      <dgm:spPr/>
      <dgm:t>
        <a:bodyPr/>
        <a:lstStyle/>
        <a:p>
          <a:endParaRPr lang="en-US"/>
        </a:p>
      </dgm:t>
    </dgm:pt>
    <dgm:pt modelId="{DF6E1F10-4BCB-4875-A972-1A7826F5E1C7}" type="sibTrans" cxnId="{683DE9A5-34E8-49B2-BBD7-C4E28901A2D9}">
      <dgm:prSet/>
      <dgm:spPr/>
      <dgm:t>
        <a:bodyPr/>
        <a:lstStyle/>
        <a:p>
          <a:endParaRPr lang="en-US"/>
        </a:p>
      </dgm:t>
    </dgm:pt>
    <dgm:pt modelId="{2899F290-0B1F-43BB-9B92-8036460805CD}">
      <dgm:prSet/>
      <dgm:spPr/>
      <dgm:t>
        <a:bodyPr/>
        <a:lstStyle/>
        <a:p>
          <a:r>
            <a:rPr lang="en-US"/>
            <a:t>Fault</a:t>
          </a:r>
        </a:p>
      </dgm:t>
    </dgm:pt>
    <dgm:pt modelId="{E6FC7217-5B75-4529-8B0C-58F23B202673}" type="parTrans" cxnId="{063912B8-6A75-4201-8B60-DCCEC2261394}">
      <dgm:prSet/>
      <dgm:spPr/>
      <dgm:t>
        <a:bodyPr/>
        <a:lstStyle/>
        <a:p>
          <a:endParaRPr lang="en-US"/>
        </a:p>
      </dgm:t>
    </dgm:pt>
    <dgm:pt modelId="{BCF487E3-6264-4ADC-8723-F77081587D46}" type="sibTrans" cxnId="{063912B8-6A75-4201-8B60-DCCEC2261394}">
      <dgm:prSet/>
      <dgm:spPr/>
      <dgm:t>
        <a:bodyPr/>
        <a:lstStyle/>
        <a:p>
          <a:endParaRPr lang="en-US"/>
        </a:p>
      </dgm:t>
    </dgm:pt>
    <dgm:pt modelId="{F6A65E18-98A7-4E72-A8B6-7F8443ACD017}">
      <dgm:prSet/>
      <dgm:spPr/>
      <dgm:t>
        <a:bodyPr/>
        <a:lstStyle/>
        <a:p>
          <a:r>
            <a:rPr lang="en-US" dirty="0"/>
            <a:t>Metric 1: Fault Rate (Difference in Proportions)</a:t>
          </a:r>
        </a:p>
      </dgm:t>
    </dgm:pt>
    <dgm:pt modelId="{333BF28F-A6F1-4248-98DE-AB5FD2EA5DE0}" type="parTrans" cxnId="{8E2C83C6-F927-4FFF-B9E3-BEEC20A6391B}">
      <dgm:prSet/>
      <dgm:spPr/>
      <dgm:t>
        <a:bodyPr/>
        <a:lstStyle/>
        <a:p>
          <a:endParaRPr lang="en-US"/>
        </a:p>
      </dgm:t>
    </dgm:pt>
    <dgm:pt modelId="{D40B0CCB-7F33-4AD4-944F-C9354C4CCDB9}" type="sibTrans" cxnId="{8E2C83C6-F927-4FFF-B9E3-BEEC20A6391B}">
      <dgm:prSet/>
      <dgm:spPr/>
      <dgm:t>
        <a:bodyPr/>
        <a:lstStyle/>
        <a:p>
          <a:endParaRPr lang="en-US"/>
        </a:p>
      </dgm:t>
    </dgm:pt>
    <dgm:pt modelId="{5341272F-6944-4DC7-BBF0-060F1B453CD5}">
      <dgm:prSet/>
      <dgm:spPr/>
      <dgm:t>
        <a:bodyPr/>
        <a:lstStyle/>
        <a:p>
          <a:r>
            <a:rPr lang="en-US" dirty="0"/>
            <a:t>Tested via Permutation Test (to establish significance) and Bootstrapping (to estimate uncertainty).</a:t>
          </a:r>
        </a:p>
      </dgm:t>
    </dgm:pt>
    <dgm:pt modelId="{7AEABBAA-22C7-4637-8D73-B5096227123C}" type="parTrans" cxnId="{51E6B366-1A84-4645-96AB-A0E9AC9EDB8F}">
      <dgm:prSet/>
      <dgm:spPr/>
      <dgm:t>
        <a:bodyPr/>
        <a:lstStyle/>
        <a:p>
          <a:endParaRPr lang="en-US"/>
        </a:p>
      </dgm:t>
    </dgm:pt>
    <dgm:pt modelId="{67C8FF1E-1D91-40C9-A794-0AA5EB22620E}" type="sibTrans" cxnId="{51E6B366-1A84-4645-96AB-A0E9AC9EDB8F}">
      <dgm:prSet/>
      <dgm:spPr/>
      <dgm:t>
        <a:bodyPr/>
        <a:lstStyle/>
        <a:p>
          <a:endParaRPr lang="en-US"/>
        </a:p>
      </dgm:t>
    </dgm:pt>
    <dgm:pt modelId="{0690E647-CE12-418D-BD27-B9B83CFC93A6}">
      <dgm:prSet/>
      <dgm:spPr/>
      <dgm:t>
        <a:bodyPr/>
        <a:lstStyle/>
        <a:p>
          <a:r>
            <a:rPr lang="en-US"/>
            <a:t>Damage</a:t>
          </a:r>
        </a:p>
      </dgm:t>
    </dgm:pt>
    <dgm:pt modelId="{D47E6F78-DCE6-4A27-9933-1E11F92E184A}" type="parTrans" cxnId="{99EFA645-B837-46A0-AC64-1F92FA2AF910}">
      <dgm:prSet/>
      <dgm:spPr/>
      <dgm:t>
        <a:bodyPr/>
        <a:lstStyle/>
        <a:p>
          <a:endParaRPr lang="en-US"/>
        </a:p>
      </dgm:t>
    </dgm:pt>
    <dgm:pt modelId="{1DDDD757-03F6-45F1-B14D-AE196358CBA5}" type="sibTrans" cxnId="{99EFA645-B837-46A0-AC64-1F92FA2AF910}">
      <dgm:prSet/>
      <dgm:spPr/>
      <dgm:t>
        <a:bodyPr/>
        <a:lstStyle/>
        <a:p>
          <a:endParaRPr lang="en-US"/>
        </a:p>
      </dgm:t>
    </dgm:pt>
    <dgm:pt modelId="{A19857AB-0216-4259-A606-BF69E6033EB6}">
      <dgm:prSet/>
      <dgm:spPr/>
      <dgm:t>
        <a:bodyPr/>
        <a:lstStyle/>
        <a:p>
          <a:r>
            <a:rPr lang="en-US" dirty="0"/>
            <a:t>Metric 2: Damage Severity (Difference in Medians)</a:t>
          </a:r>
        </a:p>
      </dgm:t>
    </dgm:pt>
    <dgm:pt modelId="{9067CA22-2189-4655-82C1-3ABB1B80A775}" type="parTrans" cxnId="{2C7D46F5-DB19-470B-8D77-A65F5FEBDD34}">
      <dgm:prSet/>
      <dgm:spPr/>
      <dgm:t>
        <a:bodyPr/>
        <a:lstStyle/>
        <a:p>
          <a:endParaRPr lang="en-US"/>
        </a:p>
      </dgm:t>
    </dgm:pt>
    <dgm:pt modelId="{EC79FB21-16AB-4968-8862-782F70E70ADD}" type="sibTrans" cxnId="{2C7D46F5-DB19-470B-8D77-A65F5FEBDD34}">
      <dgm:prSet/>
      <dgm:spPr/>
      <dgm:t>
        <a:bodyPr/>
        <a:lstStyle/>
        <a:p>
          <a:endParaRPr lang="en-US"/>
        </a:p>
      </dgm:t>
    </dgm:pt>
    <dgm:pt modelId="{61958F99-9651-4DA6-A875-8D76F50C0018}">
      <dgm:prSet/>
      <dgm:spPr/>
      <dgm:t>
        <a:bodyPr/>
        <a:lstStyle/>
        <a:p>
          <a:r>
            <a:rPr lang="en-US" dirty="0"/>
            <a:t>Tested via Bootstrapping only.</a:t>
          </a:r>
        </a:p>
      </dgm:t>
    </dgm:pt>
    <dgm:pt modelId="{4B9B8632-87E9-4B8A-8CC9-10907D817F27}" type="parTrans" cxnId="{CD26A9AF-A989-4D5D-9B3C-CDB57858533C}">
      <dgm:prSet/>
      <dgm:spPr/>
      <dgm:t>
        <a:bodyPr/>
        <a:lstStyle/>
        <a:p>
          <a:endParaRPr lang="en-US"/>
        </a:p>
      </dgm:t>
    </dgm:pt>
    <dgm:pt modelId="{79E81B1B-E703-43DF-9E73-A7559CBFFEE6}" type="sibTrans" cxnId="{CD26A9AF-A989-4D5D-9B3C-CDB57858533C}">
      <dgm:prSet/>
      <dgm:spPr/>
      <dgm:t>
        <a:bodyPr/>
        <a:lstStyle/>
        <a:p>
          <a:endParaRPr lang="en-US"/>
        </a:p>
      </dgm:t>
    </dgm:pt>
    <dgm:pt modelId="{0C9B1B72-1BAD-450D-AB97-9D5E5A9D7C71}">
      <dgm:prSet/>
      <dgm:spPr/>
      <dgm:t>
        <a:bodyPr/>
        <a:lstStyle/>
        <a:p>
          <a:r>
            <a:rPr lang="en-US" dirty="0"/>
            <a:t>Why CLT does not apply:</a:t>
          </a:r>
        </a:p>
      </dgm:t>
    </dgm:pt>
    <dgm:pt modelId="{EDB117EA-7699-4373-BCC3-DB8F026AF8FA}" type="parTrans" cxnId="{DC383D12-CAA0-478C-B45F-C8F99C70CDAF}">
      <dgm:prSet/>
      <dgm:spPr/>
      <dgm:t>
        <a:bodyPr/>
        <a:lstStyle/>
        <a:p>
          <a:endParaRPr lang="en-US"/>
        </a:p>
      </dgm:t>
    </dgm:pt>
    <dgm:pt modelId="{AA01DF6A-018C-4B66-AE9E-F081650AF8CB}" type="sibTrans" cxnId="{DC383D12-CAA0-478C-B45F-C8F99C70CDAF}">
      <dgm:prSet/>
      <dgm:spPr/>
      <dgm:t>
        <a:bodyPr/>
        <a:lstStyle/>
        <a:p>
          <a:endParaRPr lang="en-US"/>
        </a:p>
      </dgm:t>
    </dgm:pt>
    <dgm:pt modelId="{8D018EC9-5859-8F4A-B0D2-DBC5895F9DE8}">
      <dgm:prSet/>
      <dgm:spPr/>
      <dgm:t>
        <a:bodyPr/>
        <a:lstStyle/>
        <a:p>
          <a:pPr>
            <a:buNone/>
          </a:pPr>
          <a:r>
            <a:rPr lang="en-US" b="0" dirty="0"/>
            <a:t>The damage score is discrete and ordinal (integers 0-4). The sampling distribution of a median from such a distribution is generally not normal, making standard parametric confidence intervals invalid.</a:t>
          </a:r>
          <a:endParaRPr lang="en-US" dirty="0"/>
        </a:p>
      </dgm:t>
    </dgm:pt>
    <dgm:pt modelId="{57E4D5D8-19C2-EB46-8039-4F83B60345D4}" type="parTrans" cxnId="{E48E6423-4FD3-9D4C-95D6-EC2A9921DFD2}">
      <dgm:prSet/>
      <dgm:spPr/>
    </dgm:pt>
    <dgm:pt modelId="{35675D0B-F3C4-4241-B8F8-9881C95D2CD9}" type="sibTrans" cxnId="{E48E6423-4FD3-9D4C-95D6-EC2A9921DFD2}">
      <dgm:prSet/>
      <dgm:spPr/>
    </dgm:pt>
    <dgm:pt modelId="{44E3D968-0B3B-8748-A1C8-B70FB12B7375}" type="pres">
      <dgm:prSet presAssocID="{46B0AF91-1C22-4D12-8EFE-0BCFAED14DE7}" presName="Name0" presStyleCnt="0">
        <dgm:presLayoutVars>
          <dgm:dir/>
          <dgm:animLvl val="lvl"/>
          <dgm:resizeHandles val="exact"/>
        </dgm:presLayoutVars>
      </dgm:prSet>
      <dgm:spPr/>
    </dgm:pt>
    <dgm:pt modelId="{93D20B98-E1BB-514E-98A1-9C0593E59868}" type="pres">
      <dgm:prSet presAssocID="{5BFA82A7-334D-4EE4-94CC-394D1665E6CF}" presName="linNode" presStyleCnt="0"/>
      <dgm:spPr/>
    </dgm:pt>
    <dgm:pt modelId="{166A3BF7-443B-4949-B69B-BE5BC5AEA94C}" type="pres">
      <dgm:prSet presAssocID="{5BFA82A7-334D-4EE4-94CC-394D1665E6CF}" presName="parentText" presStyleLbl="alignNode1" presStyleIdx="0" presStyleCnt="3">
        <dgm:presLayoutVars>
          <dgm:chMax val="1"/>
          <dgm:bulletEnabled/>
        </dgm:presLayoutVars>
      </dgm:prSet>
      <dgm:spPr/>
    </dgm:pt>
    <dgm:pt modelId="{A4B7BE35-85F0-814C-B917-0F8085544400}" type="pres">
      <dgm:prSet presAssocID="{5BFA82A7-334D-4EE4-94CC-394D1665E6CF}" presName="descendantText" presStyleLbl="alignAccFollowNode1" presStyleIdx="0" presStyleCnt="3">
        <dgm:presLayoutVars>
          <dgm:bulletEnabled/>
        </dgm:presLayoutVars>
      </dgm:prSet>
      <dgm:spPr/>
    </dgm:pt>
    <dgm:pt modelId="{72B0D381-ED78-5544-8152-CDE3EAC80C68}" type="pres">
      <dgm:prSet presAssocID="{BBF99E9E-E109-400F-8EAA-EA7DC6E33CA4}" presName="sp" presStyleCnt="0"/>
      <dgm:spPr/>
    </dgm:pt>
    <dgm:pt modelId="{41D610AB-E0DB-F34C-81E0-D3B1CC7F1B08}" type="pres">
      <dgm:prSet presAssocID="{2899F290-0B1F-43BB-9B92-8036460805CD}" presName="linNode" presStyleCnt="0"/>
      <dgm:spPr/>
    </dgm:pt>
    <dgm:pt modelId="{FABE14CA-BC11-654C-BFDF-C4A3A20A2B61}" type="pres">
      <dgm:prSet presAssocID="{2899F290-0B1F-43BB-9B92-8036460805CD}" presName="parentText" presStyleLbl="alignNode1" presStyleIdx="1" presStyleCnt="3">
        <dgm:presLayoutVars>
          <dgm:chMax val="1"/>
          <dgm:bulletEnabled/>
        </dgm:presLayoutVars>
      </dgm:prSet>
      <dgm:spPr/>
    </dgm:pt>
    <dgm:pt modelId="{FDF45F5A-1CB8-D844-A33B-D02070DB5B89}" type="pres">
      <dgm:prSet presAssocID="{2899F290-0B1F-43BB-9B92-8036460805CD}" presName="descendantText" presStyleLbl="alignAccFollowNode1" presStyleIdx="1" presStyleCnt="3">
        <dgm:presLayoutVars>
          <dgm:bulletEnabled/>
        </dgm:presLayoutVars>
      </dgm:prSet>
      <dgm:spPr/>
    </dgm:pt>
    <dgm:pt modelId="{A9ABDDCC-0BF7-5C44-8EA1-EE40570532C8}" type="pres">
      <dgm:prSet presAssocID="{BCF487E3-6264-4ADC-8723-F77081587D46}" presName="sp" presStyleCnt="0"/>
      <dgm:spPr/>
    </dgm:pt>
    <dgm:pt modelId="{54EC27A0-8B97-554A-A35E-9DE2B642E526}" type="pres">
      <dgm:prSet presAssocID="{0690E647-CE12-418D-BD27-B9B83CFC93A6}" presName="linNode" presStyleCnt="0"/>
      <dgm:spPr/>
    </dgm:pt>
    <dgm:pt modelId="{714E646F-598F-FE45-9279-41397558E4A3}" type="pres">
      <dgm:prSet presAssocID="{0690E647-CE12-418D-BD27-B9B83CFC93A6}" presName="parentText" presStyleLbl="alignNode1" presStyleIdx="2" presStyleCnt="3">
        <dgm:presLayoutVars>
          <dgm:chMax val="1"/>
          <dgm:bulletEnabled/>
        </dgm:presLayoutVars>
      </dgm:prSet>
      <dgm:spPr/>
    </dgm:pt>
    <dgm:pt modelId="{6A626003-CCE1-284A-8C64-2E4A69A7F908}" type="pres">
      <dgm:prSet presAssocID="{0690E647-CE12-418D-BD27-B9B83CFC93A6}" presName="descendantText" presStyleLbl="alignAccFollowNode1" presStyleIdx="2" presStyleCnt="3">
        <dgm:presLayoutVars>
          <dgm:bulletEnabled/>
        </dgm:presLayoutVars>
      </dgm:prSet>
      <dgm:spPr/>
    </dgm:pt>
  </dgm:ptLst>
  <dgm:cxnLst>
    <dgm:cxn modelId="{0DF4AA01-E6AA-3049-B5D3-E136A9E2418E}" type="presOf" srcId="{F6A65E18-98A7-4E72-A8B6-7F8443ACD017}" destId="{FDF45F5A-1CB8-D844-A33B-D02070DB5B89}" srcOrd="0" destOrd="0" presId="urn:microsoft.com/office/officeart/2016/7/layout/VerticalSolidActionList"/>
    <dgm:cxn modelId="{DC383D12-CAA0-478C-B45F-C8F99C70CDAF}" srcId="{A19857AB-0216-4259-A606-BF69E6033EB6}" destId="{0C9B1B72-1BAD-450D-AB97-9D5E5A9D7C71}" srcOrd="1" destOrd="0" parTransId="{EDB117EA-7699-4373-BCC3-DB8F026AF8FA}" sibTransId="{AA01DF6A-018C-4B66-AE9E-F081650AF8CB}"/>
    <dgm:cxn modelId="{019A5614-B67C-C941-A4F5-2B6A4773EE99}" type="presOf" srcId="{0690E647-CE12-418D-BD27-B9B83CFC93A6}" destId="{714E646F-598F-FE45-9279-41397558E4A3}" srcOrd="0" destOrd="0" presId="urn:microsoft.com/office/officeart/2016/7/layout/VerticalSolidActionList"/>
    <dgm:cxn modelId="{E48E6423-4FD3-9D4C-95D6-EC2A9921DFD2}" srcId="{A19857AB-0216-4259-A606-BF69E6033EB6}" destId="{8D018EC9-5859-8F4A-B0D2-DBC5895F9DE8}" srcOrd="2" destOrd="0" parTransId="{57E4D5D8-19C2-EB46-8039-4F83B60345D4}" sibTransId="{35675D0B-F3C4-4241-B8F8-9881C95D2CD9}"/>
    <dgm:cxn modelId="{769F8C25-86B8-D44E-8F27-BA5C3797F99A}" type="presOf" srcId="{5341272F-6944-4DC7-BBF0-060F1B453CD5}" destId="{FDF45F5A-1CB8-D844-A33B-D02070DB5B89}" srcOrd="0" destOrd="1" presId="urn:microsoft.com/office/officeart/2016/7/layout/VerticalSolidActionList"/>
    <dgm:cxn modelId="{99EFA645-B837-46A0-AC64-1F92FA2AF910}" srcId="{46B0AF91-1C22-4D12-8EFE-0BCFAED14DE7}" destId="{0690E647-CE12-418D-BD27-B9B83CFC93A6}" srcOrd="2" destOrd="0" parTransId="{D47E6F78-DCE6-4A27-9933-1E11F92E184A}" sibTransId="{1DDDD757-03F6-45F1-B14D-AE196358CBA5}"/>
    <dgm:cxn modelId="{8002C451-457B-48E8-ABED-E036B2158344}" srcId="{46B0AF91-1C22-4D12-8EFE-0BCFAED14DE7}" destId="{5BFA82A7-334D-4EE4-94CC-394D1665E6CF}" srcOrd="0" destOrd="0" parTransId="{FF87A19F-1C9E-4DC4-8381-8FF250490613}" sibTransId="{BBF99E9E-E109-400F-8EAA-EA7DC6E33CA4}"/>
    <dgm:cxn modelId="{864A1C5C-822E-0A41-BE52-103D33161615}" type="presOf" srcId="{5BFA82A7-334D-4EE4-94CC-394D1665E6CF}" destId="{166A3BF7-443B-4949-B69B-BE5BC5AEA94C}" srcOrd="0" destOrd="0" presId="urn:microsoft.com/office/officeart/2016/7/layout/VerticalSolidActionList"/>
    <dgm:cxn modelId="{3F7C5B5D-D849-2B4C-A551-EB80C83205EE}" type="presOf" srcId="{74435E97-7186-499A-8867-13D4DB93E275}" destId="{A4B7BE35-85F0-814C-B917-0F8085544400}" srcOrd="0" destOrd="0" presId="urn:microsoft.com/office/officeart/2016/7/layout/VerticalSolidActionList"/>
    <dgm:cxn modelId="{51E6B366-1A84-4645-96AB-A0E9AC9EDB8F}" srcId="{F6A65E18-98A7-4E72-A8B6-7F8443ACD017}" destId="{5341272F-6944-4DC7-BBF0-060F1B453CD5}" srcOrd="0" destOrd="0" parTransId="{7AEABBAA-22C7-4637-8D73-B5096227123C}" sibTransId="{67C8FF1E-1D91-40C9-A794-0AA5EB22620E}"/>
    <dgm:cxn modelId="{A712996F-5B75-E345-8983-B379605B6BF7}" type="presOf" srcId="{8D018EC9-5859-8F4A-B0D2-DBC5895F9DE8}" destId="{6A626003-CCE1-284A-8C64-2E4A69A7F908}" srcOrd="0" destOrd="3" presId="urn:microsoft.com/office/officeart/2016/7/layout/VerticalSolidActionList"/>
    <dgm:cxn modelId="{683DE9A5-34E8-49B2-BBD7-C4E28901A2D9}" srcId="{5BFA82A7-334D-4EE4-94CC-394D1665E6CF}" destId="{74435E97-7186-499A-8867-13D4DB93E275}" srcOrd="0" destOrd="0" parTransId="{4E75D4E4-EAE5-47E4-BB79-6B866BB5F5D8}" sibTransId="{DF6E1F10-4BCB-4875-A972-1A7826F5E1C7}"/>
    <dgm:cxn modelId="{CD26A9AF-A989-4D5D-9B3C-CDB57858533C}" srcId="{A19857AB-0216-4259-A606-BF69E6033EB6}" destId="{61958F99-9651-4DA6-A875-8D76F50C0018}" srcOrd="0" destOrd="0" parTransId="{4B9B8632-87E9-4B8A-8CC9-10907D817F27}" sibTransId="{79E81B1B-E703-43DF-9E73-A7559CBFFEE6}"/>
    <dgm:cxn modelId="{E3EAD0AF-DA56-DC47-B639-80AE7B7C801A}" type="presOf" srcId="{2899F290-0B1F-43BB-9B92-8036460805CD}" destId="{FABE14CA-BC11-654C-BFDF-C4A3A20A2B61}" srcOrd="0" destOrd="0" presId="urn:microsoft.com/office/officeart/2016/7/layout/VerticalSolidActionList"/>
    <dgm:cxn modelId="{063912B8-6A75-4201-8B60-DCCEC2261394}" srcId="{46B0AF91-1C22-4D12-8EFE-0BCFAED14DE7}" destId="{2899F290-0B1F-43BB-9B92-8036460805CD}" srcOrd="1" destOrd="0" parTransId="{E6FC7217-5B75-4529-8B0C-58F23B202673}" sibTransId="{BCF487E3-6264-4ADC-8723-F77081587D46}"/>
    <dgm:cxn modelId="{876AE4BF-C66C-704F-B9FB-78378B00BC2E}" type="presOf" srcId="{61958F99-9651-4DA6-A875-8D76F50C0018}" destId="{6A626003-CCE1-284A-8C64-2E4A69A7F908}" srcOrd="0" destOrd="1" presId="urn:microsoft.com/office/officeart/2016/7/layout/VerticalSolidActionList"/>
    <dgm:cxn modelId="{8E2C83C6-F927-4FFF-B9E3-BEEC20A6391B}" srcId="{2899F290-0B1F-43BB-9B92-8036460805CD}" destId="{F6A65E18-98A7-4E72-A8B6-7F8443ACD017}" srcOrd="0" destOrd="0" parTransId="{333BF28F-A6F1-4248-98DE-AB5FD2EA5DE0}" sibTransId="{D40B0CCB-7F33-4AD4-944F-C9354C4CCDB9}"/>
    <dgm:cxn modelId="{A3A642CF-5448-9B43-ACD2-7E7586CDD7D5}" type="presOf" srcId="{46B0AF91-1C22-4D12-8EFE-0BCFAED14DE7}" destId="{44E3D968-0B3B-8748-A1C8-B70FB12B7375}" srcOrd="0" destOrd="0" presId="urn:microsoft.com/office/officeart/2016/7/layout/VerticalSolidActionList"/>
    <dgm:cxn modelId="{02A3BCF1-CFD4-3B4A-AE79-01C67A066FE3}" type="presOf" srcId="{0C9B1B72-1BAD-450D-AB97-9D5E5A9D7C71}" destId="{6A626003-CCE1-284A-8C64-2E4A69A7F908}" srcOrd="0" destOrd="2" presId="urn:microsoft.com/office/officeart/2016/7/layout/VerticalSolidActionList"/>
    <dgm:cxn modelId="{2C7D46F5-DB19-470B-8D77-A65F5FEBDD34}" srcId="{0690E647-CE12-418D-BD27-B9B83CFC93A6}" destId="{A19857AB-0216-4259-A606-BF69E6033EB6}" srcOrd="0" destOrd="0" parTransId="{9067CA22-2189-4655-82C1-3ABB1B80A775}" sibTransId="{EC79FB21-16AB-4968-8862-782F70E70ADD}"/>
    <dgm:cxn modelId="{DB0277FE-24BC-174B-A562-D33A489C9BD8}" type="presOf" srcId="{A19857AB-0216-4259-A606-BF69E6033EB6}" destId="{6A626003-CCE1-284A-8C64-2E4A69A7F908}" srcOrd="0" destOrd="0" presId="urn:microsoft.com/office/officeart/2016/7/layout/VerticalSolidActionList"/>
    <dgm:cxn modelId="{847227E4-E548-5D4B-9F26-BA63793A6B3A}" type="presParOf" srcId="{44E3D968-0B3B-8748-A1C8-B70FB12B7375}" destId="{93D20B98-E1BB-514E-98A1-9C0593E59868}" srcOrd="0" destOrd="0" presId="urn:microsoft.com/office/officeart/2016/7/layout/VerticalSolidActionList"/>
    <dgm:cxn modelId="{858B0A36-CF1C-5D40-8FBD-A114DDF3DF51}" type="presParOf" srcId="{93D20B98-E1BB-514E-98A1-9C0593E59868}" destId="{166A3BF7-443B-4949-B69B-BE5BC5AEA94C}" srcOrd="0" destOrd="0" presId="urn:microsoft.com/office/officeart/2016/7/layout/VerticalSolidActionList"/>
    <dgm:cxn modelId="{087F3A37-A84A-1047-9845-9B1C3E1B5CEF}" type="presParOf" srcId="{93D20B98-E1BB-514E-98A1-9C0593E59868}" destId="{A4B7BE35-85F0-814C-B917-0F8085544400}" srcOrd="1" destOrd="0" presId="urn:microsoft.com/office/officeart/2016/7/layout/VerticalSolidActionList"/>
    <dgm:cxn modelId="{CF207D6A-F9BA-A54D-8692-CE927AE3D30D}" type="presParOf" srcId="{44E3D968-0B3B-8748-A1C8-B70FB12B7375}" destId="{72B0D381-ED78-5544-8152-CDE3EAC80C68}" srcOrd="1" destOrd="0" presId="urn:microsoft.com/office/officeart/2016/7/layout/VerticalSolidActionList"/>
    <dgm:cxn modelId="{0FAD5C4F-64C1-CD45-AC6D-F133AD8E7024}" type="presParOf" srcId="{44E3D968-0B3B-8748-A1C8-B70FB12B7375}" destId="{41D610AB-E0DB-F34C-81E0-D3B1CC7F1B08}" srcOrd="2" destOrd="0" presId="urn:microsoft.com/office/officeart/2016/7/layout/VerticalSolidActionList"/>
    <dgm:cxn modelId="{ACC83CDF-E561-6C41-B89C-E80EC5410758}" type="presParOf" srcId="{41D610AB-E0DB-F34C-81E0-D3B1CC7F1B08}" destId="{FABE14CA-BC11-654C-BFDF-C4A3A20A2B61}" srcOrd="0" destOrd="0" presId="urn:microsoft.com/office/officeart/2016/7/layout/VerticalSolidActionList"/>
    <dgm:cxn modelId="{2E0EEDA3-3C52-0D42-B303-42949AC045DD}" type="presParOf" srcId="{41D610AB-E0DB-F34C-81E0-D3B1CC7F1B08}" destId="{FDF45F5A-1CB8-D844-A33B-D02070DB5B89}" srcOrd="1" destOrd="0" presId="urn:microsoft.com/office/officeart/2016/7/layout/VerticalSolidActionList"/>
    <dgm:cxn modelId="{A84A89A5-4B91-4145-BCEC-0D37924A98CA}" type="presParOf" srcId="{44E3D968-0B3B-8748-A1C8-B70FB12B7375}" destId="{A9ABDDCC-0BF7-5C44-8EA1-EE40570532C8}" srcOrd="3" destOrd="0" presId="urn:microsoft.com/office/officeart/2016/7/layout/VerticalSolidActionList"/>
    <dgm:cxn modelId="{278FFE9C-B27A-0545-802D-A5C95707D96F}" type="presParOf" srcId="{44E3D968-0B3B-8748-A1C8-B70FB12B7375}" destId="{54EC27A0-8B97-554A-A35E-9DE2B642E526}" srcOrd="4" destOrd="0" presId="urn:microsoft.com/office/officeart/2016/7/layout/VerticalSolidActionList"/>
    <dgm:cxn modelId="{E5DCB051-F762-4C49-A39A-2717E3009CB9}" type="presParOf" srcId="{54EC27A0-8B97-554A-A35E-9DE2B642E526}" destId="{714E646F-598F-FE45-9279-41397558E4A3}" srcOrd="0" destOrd="0" presId="urn:microsoft.com/office/officeart/2016/7/layout/VerticalSolidActionList"/>
    <dgm:cxn modelId="{4A401870-0622-A844-9D2B-12428848ECE9}" type="presParOf" srcId="{54EC27A0-8B97-554A-A35E-9DE2B642E526}" destId="{6A626003-CCE1-284A-8C64-2E4A69A7F908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73A4F6B-1EBF-410D-971A-BCCA4D93CB7B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6309F4B-C0F2-459E-A150-C60D373F5924}">
      <dgm:prSet/>
      <dgm:spPr/>
      <dgm:t>
        <a:bodyPr/>
        <a:lstStyle/>
        <a:p>
          <a:r>
            <a:rPr lang="en-US" b="1" i="0" baseline="0" dirty="0"/>
            <a:t>Conclusion:</a:t>
          </a:r>
          <a:r>
            <a:rPr lang="en-US" b="0" i="0" baseline="0" dirty="0"/>
            <a:t> Distraction is a definitive predictor of </a:t>
          </a:r>
          <a:r>
            <a:rPr lang="en-US" b="1" i="0" baseline="0" dirty="0"/>
            <a:t>liability</a:t>
          </a:r>
          <a:r>
            <a:rPr lang="en-US" b="0" i="0" baseline="0" dirty="0"/>
            <a:t> (causing the crash), but it does not guarantee the crash will be more </a:t>
          </a:r>
          <a:r>
            <a:rPr lang="en-US" b="1" i="0" baseline="0" dirty="0"/>
            <a:t>severe</a:t>
          </a:r>
          <a:r>
            <a:rPr lang="en-US" b="0" i="0" baseline="0" dirty="0"/>
            <a:t> than a baseline accident.</a:t>
          </a:r>
          <a:endParaRPr lang="en-US" dirty="0"/>
        </a:p>
      </dgm:t>
    </dgm:pt>
    <dgm:pt modelId="{A130CFD4-F162-4943-9237-2B390B7ACFE7}" type="parTrans" cxnId="{CD1257C4-EB94-437A-A67A-D628D9B5EA1C}">
      <dgm:prSet/>
      <dgm:spPr/>
      <dgm:t>
        <a:bodyPr/>
        <a:lstStyle/>
        <a:p>
          <a:endParaRPr lang="en-US"/>
        </a:p>
      </dgm:t>
    </dgm:pt>
    <dgm:pt modelId="{CA63F1E6-ABC3-4510-90E8-763D9B367C24}" type="sibTrans" cxnId="{CD1257C4-EB94-437A-A67A-D628D9B5EA1C}">
      <dgm:prSet/>
      <dgm:spPr/>
      <dgm:t>
        <a:bodyPr/>
        <a:lstStyle/>
        <a:p>
          <a:endParaRPr lang="en-US"/>
        </a:p>
      </dgm:t>
    </dgm:pt>
    <dgm:pt modelId="{733C249A-8218-455B-AB43-DD31E94B49AF}">
      <dgm:prSet/>
      <dgm:spPr/>
      <dgm:t>
        <a:bodyPr/>
        <a:lstStyle/>
        <a:p>
          <a:r>
            <a:rPr lang="en-US" b="1" i="0" baseline="0"/>
            <a:t>Limitations:</a:t>
          </a:r>
          <a:endParaRPr lang="en-US"/>
        </a:p>
      </dgm:t>
    </dgm:pt>
    <dgm:pt modelId="{00027DD1-6592-4EDF-9001-74ECE6F2503F}" type="parTrans" cxnId="{94ED7F01-142B-4F1F-81A8-FDE5767465A8}">
      <dgm:prSet/>
      <dgm:spPr/>
      <dgm:t>
        <a:bodyPr/>
        <a:lstStyle/>
        <a:p>
          <a:endParaRPr lang="en-US"/>
        </a:p>
      </dgm:t>
    </dgm:pt>
    <dgm:pt modelId="{D2343AC7-344C-4BF5-BC28-6F11CA3DD272}" type="sibTrans" cxnId="{94ED7F01-142B-4F1F-81A8-FDE5767465A8}">
      <dgm:prSet/>
      <dgm:spPr/>
      <dgm:t>
        <a:bodyPr/>
        <a:lstStyle/>
        <a:p>
          <a:endParaRPr lang="en-US"/>
        </a:p>
      </dgm:t>
    </dgm:pt>
    <dgm:pt modelId="{1D267A58-9A89-46AF-A506-BA128F57EC1F}">
      <dgm:prSet/>
      <dgm:spPr/>
      <dgm:t>
        <a:bodyPr/>
        <a:lstStyle/>
        <a:p>
          <a:r>
            <a:rPr lang="en-US" b="1" i="0" baseline="0" dirty="0"/>
            <a:t>Self-Reporting Bias:</a:t>
          </a:r>
          <a:r>
            <a:rPr lang="en-US" b="0" i="0" baseline="0" dirty="0"/>
            <a:t> Distraction is likely underreported in police data.</a:t>
          </a:r>
          <a:endParaRPr lang="en-US" dirty="0"/>
        </a:p>
      </dgm:t>
    </dgm:pt>
    <dgm:pt modelId="{9C627DE9-7068-406F-AE51-CA7DE8758621}" type="parTrans" cxnId="{D35AA2D1-5AC2-4F1C-92F2-064868E81328}">
      <dgm:prSet/>
      <dgm:spPr/>
      <dgm:t>
        <a:bodyPr/>
        <a:lstStyle/>
        <a:p>
          <a:endParaRPr lang="en-US"/>
        </a:p>
      </dgm:t>
    </dgm:pt>
    <dgm:pt modelId="{D41F0185-B7EB-4162-AE17-15C35950ED6D}" type="sibTrans" cxnId="{D35AA2D1-5AC2-4F1C-92F2-064868E81328}">
      <dgm:prSet/>
      <dgm:spPr/>
      <dgm:t>
        <a:bodyPr/>
        <a:lstStyle/>
        <a:p>
          <a:endParaRPr lang="en-US"/>
        </a:p>
      </dgm:t>
    </dgm:pt>
    <dgm:pt modelId="{8B23B5F1-B311-4131-8710-568371522164}">
      <dgm:prSet/>
      <dgm:spPr/>
      <dgm:t>
        <a:bodyPr/>
        <a:lstStyle/>
        <a:p>
          <a:r>
            <a:rPr lang="en-US" b="1" i="0" baseline="0" dirty="0"/>
            <a:t>Ordinal Scale:</a:t>
          </a:r>
          <a:r>
            <a:rPr lang="en-US" b="0" i="0" baseline="0" dirty="0"/>
            <a:t> The 0-4 damage scale is too coarse to capture subtle differences in crash intensity (e.g., repair costs).</a:t>
          </a:r>
          <a:endParaRPr lang="en-US" dirty="0"/>
        </a:p>
      </dgm:t>
    </dgm:pt>
    <dgm:pt modelId="{D401EE7F-6AEB-4CA7-B69C-6C7011BCC4EE}" type="parTrans" cxnId="{4CB41337-98FA-4D64-915E-B878F91F3235}">
      <dgm:prSet/>
      <dgm:spPr/>
      <dgm:t>
        <a:bodyPr/>
        <a:lstStyle/>
        <a:p>
          <a:endParaRPr lang="en-US"/>
        </a:p>
      </dgm:t>
    </dgm:pt>
    <dgm:pt modelId="{FC6CD4ED-CE34-4F44-8B94-06A5F8A428E7}" type="sibTrans" cxnId="{4CB41337-98FA-4D64-915E-B878F91F3235}">
      <dgm:prSet/>
      <dgm:spPr/>
      <dgm:t>
        <a:bodyPr/>
        <a:lstStyle/>
        <a:p>
          <a:endParaRPr lang="en-US"/>
        </a:p>
      </dgm:t>
    </dgm:pt>
    <dgm:pt modelId="{4F90F01F-7425-0646-8017-6086DE8FB76F}" type="pres">
      <dgm:prSet presAssocID="{673A4F6B-1EBF-410D-971A-BCCA4D93CB7B}" presName="linear" presStyleCnt="0">
        <dgm:presLayoutVars>
          <dgm:animLvl val="lvl"/>
          <dgm:resizeHandles val="exact"/>
        </dgm:presLayoutVars>
      </dgm:prSet>
      <dgm:spPr/>
    </dgm:pt>
    <dgm:pt modelId="{6DCD868E-7CA8-B442-A28F-2F6E310E2DCD}" type="pres">
      <dgm:prSet presAssocID="{46309F4B-C0F2-459E-A150-C60D373F5924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3830829C-EE92-AC4B-A9E4-565BB95CF281}" type="pres">
      <dgm:prSet presAssocID="{CA63F1E6-ABC3-4510-90E8-763D9B367C24}" presName="spacer" presStyleCnt="0"/>
      <dgm:spPr/>
    </dgm:pt>
    <dgm:pt modelId="{A56A4FAC-97E0-0C4D-9002-0AD5DED00025}" type="pres">
      <dgm:prSet presAssocID="{733C249A-8218-455B-AB43-DD31E94B49AF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978E5B0-F6DA-674D-9F88-57D562D23A8E}" type="pres">
      <dgm:prSet presAssocID="{733C249A-8218-455B-AB43-DD31E94B49AF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94ED7F01-142B-4F1F-81A8-FDE5767465A8}" srcId="{673A4F6B-1EBF-410D-971A-BCCA4D93CB7B}" destId="{733C249A-8218-455B-AB43-DD31E94B49AF}" srcOrd="1" destOrd="0" parTransId="{00027DD1-6592-4EDF-9001-74ECE6F2503F}" sibTransId="{D2343AC7-344C-4BF5-BC28-6F11CA3DD272}"/>
    <dgm:cxn modelId="{4DD78804-1872-0F4C-8309-B0738A1DF6E6}" type="presOf" srcId="{1D267A58-9A89-46AF-A506-BA128F57EC1F}" destId="{E978E5B0-F6DA-674D-9F88-57D562D23A8E}" srcOrd="0" destOrd="0" presId="urn:microsoft.com/office/officeart/2005/8/layout/vList2"/>
    <dgm:cxn modelId="{0C942732-BBA2-334A-A72D-2FA4A481DBC5}" type="presOf" srcId="{733C249A-8218-455B-AB43-DD31E94B49AF}" destId="{A56A4FAC-97E0-0C4D-9002-0AD5DED00025}" srcOrd="0" destOrd="0" presId="urn:microsoft.com/office/officeart/2005/8/layout/vList2"/>
    <dgm:cxn modelId="{4CB41337-98FA-4D64-915E-B878F91F3235}" srcId="{733C249A-8218-455B-AB43-DD31E94B49AF}" destId="{8B23B5F1-B311-4131-8710-568371522164}" srcOrd="1" destOrd="0" parTransId="{D401EE7F-6AEB-4CA7-B69C-6C7011BCC4EE}" sibTransId="{FC6CD4ED-CE34-4F44-8B94-06A5F8A428E7}"/>
    <dgm:cxn modelId="{2E766A72-0102-1B4A-8942-6F1D538CB743}" type="presOf" srcId="{673A4F6B-1EBF-410D-971A-BCCA4D93CB7B}" destId="{4F90F01F-7425-0646-8017-6086DE8FB76F}" srcOrd="0" destOrd="0" presId="urn:microsoft.com/office/officeart/2005/8/layout/vList2"/>
    <dgm:cxn modelId="{34BFDFB4-0FDC-9D46-BCFF-76F47D341047}" type="presOf" srcId="{8B23B5F1-B311-4131-8710-568371522164}" destId="{E978E5B0-F6DA-674D-9F88-57D562D23A8E}" srcOrd="0" destOrd="1" presId="urn:microsoft.com/office/officeart/2005/8/layout/vList2"/>
    <dgm:cxn modelId="{CD1257C4-EB94-437A-A67A-D628D9B5EA1C}" srcId="{673A4F6B-1EBF-410D-971A-BCCA4D93CB7B}" destId="{46309F4B-C0F2-459E-A150-C60D373F5924}" srcOrd="0" destOrd="0" parTransId="{A130CFD4-F162-4943-9237-2B390B7ACFE7}" sibTransId="{CA63F1E6-ABC3-4510-90E8-763D9B367C24}"/>
    <dgm:cxn modelId="{D35AA2D1-5AC2-4F1C-92F2-064868E81328}" srcId="{733C249A-8218-455B-AB43-DD31E94B49AF}" destId="{1D267A58-9A89-46AF-A506-BA128F57EC1F}" srcOrd="0" destOrd="0" parTransId="{9C627DE9-7068-406F-AE51-CA7DE8758621}" sibTransId="{D41F0185-B7EB-4162-AE17-15C35950ED6D}"/>
    <dgm:cxn modelId="{01243EE1-D9F5-014E-A0E5-948777901700}" type="presOf" srcId="{46309F4B-C0F2-459E-A150-C60D373F5924}" destId="{6DCD868E-7CA8-B442-A28F-2F6E310E2DCD}" srcOrd="0" destOrd="0" presId="urn:microsoft.com/office/officeart/2005/8/layout/vList2"/>
    <dgm:cxn modelId="{F2232942-0C19-BD48-AF34-301A566BCEC1}" type="presParOf" srcId="{4F90F01F-7425-0646-8017-6086DE8FB76F}" destId="{6DCD868E-7CA8-B442-A28F-2F6E310E2DCD}" srcOrd="0" destOrd="0" presId="urn:microsoft.com/office/officeart/2005/8/layout/vList2"/>
    <dgm:cxn modelId="{402DB160-D9C4-3E41-823E-AB33CEB2A5FD}" type="presParOf" srcId="{4F90F01F-7425-0646-8017-6086DE8FB76F}" destId="{3830829C-EE92-AC4B-A9E4-565BB95CF281}" srcOrd="1" destOrd="0" presId="urn:microsoft.com/office/officeart/2005/8/layout/vList2"/>
    <dgm:cxn modelId="{8D05D67E-4C99-414F-9D23-F39C48A48386}" type="presParOf" srcId="{4F90F01F-7425-0646-8017-6086DE8FB76F}" destId="{A56A4FAC-97E0-0C4D-9002-0AD5DED00025}" srcOrd="2" destOrd="0" presId="urn:microsoft.com/office/officeart/2005/8/layout/vList2"/>
    <dgm:cxn modelId="{1167062A-9423-D844-A609-00169337A36A}" type="presParOf" srcId="{4F90F01F-7425-0646-8017-6086DE8FB76F}" destId="{E978E5B0-F6DA-674D-9F88-57D562D23A8E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6575D91-8746-4A33-80C9-E2D762B6C804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E60F802-7C6E-4E63-8D88-7094BAA0FCAD}">
      <dgm:prSet/>
      <dgm:spPr/>
      <dgm:t>
        <a:bodyPr/>
        <a:lstStyle/>
        <a:p>
          <a:r>
            <a:rPr lang="en-US"/>
            <a:t>Dataset: Montgomery County, MD. "Crash Reporting - Drivers Data." Data.gov. [Link](</a:t>
          </a:r>
          <a:r>
            <a:rPr lang="en-US" u="sng"/>
            <a:t>https://catalog.data.gov/dataset/crash-reporting-drivers-data</a:t>
          </a:r>
          <a:r>
            <a:rPr lang="en-US"/>
            <a:t>)</a:t>
          </a:r>
        </a:p>
      </dgm:t>
    </dgm:pt>
    <dgm:pt modelId="{B9DE8CE9-B699-453B-BB40-BCD38B1CA520}" type="parTrans" cxnId="{5D23F6B9-B202-4F22-ACAA-76776DA8C7BC}">
      <dgm:prSet/>
      <dgm:spPr/>
      <dgm:t>
        <a:bodyPr/>
        <a:lstStyle/>
        <a:p>
          <a:endParaRPr lang="en-US"/>
        </a:p>
      </dgm:t>
    </dgm:pt>
    <dgm:pt modelId="{476A14B4-59DB-46EE-BA47-87DCBD9643AF}" type="sibTrans" cxnId="{5D23F6B9-B202-4F22-ACAA-76776DA8C7BC}">
      <dgm:prSet/>
      <dgm:spPr/>
      <dgm:t>
        <a:bodyPr/>
        <a:lstStyle/>
        <a:p>
          <a:endParaRPr lang="en-US"/>
        </a:p>
      </dgm:t>
    </dgm:pt>
    <dgm:pt modelId="{4C58AD74-8C3D-49F0-9FBE-1BF575F4A27E}">
      <dgm:prSet/>
      <dgm:spPr/>
      <dgm:t>
        <a:bodyPr/>
        <a:lstStyle/>
        <a:p>
          <a:r>
            <a:rPr lang="en-US"/>
            <a:t>Tools: Python, Pandas, NumPy, Matplotlib, Seaborn, OS.</a:t>
          </a:r>
        </a:p>
      </dgm:t>
    </dgm:pt>
    <dgm:pt modelId="{E0C27B65-48A3-4581-A0B9-87149F1AC389}" type="parTrans" cxnId="{BD8A55B2-6352-4E9C-8DAB-8EF55E8B88D8}">
      <dgm:prSet/>
      <dgm:spPr/>
      <dgm:t>
        <a:bodyPr/>
        <a:lstStyle/>
        <a:p>
          <a:endParaRPr lang="en-US"/>
        </a:p>
      </dgm:t>
    </dgm:pt>
    <dgm:pt modelId="{933A809E-3DFA-422C-B9A9-5D305BEA6F9B}" type="sibTrans" cxnId="{BD8A55B2-6352-4E9C-8DAB-8EF55E8B88D8}">
      <dgm:prSet/>
      <dgm:spPr/>
      <dgm:t>
        <a:bodyPr/>
        <a:lstStyle/>
        <a:p>
          <a:endParaRPr lang="en-US"/>
        </a:p>
      </dgm:t>
    </dgm:pt>
    <dgm:pt modelId="{93C994F5-9056-4ACD-B82A-B350CA3BC469}" type="pres">
      <dgm:prSet presAssocID="{46575D91-8746-4A33-80C9-E2D762B6C804}" presName="root" presStyleCnt="0">
        <dgm:presLayoutVars>
          <dgm:dir/>
          <dgm:resizeHandles val="exact"/>
        </dgm:presLayoutVars>
      </dgm:prSet>
      <dgm:spPr/>
    </dgm:pt>
    <dgm:pt modelId="{8A00FA41-374C-407D-8AC4-C88281FE9239}" type="pres">
      <dgm:prSet presAssocID="{8E60F802-7C6E-4E63-8D88-7094BAA0FCAD}" presName="compNode" presStyleCnt="0"/>
      <dgm:spPr/>
    </dgm:pt>
    <dgm:pt modelId="{8D90FC27-7F6C-407F-B2B6-BB3CFB37E41D}" type="pres">
      <dgm:prSet presAssocID="{8E60F802-7C6E-4E63-8D88-7094BAA0FCAD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671DE8B4-1C12-4133-A543-EAA8E72A88C1}" type="pres">
      <dgm:prSet presAssocID="{8E60F802-7C6E-4E63-8D88-7094BAA0FCAD}" presName="spaceRect" presStyleCnt="0"/>
      <dgm:spPr/>
    </dgm:pt>
    <dgm:pt modelId="{04659F7B-7CE8-4CE5-94ED-C6E70176C26B}" type="pres">
      <dgm:prSet presAssocID="{8E60F802-7C6E-4E63-8D88-7094BAA0FCAD}" presName="textRect" presStyleLbl="revTx" presStyleIdx="0" presStyleCnt="2">
        <dgm:presLayoutVars>
          <dgm:chMax val="1"/>
          <dgm:chPref val="1"/>
        </dgm:presLayoutVars>
      </dgm:prSet>
      <dgm:spPr/>
    </dgm:pt>
    <dgm:pt modelId="{C1545B76-C31E-4E01-A5D2-52C7F5441D92}" type="pres">
      <dgm:prSet presAssocID="{476A14B4-59DB-46EE-BA47-87DCBD9643AF}" presName="sibTrans" presStyleCnt="0"/>
      <dgm:spPr/>
    </dgm:pt>
    <dgm:pt modelId="{06C2D30F-404A-4A71-9F67-FB34EAF037B4}" type="pres">
      <dgm:prSet presAssocID="{4C58AD74-8C3D-49F0-9FBE-1BF575F4A27E}" presName="compNode" presStyleCnt="0"/>
      <dgm:spPr/>
    </dgm:pt>
    <dgm:pt modelId="{5A076232-E4A0-492F-BA52-54CC66909F6A}" type="pres">
      <dgm:prSet presAssocID="{4C58AD74-8C3D-49F0-9FBE-1BF575F4A27E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nda"/>
        </a:ext>
      </dgm:extLst>
    </dgm:pt>
    <dgm:pt modelId="{70A879FB-3236-42F2-98EB-81EBEE2FF86C}" type="pres">
      <dgm:prSet presAssocID="{4C58AD74-8C3D-49F0-9FBE-1BF575F4A27E}" presName="spaceRect" presStyleCnt="0"/>
      <dgm:spPr/>
    </dgm:pt>
    <dgm:pt modelId="{893DB6C8-06F4-4EF0-8865-7FAAA01C2BC3}" type="pres">
      <dgm:prSet presAssocID="{4C58AD74-8C3D-49F0-9FBE-1BF575F4A27E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F989C955-5018-4571-8B6E-7A000FDD0D2B}" type="presOf" srcId="{46575D91-8746-4A33-80C9-E2D762B6C804}" destId="{93C994F5-9056-4ACD-B82A-B350CA3BC469}" srcOrd="0" destOrd="0" presId="urn:microsoft.com/office/officeart/2018/2/layout/IconLabelList"/>
    <dgm:cxn modelId="{B90DD493-D891-4F16-B95A-7747D1990B3A}" type="presOf" srcId="{8E60F802-7C6E-4E63-8D88-7094BAA0FCAD}" destId="{04659F7B-7CE8-4CE5-94ED-C6E70176C26B}" srcOrd="0" destOrd="0" presId="urn:microsoft.com/office/officeart/2018/2/layout/IconLabelList"/>
    <dgm:cxn modelId="{BD8A55B2-6352-4E9C-8DAB-8EF55E8B88D8}" srcId="{46575D91-8746-4A33-80C9-E2D762B6C804}" destId="{4C58AD74-8C3D-49F0-9FBE-1BF575F4A27E}" srcOrd="1" destOrd="0" parTransId="{E0C27B65-48A3-4581-A0B9-87149F1AC389}" sibTransId="{933A809E-3DFA-422C-B9A9-5D305BEA6F9B}"/>
    <dgm:cxn modelId="{5D23F6B9-B202-4F22-ACAA-76776DA8C7BC}" srcId="{46575D91-8746-4A33-80C9-E2D762B6C804}" destId="{8E60F802-7C6E-4E63-8D88-7094BAA0FCAD}" srcOrd="0" destOrd="0" parTransId="{B9DE8CE9-B699-453B-BB40-BCD38B1CA520}" sibTransId="{476A14B4-59DB-46EE-BA47-87DCBD9643AF}"/>
    <dgm:cxn modelId="{6FD72CD0-62E1-47CA-A2A4-7ADFCB99E4F0}" type="presOf" srcId="{4C58AD74-8C3D-49F0-9FBE-1BF575F4A27E}" destId="{893DB6C8-06F4-4EF0-8865-7FAAA01C2BC3}" srcOrd="0" destOrd="0" presId="urn:microsoft.com/office/officeart/2018/2/layout/IconLabelList"/>
    <dgm:cxn modelId="{31FF90CF-0E83-4363-99B6-708B3C9772C0}" type="presParOf" srcId="{93C994F5-9056-4ACD-B82A-B350CA3BC469}" destId="{8A00FA41-374C-407D-8AC4-C88281FE9239}" srcOrd="0" destOrd="0" presId="urn:microsoft.com/office/officeart/2018/2/layout/IconLabelList"/>
    <dgm:cxn modelId="{19D49C9A-BAFF-41BE-9CFB-E0074B3209FF}" type="presParOf" srcId="{8A00FA41-374C-407D-8AC4-C88281FE9239}" destId="{8D90FC27-7F6C-407F-B2B6-BB3CFB37E41D}" srcOrd="0" destOrd="0" presId="urn:microsoft.com/office/officeart/2018/2/layout/IconLabelList"/>
    <dgm:cxn modelId="{0F49B93A-7C03-4D26-8AC1-27563A5F7E3D}" type="presParOf" srcId="{8A00FA41-374C-407D-8AC4-C88281FE9239}" destId="{671DE8B4-1C12-4133-A543-EAA8E72A88C1}" srcOrd="1" destOrd="0" presId="urn:microsoft.com/office/officeart/2018/2/layout/IconLabelList"/>
    <dgm:cxn modelId="{50F1A861-ED29-45CA-98CB-415CFE1709BF}" type="presParOf" srcId="{8A00FA41-374C-407D-8AC4-C88281FE9239}" destId="{04659F7B-7CE8-4CE5-94ED-C6E70176C26B}" srcOrd="2" destOrd="0" presId="urn:microsoft.com/office/officeart/2018/2/layout/IconLabelList"/>
    <dgm:cxn modelId="{30FD9474-BF98-4FAB-8DEE-395B24916A02}" type="presParOf" srcId="{93C994F5-9056-4ACD-B82A-B350CA3BC469}" destId="{C1545B76-C31E-4E01-A5D2-52C7F5441D92}" srcOrd="1" destOrd="0" presId="urn:microsoft.com/office/officeart/2018/2/layout/IconLabelList"/>
    <dgm:cxn modelId="{429679C0-8C5F-4DEE-A055-2EB938E3BFD4}" type="presParOf" srcId="{93C994F5-9056-4ACD-B82A-B350CA3BC469}" destId="{06C2D30F-404A-4A71-9F67-FB34EAF037B4}" srcOrd="2" destOrd="0" presId="urn:microsoft.com/office/officeart/2018/2/layout/IconLabelList"/>
    <dgm:cxn modelId="{DE1BBF7B-C7A2-4DAF-942C-1182DF4D9AA1}" type="presParOf" srcId="{06C2D30F-404A-4A71-9F67-FB34EAF037B4}" destId="{5A076232-E4A0-492F-BA52-54CC66909F6A}" srcOrd="0" destOrd="0" presId="urn:microsoft.com/office/officeart/2018/2/layout/IconLabelList"/>
    <dgm:cxn modelId="{75A2ED83-635F-4482-83D9-111CB8A1E11D}" type="presParOf" srcId="{06C2D30F-404A-4A71-9F67-FB34EAF037B4}" destId="{70A879FB-3236-42F2-98EB-81EBEE2FF86C}" srcOrd="1" destOrd="0" presId="urn:microsoft.com/office/officeart/2018/2/layout/IconLabelList"/>
    <dgm:cxn modelId="{4EAB4D87-C308-467A-93A4-CD006820D9E1}" type="presParOf" srcId="{06C2D30F-404A-4A71-9F67-FB34EAF037B4}" destId="{893DB6C8-06F4-4EF0-8865-7FAAA01C2BC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77B70A-5B3A-4646-9F06-D6DC0A5E694D}">
      <dsp:nvSpPr>
        <dsp:cNvPr id="0" name=""/>
        <dsp:cNvSpPr/>
      </dsp:nvSpPr>
      <dsp:spPr>
        <a:xfrm>
          <a:off x="0" y="3490581"/>
          <a:ext cx="5913437" cy="114568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satMod val="110000"/>
                <a:lumMod val="104000"/>
              </a:schemeClr>
            </a:gs>
            <a:gs pos="69000">
              <a:schemeClr val="accent2">
                <a:hueOff val="0"/>
                <a:satOff val="0"/>
                <a:lumOff val="0"/>
                <a:alphaOff val="0"/>
                <a:shade val="88000"/>
                <a:satMod val="130000"/>
                <a:lumMod val="9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Hypothesis:</a:t>
          </a:r>
          <a:endParaRPr lang="en-US" sz="1500" kern="1200"/>
        </a:p>
      </dsp:txBody>
      <dsp:txXfrm>
        <a:off x="0" y="3490581"/>
        <a:ext cx="5913437" cy="618670"/>
      </dsp:txXfrm>
    </dsp:sp>
    <dsp:sp modelId="{79675938-371C-E241-B08A-216175D7AFE6}">
      <dsp:nvSpPr>
        <dsp:cNvPr id="0" name=""/>
        <dsp:cNvSpPr/>
      </dsp:nvSpPr>
      <dsp:spPr>
        <a:xfrm>
          <a:off x="0" y="4086338"/>
          <a:ext cx="2956718" cy="52701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/>
            <a:t>Null:</a:t>
          </a:r>
          <a:r>
            <a:rPr lang="en-US" sz="1200" kern="1200"/>
            <a:t> Distraction has no effect on fault rates or damage severity.</a:t>
          </a:r>
        </a:p>
      </dsp:txBody>
      <dsp:txXfrm>
        <a:off x="0" y="4086338"/>
        <a:ext cx="2956718" cy="527015"/>
      </dsp:txXfrm>
    </dsp:sp>
    <dsp:sp modelId="{CD650A08-8FC3-A14C-9410-B15BB942AE9E}">
      <dsp:nvSpPr>
        <dsp:cNvPr id="0" name=""/>
        <dsp:cNvSpPr/>
      </dsp:nvSpPr>
      <dsp:spPr>
        <a:xfrm>
          <a:off x="2956718" y="4086338"/>
          <a:ext cx="2956718" cy="527015"/>
        </a:xfrm>
        <a:prstGeom prst="rect">
          <a:avLst/>
        </a:prstGeom>
        <a:solidFill>
          <a:schemeClr val="accent2">
            <a:tint val="40000"/>
            <a:alpha val="90000"/>
            <a:hueOff val="-1048205"/>
            <a:satOff val="4201"/>
            <a:lumOff val="624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1048205"/>
              <a:satOff val="4201"/>
              <a:lumOff val="624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/>
            <a:t>Alternative:</a:t>
          </a:r>
          <a:r>
            <a:rPr lang="en-US" sz="1200" kern="1200"/>
            <a:t> Distracted drivers are more likely to be at fault and cause more severe damage.</a:t>
          </a:r>
        </a:p>
      </dsp:txBody>
      <dsp:txXfrm>
        <a:off x="2956718" y="4086338"/>
        <a:ext cx="2956718" cy="527015"/>
      </dsp:txXfrm>
    </dsp:sp>
    <dsp:sp modelId="{7FA5C4CB-A306-E048-B469-FF444A8422A5}">
      <dsp:nvSpPr>
        <dsp:cNvPr id="0" name=""/>
        <dsp:cNvSpPr/>
      </dsp:nvSpPr>
      <dsp:spPr>
        <a:xfrm rot="10800000">
          <a:off x="0" y="1745700"/>
          <a:ext cx="5913437" cy="1762066"/>
        </a:xfrm>
        <a:prstGeom prst="upArrowCallout">
          <a:avLst/>
        </a:prstGeom>
        <a:gradFill rotWithShape="0">
          <a:gsLst>
            <a:gs pos="0">
              <a:schemeClr val="accent2">
                <a:hueOff val="-1696488"/>
                <a:satOff val="5592"/>
                <a:lumOff val="5981"/>
                <a:alphaOff val="0"/>
                <a:tint val="98000"/>
                <a:satMod val="110000"/>
                <a:lumMod val="104000"/>
              </a:schemeClr>
            </a:gs>
            <a:gs pos="69000">
              <a:schemeClr val="accent2">
                <a:hueOff val="-1696488"/>
                <a:satOff val="5592"/>
                <a:lumOff val="5981"/>
                <a:alphaOff val="0"/>
                <a:shade val="88000"/>
                <a:satMod val="130000"/>
                <a:lumMod val="92000"/>
              </a:schemeClr>
            </a:gs>
            <a:gs pos="100000">
              <a:schemeClr val="accent2">
                <a:hueOff val="-1696488"/>
                <a:satOff val="5592"/>
                <a:lumOff val="5981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Key Variables:</a:t>
          </a:r>
          <a:endParaRPr lang="en-US" sz="1500" kern="1200"/>
        </a:p>
      </dsp:txBody>
      <dsp:txXfrm rot="-10800000">
        <a:off x="0" y="1745700"/>
        <a:ext cx="5913437" cy="618485"/>
      </dsp:txXfrm>
    </dsp:sp>
    <dsp:sp modelId="{89CE0525-81E2-F641-8A74-D289140296D5}">
      <dsp:nvSpPr>
        <dsp:cNvPr id="0" name=""/>
        <dsp:cNvSpPr/>
      </dsp:nvSpPr>
      <dsp:spPr>
        <a:xfrm>
          <a:off x="0" y="2364185"/>
          <a:ext cx="2956718" cy="526857"/>
        </a:xfrm>
        <a:prstGeom prst="rect">
          <a:avLst/>
        </a:prstGeom>
        <a:solidFill>
          <a:schemeClr val="accent2">
            <a:tint val="40000"/>
            <a:alpha val="90000"/>
            <a:hueOff val="-2096409"/>
            <a:satOff val="8402"/>
            <a:lumOff val="1248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2096409"/>
              <a:satOff val="8402"/>
              <a:lumOff val="124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/>
            <a:t>Independent</a:t>
          </a:r>
          <a:r>
            <a:rPr lang="en-US" sz="1200" kern="1200"/>
            <a:t>: Distraction Status (Distracted vs. Not Distracted).</a:t>
          </a:r>
        </a:p>
      </dsp:txBody>
      <dsp:txXfrm>
        <a:off x="0" y="2364185"/>
        <a:ext cx="2956718" cy="526857"/>
      </dsp:txXfrm>
    </dsp:sp>
    <dsp:sp modelId="{B228CA8A-3D21-1A49-AD2C-6E7226595E82}">
      <dsp:nvSpPr>
        <dsp:cNvPr id="0" name=""/>
        <dsp:cNvSpPr/>
      </dsp:nvSpPr>
      <dsp:spPr>
        <a:xfrm>
          <a:off x="2956718" y="2364185"/>
          <a:ext cx="2956718" cy="526857"/>
        </a:xfrm>
        <a:prstGeom prst="rect">
          <a:avLst/>
        </a:prstGeom>
        <a:solidFill>
          <a:schemeClr val="accent2">
            <a:tint val="40000"/>
            <a:alpha val="90000"/>
            <a:hueOff val="-3144614"/>
            <a:satOff val="12603"/>
            <a:lumOff val="187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3144614"/>
              <a:satOff val="12603"/>
              <a:lumOff val="187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/>
            <a:t>Dependent:</a:t>
          </a:r>
          <a:r>
            <a:rPr lang="en-US" sz="1200" kern="1200"/>
            <a:t> Fault Status (Binary) and Vehicle Damage (Ordinal 0-4).</a:t>
          </a:r>
        </a:p>
      </dsp:txBody>
      <dsp:txXfrm>
        <a:off x="2956718" y="2364185"/>
        <a:ext cx="2956718" cy="526857"/>
      </dsp:txXfrm>
    </dsp:sp>
    <dsp:sp modelId="{F5D033D3-10A9-154A-976B-C1EB3D4080E1}">
      <dsp:nvSpPr>
        <dsp:cNvPr id="0" name=""/>
        <dsp:cNvSpPr/>
      </dsp:nvSpPr>
      <dsp:spPr>
        <a:xfrm rot="10800000">
          <a:off x="0" y="819"/>
          <a:ext cx="5913437" cy="1762066"/>
        </a:xfrm>
        <a:prstGeom prst="upArrowCallout">
          <a:avLst/>
        </a:prstGeom>
        <a:gradFill rotWithShape="0">
          <a:gsLst>
            <a:gs pos="0">
              <a:schemeClr val="accent2">
                <a:hueOff val="-3392975"/>
                <a:satOff val="11185"/>
                <a:lumOff val="11961"/>
                <a:alphaOff val="0"/>
                <a:tint val="98000"/>
                <a:satMod val="110000"/>
                <a:lumMod val="104000"/>
              </a:schemeClr>
            </a:gs>
            <a:gs pos="69000">
              <a:schemeClr val="accent2">
                <a:hueOff val="-3392975"/>
                <a:satOff val="11185"/>
                <a:lumOff val="11961"/>
                <a:alphaOff val="0"/>
                <a:shade val="88000"/>
                <a:satMod val="130000"/>
                <a:lumMod val="92000"/>
              </a:schemeClr>
            </a:gs>
            <a:gs pos="100000">
              <a:schemeClr val="accent2">
                <a:hueOff val="-3392975"/>
                <a:satOff val="11185"/>
                <a:lumOff val="11961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Data Source:  </a:t>
          </a:r>
          <a:r>
            <a:rPr lang="en-US" sz="1500" kern="1200"/>
            <a:t>“Crash Reporting- Drivers Data” (Montgomery County, MD) from Data.gov</a:t>
          </a:r>
        </a:p>
      </dsp:txBody>
      <dsp:txXfrm rot="-10800000">
        <a:off x="0" y="819"/>
        <a:ext cx="5913437" cy="618485"/>
      </dsp:txXfrm>
    </dsp:sp>
    <dsp:sp modelId="{9479A8E7-5757-D341-AA07-C587EFF73A36}">
      <dsp:nvSpPr>
        <dsp:cNvPr id="0" name=""/>
        <dsp:cNvSpPr/>
      </dsp:nvSpPr>
      <dsp:spPr>
        <a:xfrm>
          <a:off x="0" y="619304"/>
          <a:ext cx="5913437" cy="526857"/>
        </a:xfrm>
        <a:prstGeom prst="rect">
          <a:avLst/>
        </a:prstGeom>
        <a:solidFill>
          <a:schemeClr val="accent2">
            <a:tint val="40000"/>
            <a:alpha val="90000"/>
            <a:hueOff val="-4192819"/>
            <a:satOff val="16804"/>
            <a:lumOff val="2495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4192819"/>
              <a:satOff val="16804"/>
              <a:lumOff val="249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Size: ~160,000 drivers analyzed</a:t>
          </a:r>
        </a:p>
      </dsp:txBody>
      <dsp:txXfrm>
        <a:off x="0" y="619304"/>
        <a:ext cx="5913437" cy="52685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B7BE35-85F0-814C-B917-0F8085544400}">
      <dsp:nvSpPr>
        <dsp:cNvPr id="0" name=""/>
        <dsp:cNvSpPr/>
      </dsp:nvSpPr>
      <dsp:spPr>
        <a:xfrm>
          <a:off x="1182687" y="1449"/>
          <a:ext cx="4730749" cy="148531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790" tIns="377271" rIns="91790" bIns="37727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Approach: Used resampling techniques (5,000 iterations) to avoid assumptions about data normality.</a:t>
          </a:r>
        </a:p>
      </dsp:txBody>
      <dsp:txXfrm>
        <a:off x="1182687" y="1449"/>
        <a:ext cx="4730749" cy="1485317"/>
      </dsp:txXfrm>
    </dsp:sp>
    <dsp:sp modelId="{166A3BF7-443B-4949-B69B-BE5BC5AEA94C}">
      <dsp:nvSpPr>
        <dsp:cNvPr id="0" name=""/>
        <dsp:cNvSpPr/>
      </dsp:nvSpPr>
      <dsp:spPr>
        <a:xfrm>
          <a:off x="0" y="1449"/>
          <a:ext cx="1182687" cy="148531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satMod val="110000"/>
                <a:lumMod val="104000"/>
              </a:schemeClr>
            </a:gs>
            <a:gs pos="69000">
              <a:schemeClr val="accent2">
                <a:hueOff val="0"/>
                <a:satOff val="0"/>
                <a:lumOff val="0"/>
                <a:alphaOff val="0"/>
                <a:shade val="88000"/>
                <a:satMod val="130000"/>
                <a:lumMod val="9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2584" tIns="146716" rIns="62584" bIns="14671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Approach</a:t>
          </a:r>
        </a:p>
      </dsp:txBody>
      <dsp:txXfrm>
        <a:off x="0" y="1449"/>
        <a:ext cx="1182687" cy="1485317"/>
      </dsp:txXfrm>
    </dsp:sp>
    <dsp:sp modelId="{FDF45F5A-1CB8-D844-A33B-D02070DB5B89}">
      <dsp:nvSpPr>
        <dsp:cNvPr id="0" name=""/>
        <dsp:cNvSpPr/>
      </dsp:nvSpPr>
      <dsp:spPr>
        <a:xfrm>
          <a:off x="1182687" y="1575885"/>
          <a:ext cx="4730749" cy="1485317"/>
        </a:xfrm>
        <a:prstGeom prst="rect">
          <a:avLst/>
        </a:prstGeom>
        <a:solidFill>
          <a:schemeClr val="accent2">
            <a:tint val="40000"/>
            <a:alpha val="90000"/>
            <a:hueOff val="-2096409"/>
            <a:satOff val="8402"/>
            <a:lumOff val="1248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2096409"/>
              <a:satOff val="8402"/>
              <a:lumOff val="124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790" tIns="377271" rIns="91790" bIns="377271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Metric 1: Fault Rate (Difference in Proportions)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/>
            <a:t>Tested via Permutation Test (to establish significance) and Bootstrapping (to estimate uncertainty).</a:t>
          </a:r>
        </a:p>
      </dsp:txBody>
      <dsp:txXfrm>
        <a:off x="1182687" y="1575885"/>
        <a:ext cx="4730749" cy="1485317"/>
      </dsp:txXfrm>
    </dsp:sp>
    <dsp:sp modelId="{FABE14CA-BC11-654C-BFDF-C4A3A20A2B61}">
      <dsp:nvSpPr>
        <dsp:cNvPr id="0" name=""/>
        <dsp:cNvSpPr/>
      </dsp:nvSpPr>
      <dsp:spPr>
        <a:xfrm>
          <a:off x="0" y="1575885"/>
          <a:ext cx="1182687" cy="1485317"/>
        </a:xfrm>
        <a:prstGeom prst="rect">
          <a:avLst/>
        </a:prstGeom>
        <a:gradFill rotWithShape="0">
          <a:gsLst>
            <a:gs pos="0">
              <a:schemeClr val="accent2">
                <a:hueOff val="-1696488"/>
                <a:satOff val="5592"/>
                <a:lumOff val="5981"/>
                <a:alphaOff val="0"/>
                <a:tint val="98000"/>
                <a:satMod val="110000"/>
                <a:lumMod val="104000"/>
              </a:schemeClr>
            </a:gs>
            <a:gs pos="69000">
              <a:schemeClr val="accent2">
                <a:hueOff val="-1696488"/>
                <a:satOff val="5592"/>
                <a:lumOff val="5981"/>
                <a:alphaOff val="0"/>
                <a:shade val="88000"/>
                <a:satMod val="130000"/>
                <a:lumMod val="92000"/>
              </a:schemeClr>
            </a:gs>
            <a:gs pos="100000">
              <a:schemeClr val="accent2">
                <a:hueOff val="-1696488"/>
                <a:satOff val="5592"/>
                <a:lumOff val="5981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-1696488"/>
              <a:satOff val="5592"/>
              <a:lumOff val="598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2584" tIns="146716" rIns="62584" bIns="14671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Fault</a:t>
          </a:r>
        </a:p>
      </dsp:txBody>
      <dsp:txXfrm>
        <a:off x="0" y="1575885"/>
        <a:ext cx="1182687" cy="1485317"/>
      </dsp:txXfrm>
    </dsp:sp>
    <dsp:sp modelId="{6A626003-CCE1-284A-8C64-2E4A69A7F908}">
      <dsp:nvSpPr>
        <dsp:cNvPr id="0" name=""/>
        <dsp:cNvSpPr/>
      </dsp:nvSpPr>
      <dsp:spPr>
        <a:xfrm>
          <a:off x="1182687" y="3150321"/>
          <a:ext cx="4730749" cy="1485317"/>
        </a:xfrm>
        <a:prstGeom prst="rect">
          <a:avLst/>
        </a:prstGeom>
        <a:solidFill>
          <a:schemeClr val="accent2">
            <a:tint val="40000"/>
            <a:alpha val="90000"/>
            <a:hueOff val="-4192819"/>
            <a:satOff val="16804"/>
            <a:lumOff val="2495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4192819"/>
              <a:satOff val="16804"/>
              <a:lumOff val="249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790" tIns="377271" rIns="91790" bIns="377271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Metric 2: Damage Severity (Difference in Medians)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/>
            <a:t>Tested via Bootstrapping only.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/>
            <a:t>Why CLT does not apply: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b="0" kern="1200" dirty="0"/>
            <a:t>The damage score is discrete and ordinal (integers 0-4). The sampling distribution of a median from such a distribution is generally not normal, making standard parametric confidence intervals invalid.</a:t>
          </a:r>
          <a:endParaRPr lang="en-US" sz="900" kern="1200" dirty="0"/>
        </a:p>
      </dsp:txBody>
      <dsp:txXfrm>
        <a:off x="1182687" y="3150321"/>
        <a:ext cx="4730749" cy="1485317"/>
      </dsp:txXfrm>
    </dsp:sp>
    <dsp:sp modelId="{714E646F-598F-FE45-9279-41397558E4A3}">
      <dsp:nvSpPr>
        <dsp:cNvPr id="0" name=""/>
        <dsp:cNvSpPr/>
      </dsp:nvSpPr>
      <dsp:spPr>
        <a:xfrm>
          <a:off x="0" y="3150321"/>
          <a:ext cx="1182687" cy="1485317"/>
        </a:xfrm>
        <a:prstGeom prst="rect">
          <a:avLst/>
        </a:prstGeom>
        <a:gradFill rotWithShape="0">
          <a:gsLst>
            <a:gs pos="0">
              <a:schemeClr val="accent2">
                <a:hueOff val="-3392975"/>
                <a:satOff val="11185"/>
                <a:lumOff val="11961"/>
                <a:alphaOff val="0"/>
                <a:tint val="98000"/>
                <a:satMod val="110000"/>
                <a:lumMod val="104000"/>
              </a:schemeClr>
            </a:gs>
            <a:gs pos="69000">
              <a:schemeClr val="accent2">
                <a:hueOff val="-3392975"/>
                <a:satOff val="11185"/>
                <a:lumOff val="11961"/>
                <a:alphaOff val="0"/>
                <a:shade val="88000"/>
                <a:satMod val="130000"/>
                <a:lumMod val="92000"/>
              </a:schemeClr>
            </a:gs>
            <a:gs pos="100000">
              <a:schemeClr val="accent2">
                <a:hueOff val="-3392975"/>
                <a:satOff val="11185"/>
                <a:lumOff val="11961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-3392975"/>
              <a:satOff val="11185"/>
              <a:lumOff val="1196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2584" tIns="146716" rIns="62584" bIns="14671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Damage</a:t>
          </a:r>
        </a:p>
      </dsp:txBody>
      <dsp:txXfrm>
        <a:off x="0" y="3150321"/>
        <a:ext cx="1182687" cy="148531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CD868E-7CA8-B442-A28F-2F6E310E2DCD}">
      <dsp:nvSpPr>
        <dsp:cNvPr id="0" name=""/>
        <dsp:cNvSpPr/>
      </dsp:nvSpPr>
      <dsp:spPr>
        <a:xfrm>
          <a:off x="0" y="70006"/>
          <a:ext cx="5913437" cy="15607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satMod val="110000"/>
                <a:lumMod val="104000"/>
              </a:schemeClr>
            </a:gs>
            <a:gs pos="69000">
              <a:schemeClr val="accent2">
                <a:hueOff val="0"/>
                <a:satOff val="0"/>
                <a:lumOff val="0"/>
                <a:alphaOff val="0"/>
                <a:shade val="88000"/>
                <a:satMod val="130000"/>
                <a:lumMod val="9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i="0" kern="1200" baseline="0" dirty="0"/>
            <a:t>Conclusion:</a:t>
          </a:r>
          <a:r>
            <a:rPr lang="en-US" sz="2300" b="0" i="0" kern="1200" baseline="0" dirty="0"/>
            <a:t> Distraction is a definitive predictor of </a:t>
          </a:r>
          <a:r>
            <a:rPr lang="en-US" sz="2300" b="1" i="0" kern="1200" baseline="0" dirty="0"/>
            <a:t>liability</a:t>
          </a:r>
          <a:r>
            <a:rPr lang="en-US" sz="2300" b="0" i="0" kern="1200" baseline="0" dirty="0"/>
            <a:t> (causing the crash), but it does not guarantee the crash will be more </a:t>
          </a:r>
          <a:r>
            <a:rPr lang="en-US" sz="2300" b="1" i="0" kern="1200" baseline="0" dirty="0"/>
            <a:t>severe</a:t>
          </a:r>
          <a:r>
            <a:rPr lang="en-US" sz="2300" b="0" i="0" kern="1200" baseline="0" dirty="0"/>
            <a:t> than a baseline accident.</a:t>
          </a:r>
          <a:endParaRPr lang="en-US" sz="2300" kern="1200" dirty="0"/>
        </a:p>
      </dsp:txBody>
      <dsp:txXfrm>
        <a:off x="76191" y="146197"/>
        <a:ext cx="5761055" cy="1408398"/>
      </dsp:txXfrm>
    </dsp:sp>
    <dsp:sp modelId="{A56A4FAC-97E0-0C4D-9002-0AD5DED00025}">
      <dsp:nvSpPr>
        <dsp:cNvPr id="0" name=""/>
        <dsp:cNvSpPr/>
      </dsp:nvSpPr>
      <dsp:spPr>
        <a:xfrm>
          <a:off x="0" y="1697026"/>
          <a:ext cx="5913437" cy="1560780"/>
        </a:xfrm>
        <a:prstGeom prst="roundRect">
          <a:avLst/>
        </a:prstGeom>
        <a:gradFill rotWithShape="0">
          <a:gsLst>
            <a:gs pos="0">
              <a:schemeClr val="accent2">
                <a:hueOff val="-3392975"/>
                <a:satOff val="11185"/>
                <a:lumOff val="11961"/>
                <a:alphaOff val="0"/>
                <a:tint val="98000"/>
                <a:satMod val="110000"/>
                <a:lumMod val="104000"/>
              </a:schemeClr>
            </a:gs>
            <a:gs pos="69000">
              <a:schemeClr val="accent2">
                <a:hueOff val="-3392975"/>
                <a:satOff val="11185"/>
                <a:lumOff val="11961"/>
                <a:alphaOff val="0"/>
                <a:shade val="88000"/>
                <a:satMod val="130000"/>
                <a:lumMod val="92000"/>
              </a:schemeClr>
            </a:gs>
            <a:gs pos="100000">
              <a:schemeClr val="accent2">
                <a:hueOff val="-3392975"/>
                <a:satOff val="11185"/>
                <a:lumOff val="11961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i="0" kern="1200" baseline="0"/>
            <a:t>Limitations:</a:t>
          </a:r>
          <a:endParaRPr lang="en-US" sz="2300" kern="1200"/>
        </a:p>
      </dsp:txBody>
      <dsp:txXfrm>
        <a:off x="76191" y="1773217"/>
        <a:ext cx="5761055" cy="1408398"/>
      </dsp:txXfrm>
    </dsp:sp>
    <dsp:sp modelId="{E978E5B0-F6DA-674D-9F88-57D562D23A8E}">
      <dsp:nvSpPr>
        <dsp:cNvPr id="0" name=""/>
        <dsp:cNvSpPr/>
      </dsp:nvSpPr>
      <dsp:spPr>
        <a:xfrm>
          <a:off x="0" y="3257806"/>
          <a:ext cx="5913437" cy="13092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7752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b="1" i="0" kern="1200" baseline="0" dirty="0"/>
            <a:t>Self-Reporting Bias:</a:t>
          </a:r>
          <a:r>
            <a:rPr lang="en-US" sz="1800" b="0" i="0" kern="1200" baseline="0" dirty="0"/>
            <a:t> Distraction is likely underreported in police data.</a:t>
          </a:r>
          <a:endParaRPr lang="en-US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b="1" i="0" kern="1200" baseline="0" dirty="0"/>
            <a:t>Ordinal Scale:</a:t>
          </a:r>
          <a:r>
            <a:rPr lang="en-US" sz="1800" b="0" i="0" kern="1200" baseline="0" dirty="0"/>
            <a:t> The 0-4 damage scale is too coarse to capture subtle differences in crash intensity (e.g., repair costs).</a:t>
          </a:r>
          <a:endParaRPr lang="en-US" sz="1800" kern="1200" dirty="0"/>
        </a:p>
      </dsp:txBody>
      <dsp:txXfrm>
        <a:off x="0" y="3257806"/>
        <a:ext cx="5913437" cy="130927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90FC27-7F6C-407F-B2B6-BB3CFB37E41D}">
      <dsp:nvSpPr>
        <dsp:cNvPr id="0" name=""/>
        <dsp:cNvSpPr/>
      </dsp:nvSpPr>
      <dsp:spPr>
        <a:xfrm>
          <a:off x="790390" y="1189230"/>
          <a:ext cx="1199812" cy="11998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659F7B-7CE8-4CE5-94ED-C6E70176C26B}">
      <dsp:nvSpPr>
        <dsp:cNvPr id="0" name=""/>
        <dsp:cNvSpPr/>
      </dsp:nvSpPr>
      <dsp:spPr>
        <a:xfrm>
          <a:off x="57171" y="2727857"/>
          <a:ext cx="266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Dataset: Montgomery County, MD. "Crash Reporting - Drivers Data." Data.gov. [Link](</a:t>
          </a:r>
          <a:r>
            <a:rPr lang="en-US" sz="1100" u="sng" kern="1200"/>
            <a:t>https://catalog.data.gov/dataset/crash-reporting-drivers-data</a:t>
          </a:r>
          <a:r>
            <a:rPr lang="en-US" sz="1100" kern="1200"/>
            <a:t>)</a:t>
          </a:r>
        </a:p>
      </dsp:txBody>
      <dsp:txXfrm>
        <a:off x="57171" y="2727857"/>
        <a:ext cx="2666250" cy="720000"/>
      </dsp:txXfrm>
    </dsp:sp>
    <dsp:sp modelId="{5A076232-E4A0-492F-BA52-54CC66909F6A}">
      <dsp:nvSpPr>
        <dsp:cNvPr id="0" name=""/>
        <dsp:cNvSpPr/>
      </dsp:nvSpPr>
      <dsp:spPr>
        <a:xfrm>
          <a:off x="3923234" y="1189230"/>
          <a:ext cx="1199812" cy="11998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3DB6C8-06F4-4EF0-8865-7FAAA01C2BC3}">
      <dsp:nvSpPr>
        <dsp:cNvPr id="0" name=""/>
        <dsp:cNvSpPr/>
      </dsp:nvSpPr>
      <dsp:spPr>
        <a:xfrm>
          <a:off x="3190015" y="2727857"/>
          <a:ext cx="266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Tools: Python, Pandas, NumPy, Matplotlib, Seaborn, OS.</a:t>
          </a:r>
        </a:p>
      </dsp:txBody>
      <dsp:txXfrm>
        <a:off x="3190015" y="2727857"/>
        <a:ext cx="2666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7B2D18-B300-FA43-B69B-62FFA26063C8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3A168D-38D9-B047-822A-F167E3340A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2943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it matters: Distracted driving is a major public safety issue. Quantifying the specific risk helps inform insurance models and public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A168D-38D9-B047-822A-F167E3340AA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4087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A168D-38D9-B047-822A-F167E3340AA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499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A168D-38D9-B047-822A-F167E3340AA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376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7C1B1-FAD3-1847-BAA2-20EE38C9D46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E658F20F-9F59-BA4D-B3F5-F1EF2E2B2A8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172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7C1B1-FAD3-1847-BAA2-20EE38C9D46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8F20F-9F59-BA4D-B3F5-F1EF2E2B2A8E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2765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7C1B1-FAD3-1847-BAA2-20EE38C9D46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8F20F-9F59-BA4D-B3F5-F1EF2E2B2A8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9391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7C1B1-FAD3-1847-BAA2-20EE38C9D46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8F20F-9F59-BA4D-B3F5-F1EF2E2B2A8E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7945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7C1B1-FAD3-1847-BAA2-20EE38C9D46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8F20F-9F59-BA4D-B3F5-F1EF2E2B2A8E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6971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7C1B1-FAD3-1847-BAA2-20EE38C9D46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8F20F-9F59-BA4D-B3F5-F1EF2E2B2A8E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088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7C1B1-FAD3-1847-BAA2-20EE38C9D46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8F20F-9F59-BA4D-B3F5-F1EF2E2B2A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574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7C1B1-FAD3-1847-BAA2-20EE38C9D46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8F20F-9F59-BA4D-B3F5-F1EF2E2B2A8E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1911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65F7C1B1-FAD3-1847-BAA2-20EE38C9D46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8F20F-9F59-BA4D-B3F5-F1EF2E2B2A8E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7314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7C1B1-FAD3-1847-BAA2-20EE38C9D46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8F20F-9F59-BA4D-B3F5-F1EF2E2B2A8E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3933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7C1B1-FAD3-1847-BAA2-20EE38C9D46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8F20F-9F59-BA4D-B3F5-F1EF2E2B2A8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8662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F7C1B1-FAD3-1847-BAA2-20EE38C9D46F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E658F20F-9F59-BA4D-B3F5-F1EF2E2B2A8E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0081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1.jp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eesvg.org/thank-you-decora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F6621CF-F493-40D5-98AE-24A9D3AD43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8" y="0"/>
            <a:ext cx="12194875" cy="49502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42F98E-7BA5-3485-7740-79A5C3810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78896" y="643467"/>
            <a:ext cx="5975956" cy="4127545"/>
          </a:xfrm>
        </p:spPr>
        <p:txBody>
          <a:bodyPr anchor="ctr">
            <a:normAutofit/>
          </a:bodyPr>
          <a:lstStyle/>
          <a:p>
            <a:r>
              <a:rPr lang="en-US" sz="4800"/>
              <a:t>Distracted Driving Impact Analysis: Fault &amp; Severity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DEE02A-D296-42EA-88F5-7803F69CE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4950269"/>
            <a:ext cx="12191695" cy="19077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998FD2-E0A2-F55A-C49F-B75CBDC8A0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78896" y="5118231"/>
            <a:ext cx="5975956" cy="977621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100" b="1" dirty="0">
                <a:solidFill>
                  <a:srgbClr val="FFFFFF"/>
                </a:solidFill>
              </a:rPr>
              <a:t>Name: </a:t>
            </a:r>
            <a:r>
              <a:rPr lang="en-US" sz="1100" dirty="0">
                <a:solidFill>
                  <a:srgbClr val="FFFFFF"/>
                </a:solidFill>
              </a:rPr>
              <a:t>Caroline Ayieko</a:t>
            </a:r>
          </a:p>
          <a:p>
            <a:pPr>
              <a:lnSpc>
                <a:spcPct val="110000"/>
              </a:lnSpc>
            </a:pPr>
            <a:r>
              <a:rPr lang="en-US" sz="1100" b="1" dirty="0">
                <a:solidFill>
                  <a:srgbClr val="FFFFFF"/>
                </a:solidFill>
              </a:rPr>
              <a:t>Question: </a:t>
            </a:r>
            <a:r>
              <a:rPr lang="en-US" sz="1100" dirty="0">
                <a:solidFill>
                  <a:srgbClr val="FFFFFF"/>
                </a:solidFill>
              </a:rPr>
              <a:t>Does Distracted driving significantly increase the likelihood of a driver being found  “At Fault” and lead to more severe vehicle damage?</a:t>
            </a:r>
          </a:p>
          <a:p>
            <a:pPr>
              <a:lnSpc>
                <a:spcPct val="110000"/>
              </a:lnSpc>
            </a:pPr>
            <a:endParaRPr lang="en-US" sz="1100" dirty="0">
              <a:solidFill>
                <a:srgbClr val="FFFFFF"/>
              </a:solidFill>
            </a:endParaRPr>
          </a:p>
        </p:txBody>
      </p:sp>
      <p:pic>
        <p:nvPicPr>
          <p:cNvPr id="5" name="Picture 4" descr="Blurred motion traffic">
            <a:extLst>
              <a:ext uri="{FF2B5EF4-FFF2-40B4-BE49-F238E27FC236}">
                <a16:creationId xmlns:a16="http://schemas.microsoft.com/office/drawing/2014/main" id="{681B07CF-1D95-EAAD-5D80-BB687670EA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200" r="16530" b="-2"/>
          <a:stretch>
            <a:fillRect/>
          </a:stretch>
        </p:blipFill>
        <p:spPr>
          <a:xfrm>
            <a:off x="3179" y="-2"/>
            <a:ext cx="4651117" cy="685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46784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2D32A60-013B-47A8-8833-D24240809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27932B-B694-4C4C-90D7-A0333A7C5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2A9D9A-D5B7-93BE-263A-5BEB8A6B3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2303047"/>
            <a:ext cx="3272093" cy="2674198"/>
          </a:xfrm>
        </p:spPr>
        <p:txBody>
          <a:bodyPr anchor="t">
            <a:normAutofit/>
          </a:bodyPr>
          <a:lstStyle/>
          <a:p>
            <a:r>
              <a:rPr lang="en-US" dirty="0"/>
              <a:t>Data &amp; hypotheses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EBB0476-5CF0-4F44-8D68-5D42D7AEE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1579" y="2146542"/>
            <a:ext cx="327209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A9DA474E-6B91-4200-840F-0257B2358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51580" y="3122496"/>
            <a:ext cx="3530157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cap="all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F63C9AD-AE6E-4512-8171-91612E84C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E1A49CE-B63D-457A-A180-1C883E1A63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B09019E-25EF-58E6-BFB0-648B77E6DE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56852468"/>
              </p:ext>
            </p:extLst>
          </p:nvPr>
        </p:nvGraphicFramePr>
        <p:xfrm>
          <a:off x="5141913" y="803275"/>
          <a:ext cx="5913437" cy="46370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8689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D32A60-013B-47A8-8833-D24240809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27932B-B694-4C4C-90D7-A0333A7C5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E91D96-FED9-BCDC-EE6B-ABF735DB2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2303047"/>
            <a:ext cx="3272093" cy="2674198"/>
          </a:xfrm>
        </p:spPr>
        <p:txBody>
          <a:bodyPr anchor="t">
            <a:normAutofit/>
          </a:bodyPr>
          <a:lstStyle/>
          <a:p>
            <a:r>
              <a:rPr lang="en-US" sz="3000"/>
              <a:t>Methodology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BB0476-5CF0-4F44-8D68-5D42D7AEE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1579" y="2146542"/>
            <a:ext cx="327209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6" name="Title 1">
            <a:extLst>
              <a:ext uri="{FF2B5EF4-FFF2-40B4-BE49-F238E27FC236}">
                <a16:creationId xmlns:a16="http://schemas.microsoft.com/office/drawing/2014/main" id="{A9DA474E-6B91-4200-840F-0257B2358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51580" y="3122496"/>
            <a:ext cx="3530157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cap="all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F63C9AD-AE6E-4512-8171-91612E84C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E1A49CE-B63D-457A-A180-1C883E1A63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F571C53D-012C-41E2-3D36-64F22657C2A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7321993"/>
              </p:ext>
            </p:extLst>
          </p:nvPr>
        </p:nvGraphicFramePr>
        <p:xfrm>
          <a:off x="5141913" y="803275"/>
          <a:ext cx="5913437" cy="46370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884498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075E0-6A8D-16B9-D7BA-5E4B104B3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Key result: metric 1-fault rate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74A9DB4-24BD-D709-19D6-F440AAAB937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51579" y="2015734"/>
            <a:ext cx="5622284" cy="345061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Finding: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Distracted drivers were approximately </a:t>
            </a:r>
            <a:r>
              <a:rPr kumimoji="0" lang="en-US" altLang="en-US" sz="13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66% more likely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to be found at fault than non-distracted drivers.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Significance: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P-value = </a:t>
            </a:r>
            <a:r>
              <a:rPr kumimoji="0" lang="en-US" altLang="en-US" sz="13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0.0000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Uncertainty: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95% Confidence Interval: </a:t>
            </a:r>
            <a:r>
              <a:rPr kumimoji="0" lang="en-US" altLang="en-US" sz="13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[0.656, 0.663]</a:t>
            </a:r>
            <a:r>
              <a:rPr lang="en-US" altLang="en-US" sz="1300" dirty="0">
                <a:latin typeface="Arial" panose="020B0604020202020204" pitchFamily="34" charset="0"/>
              </a:rPr>
              <a:t>,</a:t>
            </a:r>
            <a:r>
              <a:rPr lang="en-US" sz="1400" dirty="0"/>
              <a:t> The tight confidence interval reflects a large, precisely estimated effect that is statistically significant</a:t>
            </a:r>
            <a:endParaRPr kumimoji="0" lang="en-US" altLang="en-US" sz="13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en-US" altLang="en-US" sz="1300" b="1" dirty="0">
                <a:latin typeface="Arial" panose="020B0604020202020204" pitchFamily="34" charset="0"/>
              </a:rPr>
              <a:t>T</a:t>
            </a:r>
            <a:r>
              <a:rPr kumimoji="0" lang="en-US" altLang="en-US" sz="13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he "Massive Statistical Gap" Plot.</a:t>
            </a:r>
            <a:endParaRPr kumimoji="0" lang="en-US" altLang="en-US" sz="13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lang="en-US" altLang="en-US" sz="1100" b="1" i="1" dirty="0">
                <a:latin typeface="Arial" panose="020B0604020202020204" pitchFamily="34" charset="0"/>
              </a:rPr>
              <a:t>Why</a:t>
            </a:r>
            <a:r>
              <a:rPr kumimoji="0" lang="en-US" altLang="en-US" sz="1100" b="0" i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This visualization (the side-by-side plot with the grey null distribution on the left and  red observed line far to the right) </a:t>
            </a:r>
            <a:r>
              <a:rPr lang="en-US" altLang="en-US" sz="1200" dirty="0">
                <a:latin typeface="Arial" panose="020B0604020202020204" pitchFamily="34" charset="0"/>
              </a:rPr>
              <a:t>shows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that the observed effect is </a:t>
            </a:r>
            <a:r>
              <a:rPr lang="en-US" altLang="en-US" sz="1200" dirty="0">
                <a:latin typeface="Arial" panose="020B0604020202020204" pitchFamily="34" charset="0"/>
              </a:rPr>
              <a:t>extremely due to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random chance.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13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 descr="A screenshot of a graph&#10;&#10;AI-generated content may be incorrect.">
            <a:extLst>
              <a:ext uri="{FF2B5EF4-FFF2-40B4-BE49-F238E27FC236}">
                <a16:creationId xmlns:a16="http://schemas.microsoft.com/office/drawing/2014/main" id="{B3B9C56D-A96C-A601-AED7-024E4CDE5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863" y="2199503"/>
            <a:ext cx="4603272" cy="32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989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E9830-377C-5044-75A4-F74FFD252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 distribution </a:t>
            </a:r>
          </a:p>
        </p:txBody>
      </p:sp>
      <p:pic>
        <p:nvPicPr>
          <p:cNvPr id="5" name="Content Placeholder 4" descr="A graph of a function&#10;&#10;AI-generated content may be incorrect.">
            <a:extLst>
              <a:ext uri="{FF2B5EF4-FFF2-40B4-BE49-F238E27FC236}">
                <a16:creationId xmlns:a16="http://schemas.microsoft.com/office/drawing/2014/main" id="{69E15D6F-FC85-9B1F-5200-55216141EF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7205" y="2016125"/>
            <a:ext cx="9271914" cy="3449638"/>
          </a:xfrm>
        </p:spPr>
      </p:pic>
    </p:spTree>
    <p:extLst>
      <p:ext uri="{BB962C8B-B14F-4D97-AF65-F5344CB8AC3E}">
        <p14:creationId xmlns:p14="http://schemas.microsoft.com/office/powerpoint/2010/main" val="1473457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A1B5A-D3E9-9917-B16F-4B61F4D50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Key result metric 2: Damage severity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57F8A5B-2C12-FDB1-D20B-6B3A0571990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51579" y="2015734"/>
            <a:ext cx="5622284" cy="345061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sz="1300" b="1" dirty="0"/>
              <a:t>Finding:</a:t>
            </a:r>
            <a:r>
              <a:rPr lang="en-US" sz="1300" dirty="0"/>
              <a:t> The observed difference in </a:t>
            </a:r>
            <a:r>
              <a:rPr lang="en-US" sz="1300" b="1" dirty="0"/>
              <a:t>median</a:t>
            </a:r>
            <a:r>
              <a:rPr lang="en-US" sz="1300" dirty="0"/>
              <a:t> damage was </a:t>
            </a:r>
            <a:r>
              <a:rPr lang="en-US" sz="1300" b="1" dirty="0"/>
              <a:t>0.0</a:t>
            </a:r>
            <a:r>
              <a:rPr lang="en-US" sz="1300" dirty="0"/>
              <a:t>. 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Both groups had a median score of 2.0  ("Functional Damage").</a:t>
            </a:r>
          </a:p>
          <a:p>
            <a:pPr marR="0" lvl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Uncertainty: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95% Confidence Interval: </a:t>
            </a:r>
            <a:r>
              <a:rPr kumimoji="0" lang="en-US" altLang="en-US" sz="13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[0.0, 1.0]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R="0" lvl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Interpretation: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While the median didn't shift, the interval extends to 1.0, suggesting a potential skew toward higher severity that the median metric misses due to the coarse data scale.</a:t>
            </a:r>
          </a:p>
          <a:p>
            <a:pPr>
              <a:lnSpc>
                <a:spcPct val="110000"/>
              </a:lnSpc>
            </a:pPr>
            <a:r>
              <a:rPr lang="en-US" sz="1300" b="1" dirty="0"/>
              <a:t>The Bootstrap Median Histogram.</a:t>
            </a:r>
            <a:endParaRPr lang="en-US" sz="1300" dirty="0"/>
          </a:p>
          <a:p>
            <a:pPr lvl="1">
              <a:lnSpc>
                <a:spcPct val="110000"/>
              </a:lnSpc>
            </a:pPr>
            <a:r>
              <a:rPr lang="en-US" sz="1300" i="1" dirty="0"/>
              <a:t>Why:</a:t>
            </a:r>
            <a:r>
              <a:rPr lang="en-US" sz="1300" dirty="0"/>
              <a:t> This (the purple histogram) shows the discrete nature of the data and 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helps explain why the result is less conclusive than the fault rate.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3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 descr="A graph with purple bars&#10;&#10;AI-generated content may be incorrect.">
            <a:extLst>
              <a:ext uri="{FF2B5EF4-FFF2-40B4-BE49-F238E27FC236}">
                <a16:creationId xmlns:a16="http://schemas.microsoft.com/office/drawing/2014/main" id="{1ED0FB77-420E-FAF7-1113-1AC01E3BF33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14" r="3" b="3"/>
          <a:stretch>
            <a:fillRect/>
          </a:stretch>
        </p:blipFill>
        <p:spPr>
          <a:xfrm>
            <a:off x="7554139" y="2310714"/>
            <a:ext cx="3500715" cy="2615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2D32A60-013B-47A8-8833-D24240809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E27932B-B694-4C4C-90D7-A0333A7C5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637CA1-2195-E0D7-E05A-FC0131D6C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2303047"/>
            <a:ext cx="3272093" cy="2674198"/>
          </a:xfrm>
        </p:spPr>
        <p:txBody>
          <a:bodyPr anchor="t">
            <a:normAutofit/>
          </a:bodyPr>
          <a:lstStyle/>
          <a:p>
            <a:r>
              <a:rPr lang="en-US"/>
              <a:t>Conclusion &amp; limitations</a:t>
            </a:r>
            <a:endParaRPr lang="en-US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EBB0476-5CF0-4F44-8D68-5D42D7AEE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1579" y="2146542"/>
            <a:ext cx="327209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" name="Title 1">
            <a:extLst>
              <a:ext uri="{FF2B5EF4-FFF2-40B4-BE49-F238E27FC236}">
                <a16:creationId xmlns:a16="http://schemas.microsoft.com/office/drawing/2014/main" id="{A9DA474E-6B91-4200-840F-0257B2358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51580" y="3122496"/>
            <a:ext cx="3530157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cap="all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DF63C9AD-AE6E-4512-8171-91612E84C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E1A49CE-B63D-457A-A180-1C883E1A63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Rectangle 1">
            <a:extLst>
              <a:ext uri="{FF2B5EF4-FFF2-40B4-BE49-F238E27FC236}">
                <a16:creationId xmlns:a16="http://schemas.microsoft.com/office/drawing/2014/main" id="{636776B7-ADA0-410A-944B-E9EF04B5CD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35004779"/>
              </p:ext>
            </p:extLst>
          </p:nvPr>
        </p:nvGraphicFramePr>
        <p:xfrm>
          <a:off x="5141913" y="803275"/>
          <a:ext cx="5913437" cy="46370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3910382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2D32A60-013B-47A8-8833-D24240809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27932B-B694-4C4C-90D7-A0333A7C5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2DEABB-1B28-5402-4602-F3CBA7287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2303047"/>
            <a:ext cx="3272093" cy="2674198"/>
          </a:xfrm>
        </p:spPr>
        <p:txBody>
          <a:bodyPr anchor="t">
            <a:normAutofit/>
          </a:bodyPr>
          <a:lstStyle/>
          <a:p>
            <a:r>
              <a:rPr lang="en-US" dirty="0"/>
              <a:t>References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EBB0476-5CF0-4F44-8D68-5D42D7AEE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1579" y="2146542"/>
            <a:ext cx="327209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2" name="Title 1">
            <a:extLst>
              <a:ext uri="{FF2B5EF4-FFF2-40B4-BE49-F238E27FC236}">
                <a16:creationId xmlns:a16="http://schemas.microsoft.com/office/drawing/2014/main" id="{A9DA474E-6B91-4200-840F-0257B2358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51580" y="3122496"/>
            <a:ext cx="3530157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cap="all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DF63C9AD-AE6E-4512-8171-91612E84C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E1A49CE-B63D-457A-A180-1C883E1A63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75B2F848-43BA-7B1A-2EC6-863CECCC2F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1075278"/>
              </p:ext>
            </p:extLst>
          </p:nvPr>
        </p:nvGraphicFramePr>
        <p:xfrm>
          <a:off x="5141913" y="803275"/>
          <a:ext cx="5913437" cy="46370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DDE5CDF-1512-4CDA-B956-23D223F8D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029D7D8-5A6B-4C76-94C8-15798C6C5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C9319C-E20D-4884-952F-60B6A58C3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F1176DA6-4BBF-42A4-9C94-E6613CCD6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AAB0AE-172B-4FB4-80C2-86CD6B824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90CC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text with brown letters&#10;&#10;AI-generated content may be incorrect.">
            <a:extLst>
              <a:ext uri="{FF2B5EF4-FFF2-40B4-BE49-F238E27FC236}">
                <a16:creationId xmlns:a16="http://schemas.microsoft.com/office/drawing/2014/main" id="{C80D848F-69A2-D46E-5FA2-001387302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310467" y="643467"/>
            <a:ext cx="5571066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237647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250</TotalTime>
  <Words>587</Words>
  <Application>Microsoft Macintosh PowerPoint</Application>
  <PresentationFormat>Widescreen</PresentationFormat>
  <Paragraphs>49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Gill Sans MT</vt:lpstr>
      <vt:lpstr>Gallery</vt:lpstr>
      <vt:lpstr>Distracted Driving Impact Analysis: Fault &amp; Severity</vt:lpstr>
      <vt:lpstr>Data &amp; hypotheses</vt:lpstr>
      <vt:lpstr>Methodology</vt:lpstr>
      <vt:lpstr>Key result: metric 1-fault rate</vt:lpstr>
      <vt:lpstr>Bootstrap distribution </vt:lpstr>
      <vt:lpstr>Key result metric 2: Damage severity</vt:lpstr>
      <vt:lpstr>Conclusion &amp; limitations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Ayieko, Caroline K.</dc:creator>
  <cp:lastModifiedBy>Ayieko, Caroline K.</cp:lastModifiedBy>
  <cp:revision>8</cp:revision>
  <dcterms:created xsi:type="dcterms:W3CDTF">2025-12-14T20:42:36Z</dcterms:created>
  <dcterms:modified xsi:type="dcterms:W3CDTF">2025-12-16T02:05:11Z</dcterms:modified>
</cp:coreProperties>
</file>