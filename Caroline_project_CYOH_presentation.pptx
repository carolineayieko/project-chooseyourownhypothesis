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6"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11"/>
    <p:restoredTop sz="94647"/>
  </p:normalViewPr>
  <p:slideViewPr>
    <p:cSldViewPr snapToGrid="0">
      <p:cViewPr varScale="1">
        <p:scale>
          <a:sx n="118" d="100"/>
          <a:sy n="118" d="100"/>
        </p:scale>
        <p:origin x="208" y="9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rawing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F1EB55-0879-470F-B27C-F73222E2F1CC}" type="doc">
      <dgm:prSet loTypeId="urn:microsoft.com/office/officeart/2005/8/layout/process4" loCatId="process" qsTypeId="urn:microsoft.com/office/officeart/2005/8/quickstyle/simple4" qsCatId="simple" csTypeId="urn:microsoft.com/office/officeart/2005/8/colors/colorful2" csCatId="colorful"/>
      <dgm:spPr/>
      <dgm:t>
        <a:bodyPr/>
        <a:lstStyle/>
        <a:p>
          <a:endParaRPr lang="en-US"/>
        </a:p>
      </dgm:t>
    </dgm:pt>
    <dgm:pt modelId="{21225E44-82D4-44D1-BCAB-A33757883A8B}">
      <dgm:prSet/>
      <dgm:spPr/>
      <dgm:t>
        <a:bodyPr/>
        <a:lstStyle/>
        <a:p>
          <a:r>
            <a:rPr lang="en-US" b="1"/>
            <a:t>Data Source:  </a:t>
          </a:r>
          <a:r>
            <a:rPr lang="en-US"/>
            <a:t>“Crash Reporting- Drivers Data” (Montgomery County, MD) from Data.gov</a:t>
          </a:r>
        </a:p>
      </dgm:t>
    </dgm:pt>
    <dgm:pt modelId="{B95216EC-4FF5-42C3-989A-9A68B23015BD}" type="parTrans" cxnId="{2DC2C70D-C5C6-465F-9B9D-8AB60F3A7D4E}">
      <dgm:prSet/>
      <dgm:spPr/>
      <dgm:t>
        <a:bodyPr/>
        <a:lstStyle/>
        <a:p>
          <a:endParaRPr lang="en-US"/>
        </a:p>
      </dgm:t>
    </dgm:pt>
    <dgm:pt modelId="{F56EB070-E794-43FE-95AC-CC07AEF2E4B6}" type="sibTrans" cxnId="{2DC2C70D-C5C6-465F-9B9D-8AB60F3A7D4E}">
      <dgm:prSet/>
      <dgm:spPr/>
      <dgm:t>
        <a:bodyPr/>
        <a:lstStyle/>
        <a:p>
          <a:endParaRPr lang="en-US"/>
        </a:p>
      </dgm:t>
    </dgm:pt>
    <dgm:pt modelId="{C7BA8D6D-C931-4265-87B7-FD5083AFDBE1}">
      <dgm:prSet/>
      <dgm:spPr/>
      <dgm:t>
        <a:bodyPr/>
        <a:lstStyle/>
        <a:p>
          <a:r>
            <a:rPr lang="en-US"/>
            <a:t>Size: ~160,000 drivers analyzed</a:t>
          </a:r>
        </a:p>
      </dgm:t>
    </dgm:pt>
    <dgm:pt modelId="{41B198F0-A5D7-4726-996E-24B8AA714122}" type="parTrans" cxnId="{F08CD86B-5618-4827-AD5B-1F59C4793804}">
      <dgm:prSet/>
      <dgm:spPr/>
      <dgm:t>
        <a:bodyPr/>
        <a:lstStyle/>
        <a:p>
          <a:endParaRPr lang="en-US"/>
        </a:p>
      </dgm:t>
    </dgm:pt>
    <dgm:pt modelId="{F88C13CA-981E-4368-9806-A7F0ED32E620}" type="sibTrans" cxnId="{F08CD86B-5618-4827-AD5B-1F59C4793804}">
      <dgm:prSet/>
      <dgm:spPr/>
      <dgm:t>
        <a:bodyPr/>
        <a:lstStyle/>
        <a:p>
          <a:endParaRPr lang="en-US"/>
        </a:p>
      </dgm:t>
    </dgm:pt>
    <dgm:pt modelId="{ED2D86C1-3275-4F4B-B903-E0CD9B684116}">
      <dgm:prSet/>
      <dgm:spPr/>
      <dgm:t>
        <a:bodyPr/>
        <a:lstStyle/>
        <a:p>
          <a:r>
            <a:rPr lang="en-US" b="1"/>
            <a:t>Key Variables:</a:t>
          </a:r>
          <a:endParaRPr lang="en-US"/>
        </a:p>
      </dgm:t>
    </dgm:pt>
    <dgm:pt modelId="{8B217DDF-117E-46A9-B43F-D55F3620DE53}" type="parTrans" cxnId="{34B046CF-16B2-41A6-8518-6F631D31D75F}">
      <dgm:prSet/>
      <dgm:spPr/>
      <dgm:t>
        <a:bodyPr/>
        <a:lstStyle/>
        <a:p>
          <a:endParaRPr lang="en-US"/>
        </a:p>
      </dgm:t>
    </dgm:pt>
    <dgm:pt modelId="{FB39F39F-EF28-4CC7-9D74-FD3300EEFE89}" type="sibTrans" cxnId="{34B046CF-16B2-41A6-8518-6F631D31D75F}">
      <dgm:prSet/>
      <dgm:spPr/>
      <dgm:t>
        <a:bodyPr/>
        <a:lstStyle/>
        <a:p>
          <a:endParaRPr lang="en-US"/>
        </a:p>
      </dgm:t>
    </dgm:pt>
    <dgm:pt modelId="{851915E8-96DB-40C1-971C-10510F1D2188}">
      <dgm:prSet/>
      <dgm:spPr/>
      <dgm:t>
        <a:bodyPr/>
        <a:lstStyle/>
        <a:p>
          <a:r>
            <a:rPr lang="en-US" b="1"/>
            <a:t>Independent</a:t>
          </a:r>
          <a:r>
            <a:rPr lang="en-US"/>
            <a:t>: Distraction Status (Distracted vs. Not Distracted).</a:t>
          </a:r>
        </a:p>
      </dgm:t>
    </dgm:pt>
    <dgm:pt modelId="{BC9861CB-D24E-4880-B2FF-778DDEE569A3}" type="parTrans" cxnId="{E5E9BA5E-B9A6-4B5B-A6D1-DFEBCE6B6D34}">
      <dgm:prSet/>
      <dgm:spPr/>
      <dgm:t>
        <a:bodyPr/>
        <a:lstStyle/>
        <a:p>
          <a:endParaRPr lang="en-US"/>
        </a:p>
      </dgm:t>
    </dgm:pt>
    <dgm:pt modelId="{DCFB991A-A67A-4C1C-860E-6B05E049B9C6}" type="sibTrans" cxnId="{E5E9BA5E-B9A6-4B5B-A6D1-DFEBCE6B6D34}">
      <dgm:prSet/>
      <dgm:spPr/>
      <dgm:t>
        <a:bodyPr/>
        <a:lstStyle/>
        <a:p>
          <a:endParaRPr lang="en-US"/>
        </a:p>
      </dgm:t>
    </dgm:pt>
    <dgm:pt modelId="{21F6B728-BDDE-4BA5-BE27-FE67754FBCA4}">
      <dgm:prSet/>
      <dgm:spPr/>
      <dgm:t>
        <a:bodyPr/>
        <a:lstStyle/>
        <a:p>
          <a:r>
            <a:rPr lang="en-US" b="1"/>
            <a:t>Dependent:</a:t>
          </a:r>
          <a:r>
            <a:rPr lang="en-US"/>
            <a:t> Fault Status (Binary) and Vehicle Damage (Ordinal 0-4).</a:t>
          </a:r>
        </a:p>
      </dgm:t>
    </dgm:pt>
    <dgm:pt modelId="{FE12E4F0-B4DF-4770-B301-15D5B1CAE39F}" type="parTrans" cxnId="{F5DE2651-3860-48B2-B637-DB30ED9CF6F7}">
      <dgm:prSet/>
      <dgm:spPr/>
      <dgm:t>
        <a:bodyPr/>
        <a:lstStyle/>
        <a:p>
          <a:endParaRPr lang="en-US"/>
        </a:p>
      </dgm:t>
    </dgm:pt>
    <dgm:pt modelId="{2827AF0F-1090-40D4-A691-52ADC490C0BF}" type="sibTrans" cxnId="{F5DE2651-3860-48B2-B637-DB30ED9CF6F7}">
      <dgm:prSet/>
      <dgm:spPr/>
      <dgm:t>
        <a:bodyPr/>
        <a:lstStyle/>
        <a:p>
          <a:endParaRPr lang="en-US"/>
        </a:p>
      </dgm:t>
    </dgm:pt>
    <dgm:pt modelId="{ACC261BF-9CBF-4CF7-BA64-08E44427EC8E}">
      <dgm:prSet/>
      <dgm:spPr/>
      <dgm:t>
        <a:bodyPr/>
        <a:lstStyle/>
        <a:p>
          <a:r>
            <a:rPr lang="en-US" b="1"/>
            <a:t>Hypothesis:</a:t>
          </a:r>
          <a:endParaRPr lang="en-US"/>
        </a:p>
      </dgm:t>
    </dgm:pt>
    <dgm:pt modelId="{6D8E8000-92FC-4D32-826B-A78B511896F2}" type="parTrans" cxnId="{7D94D135-CA79-400F-B263-2152AC23066A}">
      <dgm:prSet/>
      <dgm:spPr/>
      <dgm:t>
        <a:bodyPr/>
        <a:lstStyle/>
        <a:p>
          <a:endParaRPr lang="en-US"/>
        </a:p>
      </dgm:t>
    </dgm:pt>
    <dgm:pt modelId="{2E032C92-68DA-4A42-8023-5FB80EF8A6F9}" type="sibTrans" cxnId="{7D94D135-CA79-400F-B263-2152AC23066A}">
      <dgm:prSet/>
      <dgm:spPr/>
      <dgm:t>
        <a:bodyPr/>
        <a:lstStyle/>
        <a:p>
          <a:endParaRPr lang="en-US"/>
        </a:p>
      </dgm:t>
    </dgm:pt>
    <dgm:pt modelId="{D171F699-6EB4-4163-B87F-2CED6DED7965}">
      <dgm:prSet/>
      <dgm:spPr/>
      <dgm:t>
        <a:bodyPr/>
        <a:lstStyle/>
        <a:p>
          <a:r>
            <a:rPr lang="en-US" b="1"/>
            <a:t>Null:</a:t>
          </a:r>
          <a:r>
            <a:rPr lang="en-US"/>
            <a:t> Distraction has no effect on fault rates or damage severity.</a:t>
          </a:r>
        </a:p>
      </dgm:t>
    </dgm:pt>
    <dgm:pt modelId="{52D4834E-E952-40D4-ADBB-3EC0D2DC7689}" type="parTrans" cxnId="{A1D867B6-9AB7-4E9B-A846-2A59A6D3D7D1}">
      <dgm:prSet/>
      <dgm:spPr/>
      <dgm:t>
        <a:bodyPr/>
        <a:lstStyle/>
        <a:p>
          <a:endParaRPr lang="en-US"/>
        </a:p>
      </dgm:t>
    </dgm:pt>
    <dgm:pt modelId="{7D4DF318-8B3F-43C0-BB4E-157FB290189A}" type="sibTrans" cxnId="{A1D867B6-9AB7-4E9B-A846-2A59A6D3D7D1}">
      <dgm:prSet/>
      <dgm:spPr/>
      <dgm:t>
        <a:bodyPr/>
        <a:lstStyle/>
        <a:p>
          <a:endParaRPr lang="en-US"/>
        </a:p>
      </dgm:t>
    </dgm:pt>
    <dgm:pt modelId="{0141C691-EDC9-49BE-B766-314E8B5384DD}">
      <dgm:prSet/>
      <dgm:spPr/>
      <dgm:t>
        <a:bodyPr/>
        <a:lstStyle/>
        <a:p>
          <a:r>
            <a:rPr lang="en-US" b="1"/>
            <a:t>Alternative:</a:t>
          </a:r>
          <a:r>
            <a:rPr lang="en-US"/>
            <a:t> Distracted drivers are more likely to be at fault and cause more severe damage.</a:t>
          </a:r>
        </a:p>
      </dgm:t>
    </dgm:pt>
    <dgm:pt modelId="{F8BD60DF-45C1-4191-B224-CC09A7463CD9}" type="parTrans" cxnId="{30C75B49-CE75-4783-9490-B5EB823D70D4}">
      <dgm:prSet/>
      <dgm:spPr/>
      <dgm:t>
        <a:bodyPr/>
        <a:lstStyle/>
        <a:p>
          <a:endParaRPr lang="en-US"/>
        </a:p>
      </dgm:t>
    </dgm:pt>
    <dgm:pt modelId="{54844D58-C785-4ACC-A6C1-23E37003082D}" type="sibTrans" cxnId="{30C75B49-CE75-4783-9490-B5EB823D70D4}">
      <dgm:prSet/>
      <dgm:spPr/>
      <dgm:t>
        <a:bodyPr/>
        <a:lstStyle/>
        <a:p>
          <a:endParaRPr lang="en-US"/>
        </a:p>
      </dgm:t>
    </dgm:pt>
    <dgm:pt modelId="{AC125F9B-F422-2440-B517-4C754746F6DB}" type="pres">
      <dgm:prSet presAssocID="{D0F1EB55-0879-470F-B27C-F73222E2F1CC}" presName="Name0" presStyleCnt="0">
        <dgm:presLayoutVars>
          <dgm:dir/>
          <dgm:animLvl val="lvl"/>
          <dgm:resizeHandles val="exact"/>
        </dgm:presLayoutVars>
      </dgm:prSet>
      <dgm:spPr/>
    </dgm:pt>
    <dgm:pt modelId="{4233141A-1F91-E24E-B691-6B9B08993281}" type="pres">
      <dgm:prSet presAssocID="{ACC261BF-9CBF-4CF7-BA64-08E44427EC8E}" presName="boxAndChildren" presStyleCnt="0"/>
      <dgm:spPr/>
    </dgm:pt>
    <dgm:pt modelId="{01113379-A0C2-0340-83BB-453C7934B095}" type="pres">
      <dgm:prSet presAssocID="{ACC261BF-9CBF-4CF7-BA64-08E44427EC8E}" presName="parentTextBox" presStyleLbl="node1" presStyleIdx="0" presStyleCnt="3"/>
      <dgm:spPr/>
    </dgm:pt>
    <dgm:pt modelId="{3A77B70A-5B3A-4646-9F06-D6DC0A5E694D}" type="pres">
      <dgm:prSet presAssocID="{ACC261BF-9CBF-4CF7-BA64-08E44427EC8E}" presName="entireBox" presStyleLbl="node1" presStyleIdx="0" presStyleCnt="3"/>
      <dgm:spPr/>
    </dgm:pt>
    <dgm:pt modelId="{71472A26-1602-B94D-B483-86463CB949F4}" type="pres">
      <dgm:prSet presAssocID="{ACC261BF-9CBF-4CF7-BA64-08E44427EC8E}" presName="descendantBox" presStyleCnt="0"/>
      <dgm:spPr/>
    </dgm:pt>
    <dgm:pt modelId="{79675938-371C-E241-B08A-216175D7AFE6}" type="pres">
      <dgm:prSet presAssocID="{D171F699-6EB4-4163-B87F-2CED6DED7965}" presName="childTextBox" presStyleLbl="fgAccFollowNode1" presStyleIdx="0" presStyleCnt="5">
        <dgm:presLayoutVars>
          <dgm:bulletEnabled val="1"/>
        </dgm:presLayoutVars>
      </dgm:prSet>
      <dgm:spPr/>
    </dgm:pt>
    <dgm:pt modelId="{CD650A08-8FC3-A14C-9410-B15BB942AE9E}" type="pres">
      <dgm:prSet presAssocID="{0141C691-EDC9-49BE-B766-314E8B5384DD}" presName="childTextBox" presStyleLbl="fgAccFollowNode1" presStyleIdx="1" presStyleCnt="5">
        <dgm:presLayoutVars>
          <dgm:bulletEnabled val="1"/>
        </dgm:presLayoutVars>
      </dgm:prSet>
      <dgm:spPr/>
    </dgm:pt>
    <dgm:pt modelId="{E4773264-7712-924F-93B9-854996AC912D}" type="pres">
      <dgm:prSet presAssocID="{FB39F39F-EF28-4CC7-9D74-FD3300EEFE89}" presName="sp" presStyleCnt="0"/>
      <dgm:spPr/>
    </dgm:pt>
    <dgm:pt modelId="{2F6D2FBD-0AEF-B440-BDB2-3363A491E1A6}" type="pres">
      <dgm:prSet presAssocID="{ED2D86C1-3275-4F4B-B903-E0CD9B684116}" presName="arrowAndChildren" presStyleCnt="0"/>
      <dgm:spPr/>
    </dgm:pt>
    <dgm:pt modelId="{E1B300AF-58B8-D84C-A5D3-2A9B896FE0A4}" type="pres">
      <dgm:prSet presAssocID="{ED2D86C1-3275-4F4B-B903-E0CD9B684116}" presName="parentTextArrow" presStyleLbl="node1" presStyleIdx="0" presStyleCnt="3"/>
      <dgm:spPr/>
    </dgm:pt>
    <dgm:pt modelId="{7FA5C4CB-A306-E048-B469-FF444A8422A5}" type="pres">
      <dgm:prSet presAssocID="{ED2D86C1-3275-4F4B-B903-E0CD9B684116}" presName="arrow" presStyleLbl="node1" presStyleIdx="1" presStyleCnt="3"/>
      <dgm:spPr/>
    </dgm:pt>
    <dgm:pt modelId="{6EBCC739-19D6-974B-8BA8-1FA095BF2002}" type="pres">
      <dgm:prSet presAssocID="{ED2D86C1-3275-4F4B-B903-E0CD9B684116}" presName="descendantArrow" presStyleCnt="0"/>
      <dgm:spPr/>
    </dgm:pt>
    <dgm:pt modelId="{89CE0525-81E2-F641-8A74-D289140296D5}" type="pres">
      <dgm:prSet presAssocID="{851915E8-96DB-40C1-971C-10510F1D2188}" presName="childTextArrow" presStyleLbl="fgAccFollowNode1" presStyleIdx="2" presStyleCnt="5">
        <dgm:presLayoutVars>
          <dgm:bulletEnabled val="1"/>
        </dgm:presLayoutVars>
      </dgm:prSet>
      <dgm:spPr/>
    </dgm:pt>
    <dgm:pt modelId="{B228CA8A-3D21-1A49-AD2C-6E7226595E82}" type="pres">
      <dgm:prSet presAssocID="{21F6B728-BDDE-4BA5-BE27-FE67754FBCA4}" presName="childTextArrow" presStyleLbl="fgAccFollowNode1" presStyleIdx="3" presStyleCnt="5">
        <dgm:presLayoutVars>
          <dgm:bulletEnabled val="1"/>
        </dgm:presLayoutVars>
      </dgm:prSet>
      <dgm:spPr/>
    </dgm:pt>
    <dgm:pt modelId="{B6EFD4AE-743F-E14D-A16C-43ADC5BD1869}" type="pres">
      <dgm:prSet presAssocID="{F56EB070-E794-43FE-95AC-CC07AEF2E4B6}" presName="sp" presStyleCnt="0"/>
      <dgm:spPr/>
    </dgm:pt>
    <dgm:pt modelId="{68407C68-F3D9-7E4A-BC33-B7CDAF6B8D20}" type="pres">
      <dgm:prSet presAssocID="{21225E44-82D4-44D1-BCAB-A33757883A8B}" presName="arrowAndChildren" presStyleCnt="0"/>
      <dgm:spPr/>
    </dgm:pt>
    <dgm:pt modelId="{06A2D506-552C-2449-92E6-DA35E5586E43}" type="pres">
      <dgm:prSet presAssocID="{21225E44-82D4-44D1-BCAB-A33757883A8B}" presName="parentTextArrow" presStyleLbl="node1" presStyleIdx="1" presStyleCnt="3"/>
      <dgm:spPr/>
    </dgm:pt>
    <dgm:pt modelId="{F5D033D3-10A9-154A-976B-C1EB3D4080E1}" type="pres">
      <dgm:prSet presAssocID="{21225E44-82D4-44D1-BCAB-A33757883A8B}" presName="arrow" presStyleLbl="node1" presStyleIdx="2" presStyleCnt="3"/>
      <dgm:spPr/>
    </dgm:pt>
    <dgm:pt modelId="{866062FC-A174-F840-9F65-750606D8FA2C}" type="pres">
      <dgm:prSet presAssocID="{21225E44-82D4-44D1-BCAB-A33757883A8B}" presName="descendantArrow" presStyleCnt="0"/>
      <dgm:spPr/>
    </dgm:pt>
    <dgm:pt modelId="{9479A8E7-5757-D341-AA07-C587EFF73A36}" type="pres">
      <dgm:prSet presAssocID="{C7BA8D6D-C931-4265-87B7-FD5083AFDBE1}" presName="childTextArrow" presStyleLbl="fgAccFollowNode1" presStyleIdx="4" presStyleCnt="5">
        <dgm:presLayoutVars>
          <dgm:bulletEnabled val="1"/>
        </dgm:presLayoutVars>
      </dgm:prSet>
      <dgm:spPr/>
    </dgm:pt>
  </dgm:ptLst>
  <dgm:cxnLst>
    <dgm:cxn modelId="{C3E51B0C-1336-0446-9AF9-AB9149DED6E8}" type="presOf" srcId="{C7BA8D6D-C931-4265-87B7-FD5083AFDBE1}" destId="{9479A8E7-5757-D341-AA07-C587EFF73A36}" srcOrd="0" destOrd="0" presId="urn:microsoft.com/office/officeart/2005/8/layout/process4"/>
    <dgm:cxn modelId="{2DC2C70D-C5C6-465F-9B9D-8AB60F3A7D4E}" srcId="{D0F1EB55-0879-470F-B27C-F73222E2F1CC}" destId="{21225E44-82D4-44D1-BCAB-A33757883A8B}" srcOrd="0" destOrd="0" parTransId="{B95216EC-4FF5-42C3-989A-9A68B23015BD}" sibTransId="{F56EB070-E794-43FE-95AC-CC07AEF2E4B6}"/>
    <dgm:cxn modelId="{92A92B1B-AC40-DD4A-BDA3-ACE856FDC322}" type="presOf" srcId="{851915E8-96DB-40C1-971C-10510F1D2188}" destId="{89CE0525-81E2-F641-8A74-D289140296D5}" srcOrd="0" destOrd="0" presId="urn:microsoft.com/office/officeart/2005/8/layout/process4"/>
    <dgm:cxn modelId="{66742B30-CDC5-F348-9540-1CF6356D4D82}" type="presOf" srcId="{D0F1EB55-0879-470F-B27C-F73222E2F1CC}" destId="{AC125F9B-F422-2440-B517-4C754746F6DB}" srcOrd="0" destOrd="0" presId="urn:microsoft.com/office/officeart/2005/8/layout/process4"/>
    <dgm:cxn modelId="{7D94D135-CA79-400F-B263-2152AC23066A}" srcId="{D0F1EB55-0879-470F-B27C-F73222E2F1CC}" destId="{ACC261BF-9CBF-4CF7-BA64-08E44427EC8E}" srcOrd="2" destOrd="0" parTransId="{6D8E8000-92FC-4D32-826B-A78B511896F2}" sibTransId="{2E032C92-68DA-4A42-8023-5FB80EF8A6F9}"/>
    <dgm:cxn modelId="{05D56A39-7BB8-7241-885A-26B51838C464}" type="presOf" srcId="{ACC261BF-9CBF-4CF7-BA64-08E44427EC8E}" destId="{01113379-A0C2-0340-83BB-453C7934B095}" srcOrd="0" destOrd="0" presId="urn:microsoft.com/office/officeart/2005/8/layout/process4"/>
    <dgm:cxn modelId="{30C75B49-CE75-4783-9490-B5EB823D70D4}" srcId="{ACC261BF-9CBF-4CF7-BA64-08E44427EC8E}" destId="{0141C691-EDC9-49BE-B766-314E8B5384DD}" srcOrd="1" destOrd="0" parTransId="{F8BD60DF-45C1-4191-B224-CC09A7463CD9}" sibTransId="{54844D58-C785-4ACC-A6C1-23E37003082D}"/>
    <dgm:cxn modelId="{F5DE2651-3860-48B2-B637-DB30ED9CF6F7}" srcId="{ED2D86C1-3275-4F4B-B903-E0CD9B684116}" destId="{21F6B728-BDDE-4BA5-BE27-FE67754FBCA4}" srcOrd="1" destOrd="0" parTransId="{FE12E4F0-B4DF-4770-B301-15D5B1CAE39F}" sibTransId="{2827AF0F-1090-40D4-A691-52ADC490C0BF}"/>
    <dgm:cxn modelId="{E5E9BA5E-B9A6-4B5B-A6D1-DFEBCE6B6D34}" srcId="{ED2D86C1-3275-4F4B-B903-E0CD9B684116}" destId="{851915E8-96DB-40C1-971C-10510F1D2188}" srcOrd="0" destOrd="0" parTransId="{BC9861CB-D24E-4880-B2FF-778DDEE569A3}" sibTransId="{DCFB991A-A67A-4C1C-860E-6B05E049B9C6}"/>
    <dgm:cxn modelId="{F08CD86B-5618-4827-AD5B-1F59C4793804}" srcId="{21225E44-82D4-44D1-BCAB-A33757883A8B}" destId="{C7BA8D6D-C931-4265-87B7-FD5083AFDBE1}" srcOrd="0" destOrd="0" parTransId="{41B198F0-A5D7-4726-996E-24B8AA714122}" sibTransId="{F88C13CA-981E-4368-9806-A7F0ED32E620}"/>
    <dgm:cxn modelId="{1DBDCF80-2272-954C-962C-036ACC03CBF1}" type="presOf" srcId="{ED2D86C1-3275-4F4B-B903-E0CD9B684116}" destId="{7FA5C4CB-A306-E048-B469-FF444A8422A5}" srcOrd="1" destOrd="0" presId="urn:microsoft.com/office/officeart/2005/8/layout/process4"/>
    <dgm:cxn modelId="{198E258B-87C9-E645-974A-7A58EAE2C97A}" type="presOf" srcId="{D171F699-6EB4-4163-B87F-2CED6DED7965}" destId="{79675938-371C-E241-B08A-216175D7AFE6}" srcOrd="0" destOrd="0" presId="urn:microsoft.com/office/officeart/2005/8/layout/process4"/>
    <dgm:cxn modelId="{F57AD68F-98AD-6140-9192-E581613EC2A5}" type="presOf" srcId="{ACC261BF-9CBF-4CF7-BA64-08E44427EC8E}" destId="{3A77B70A-5B3A-4646-9F06-D6DC0A5E694D}" srcOrd="1" destOrd="0" presId="urn:microsoft.com/office/officeart/2005/8/layout/process4"/>
    <dgm:cxn modelId="{926FDE99-8386-1A41-9BC0-97B6D82E0146}" type="presOf" srcId="{21225E44-82D4-44D1-BCAB-A33757883A8B}" destId="{06A2D506-552C-2449-92E6-DA35E5586E43}" srcOrd="0" destOrd="0" presId="urn:microsoft.com/office/officeart/2005/8/layout/process4"/>
    <dgm:cxn modelId="{A1D867B6-9AB7-4E9B-A846-2A59A6D3D7D1}" srcId="{ACC261BF-9CBF-4CF7-BA64-08E44427EC8E}" destId="{D171F699-6EB4-4163-B87F-2CED6DED7965}" srcOrd="0" destOrd="0" parTransId="{52D4834E-E952-40D4-ADBB-3EC0D2DC7689}" sibTransId="{7D4DF318-8B3F-43C0-BB4E-157FB290189A}"/>
    <dgm:cxn modelId="{4D19EFBA-2DA4-F545-8A9E-ACA349103F40}" type="presOf" srcId="{21F6B728-BDDE-4BA5-BE27-FE67754FBCA4}" destId="{B228CA8A-3D21-1A49-AD2C-6E7226595E82}" srcOrd="0" destOrd="0" presId="urn:microsoft.com/office/officeart/2005/8/layout/process4"/>
    <dgm:cxn modelId="{0FE3A6BB-B10F-F44E-8D19-1A382B99E546}" type="presOf" srcId="{0141C691-EDC9-49BE-B766-314E8B5384DD}" destId="{CD650A08-8FC3-A14C-9410-B15BB942AE9E}" srcOrd="0" destOrd="0" presId="urn:microsoft.com/office/officeart/2005/8/layout/process4"/>
    <dgm:cxn modelId="{34B046CF-16B2-41A6-8518-6F631D31D75F}" srcId="{D0F1EB55-0879-470F-B27C-F73222E2F1CC}" destId="{ED2D86C1-3275-4F4B-B903-E0CD9B684116}" srcOrd="1" destOrd="0" parTransId="{8B217DDF-117E-46A9-B43F-D55F3620DE53}" sibTransId="{FB39F39F-EF28-4CC7-9D74-FD3300EEFE89}"/>
    <dgm:cxn modelId="{30BB21DE-E9DF-2541-850D-D988E183F529}" type="presOf" srcId="{21225E44-82D4-44D1-BCAB-A33757883A8B}" destId="{F5D033D3-10A9-154A-976B-C1EB3D4080E1}" srcOrd="1" destOrd="0" presId="urn:microsoft.com/office/officeart/2005/8/layout/process4"/>
    <dgm:cxn modelId="{C10F4EF8-FFD7-A24F-B845-5803D541C659}" type="presOf" srcId="{ED2D86C1-3275-4F4B-B903-E0CD9B684116}" destId="{E1B300AF-58B8-D84C-A5D3-2A9B896FE0A4}" srcOrd="0" destOrd="0" presId="urn:microsoft.com/office/officeart/2005/8/layout/process4"/>
    <dgm:cxn modelId="{34E76125-13D0-334C-BE92-500BEDA5AF0D}" type="presParOf" srcId="{AC125F9B-F422-2440-B517-4C754746F6DB}" destId="{4233141A-1F91-E24E-B691-6B9B08993281}" srcOrd="0" destOrd="0" presId="urn:microsoft.com/office/officeart/2005/8/layout/process4"/>
    <dgm:cxn modelId="{DCBFB02E-A8C3-E648-8291-4C3E5585E0E6}" type="presParOf" srcId="{4233141A-1F91-E24E-B691-6B9B08993281}" destId="{01113379-A0C2-0340-83BB-453C7934B095}" srcOrd="0" destOrd="0" presId="urn:microsoft.com/office/officeart/2005/8/layout/process4"/>
    <dgm:cxn modelId="{04255ADD-3B98-3B4C-BD4D-7D0F3D9D1F8B}" type="presParOf" srcId="{4233141A-1F91-E24E-B691-6B9B08993281}" destId="{3A77B70A-5B3A-4646-9F06-D6DC0A5E694D}" srcOrd="1" destOrd="0" presId="urn:microsoft.com/office/officeart/2005/8/layout/process4"/>
    <dgm:cxn modelId="{02F32B94-9E38-674F-BF90-C4B916B60334}" type="presParOf" srcId="{4233141A-1F91-E24E-B691-6B9B08993281}" destId="{71472A26-1602-B94D-B483-86463CB949F4}" srcOrd="2" destOrd="0" presId="urn:microsoft.com/office/officeart/2005/8/layout/process4"/>
    <dgm:cxn modelId="{8430596A-F08E-B84C-AF41-E4556D1C8E10}" type="presParOf" srcId="{71472A26-1602-B94D-B483-86463CB949F4}" destId="{79675938-371C-E241-B08A-216175D7AFE6}" srcOrd="0" destOrd="0" presId="urn:microsoft.com/office/officeart/2005/8/layout/process4"/>
    <dgm:cxn modelId="{C303A0B3-EB32-B847-8ED0-99F428B821E7}" type="presParOf" srcId="{71472A26-1602-B94D-B483-86463CB949F4}" destId="{CD650A08-8FC3-A14C-9410-B15BB942AE9E}" srcOrd="1" destOrd="0" presId="urn:microsoft.com/office/officeart/2005/8/layout/process4"/>
    <dgm:cxn modelId="{01004351-04DA-CC4E-B44A-9612DAD99023}" type="presParOf" srcId="{AC125F9B-F422-2440-B517-4C754746F6DB}" destId="{E4773264-7712-924F-93B9-854996AC912D}" srcOrd="1" destOrd="0" presId="urn:microsoft.com/office/officeart/2005/8/layout/process4"/>
    <dgm:cxn modelId="{912FC680-2EAF-1843-B393-28969EB60BC1}" type="presParOf" srcId="{AC125F9B-F422-2440-B517-4C754746F6DB}" destId="{2F6D2FBD-0AEF-B440-BDB2-3363A491E1A6}" srcOrd="2" destOrd="0" presId="urn:microsoft.com/office/officeart/2005/8/layout/process4"/>
    <dgm:cxn modelId="{9CADD068-A03F-414F-9C86-060258783DCA}" type="presParOf" srcId="{2F6D2FBD-0AEF-B440-BDB2-3363A491E1A6}" destId="{E1B300AF-58B8-D84C-A5D3-2A9B896FE0A4}" srcOrd="0" destOrd="0" presId="urn:microsoft.com/office/officeart/2005/8/layout/process4"/>
    <dgm:cxn modelId="{5F82825B-019C-C04D-BB65-929F98B00C07}" type="presParOf" srcId="{2F6D2FBD-0AEF-B440-BDB2-3363A491E1A6}" destId="{7FA5C4CB-A306-E048-B469-FF444A8422A5}" srcOrd="1" destOrd="0" presId="urn:microsoft.com/office/officeart/2005/8/layout/process4"/>
    <dgm:cxn modelId="{372B4131-A216-9E4A-9334-67ACF6149132}" type="presParOf" srcId="{2F6D2FBD-0AEF-B440-BDB2-3363A491E1A6}" destId="{6EBCC739-19D6-974B-8BA8-1FA095BF2002}" srcOrd="2" destOrd="0" presId="urn:microsoft.com/office/officeart/2005/8/layout/process4"/>
    <dgm:cxn modelId="{310ACC8B-4DFE-5F4A-927D-BC64A6B0695C}" type="presParOf" srcId="{6EBCC739-19D6-974B-8BA8-1FA095BF2002}" destId="{89CE0525-81E2-F641-8A74-D289140296D5}" srcOrd="0" destOrd="0" presId="urn:microsoft.com/office/officeart/2005/8/layout/process4"/>
    <dgm:cxn modelId="{90D86A65-3187-494C-8BED-F23CFD50EDC8}" type="presParOf" srcId="{6EBCC739-19D6-974B-8BA8-1FA095BF2002}" destId="{B228CA8A-3D21-1A49-AD2C-6E7226595E82}" srcOrd="1" destOrd="0" presId="urn:microsoft.com/office/officeart/2005/8/layout/process4"/>
    <dgm:cxn modelId="{984F9B1F-947B-4148-BA6A-08D70290ACA5}" type="presParOf" srcId="{AC125F9B-F422-2440-B517-4C754746F6DB}" destId="{B6EFD4AE-743F-E14D-A16C-43ADC5BD1869}" srcOrd="3" destOrd="0" presId="urn:microsoft.com/office/officeart/2005/8/layout/process4"/>
    <dgm:cxn modelId="{4D083F35-6087-5944-96A1-FC51CB4D6E43}" type="presParOf" srcId="{AC125F9B-F422-2440-B517-4C754746F6DB}" destId="{68407C68-F3D9-7E4A-BC33-B7CDAF6B8D20}" srcOrd="4" destOrd="0" presId="urn:microsoft.com/office/officeart/2005/8/layout/process4"/>
    <dgm:cxn modelId="{0558C156-8A8B-DE42-8844-D4D0DF35A716}" type="presParOf" srcId="{68407C68-F3D9-7E4A-BC33-B7CDAF6B8D20}" destId="{06A2D506-552C-2449-92E6-DA35E5586E43}" srcOrd="0" destOrd="0" presId="urn:microsoft.com/office/officeart/2005/8/layout/process4"/>
    <dgm:cxn modelId="{85B33078-7371-854F-AA1C-E519253ED6DB}" type="presParOf" srcId="{68407C68-F3D9-7E4A-BC33-B7CDAF6B8D20}" destId="{F5D033D3-10A9-154A-976B-C1EB3D4080E1}" srcOrd="1" destOrd="0" presId="urn:microsoft.com/office/officeart/2005/8/layout/process4"/>
    <dgm:cxn modelId="{C47F0410-3179-CD49-81DC-54FD6E0604AE}" type="presParOf" srcId="{68407C68-F3D9-7E4A-BC33-B7CDAF6B8D20}" destId="{866062FC-A174-F840-9F65-750606D8FA2C}" srcOrd="2" destOrd="0" presId="urn:microsoft.com/office/officeart/2005/8/layout/process4"/>
    <dgm:cxn modelId="{995ADCD4-422A-4544-B36D-4B2B80B60BDF}" type="presParOf" srcId="{866062FC-A174-F840-9F65-750606D8FA2C}" destId="{9479A8E7-5757-D341-AA07-C587EFF73A36}"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6B0AF91-1C22-4D12-8EFE-0BCFAED14DE7}" type="doc">
      <dgm:prSet loTypeId="urn:microsoft.com/office/officeart/2016/7/layout/VerticalSolidActionList" loCatId="List" qsTypeId="urn:microsoft.com/office/officeart/2005/8/quickstyle/simple4" qsCatId="simple" csTypeId="urn:microsoft.com/office/officeart/2005/8/colors/colorful2" csCatId="colorful" phldr="1"/>
      <dgm:spPr/>
      <dgm:t>
        <a:bodyPr/>
        <a:lstStyle/>
        <a:p>
          <a:endParaRPr lang="en-US"/>
        </a:p>
      </dgm:t>
    </dgm:pt>
    <dgm:pt modelId="{5BFA82A7-334D-4EE4-94CC-394D1665E6CF}">
      <dgm:prSet/>
      <dgm:spPr/>
      <dgm:t>
        <a:bodyPr/>
        <a:lstStyle/>
        <a:p>
          <a:r>
            <a:rPr lang="en-US"/>
            <a:t>Approach</a:t>
          </a:r>
        </a:p>
      </dgm:t>
    </dgm:pt>
    <dgm:pt modelId="{FF87A19F-1C9E-4DC4-8381-8FF250490613}" type="parTrans" cxnId="{8002C451-457B-48E8-ABED-E036B2158344}">
      <dgm:prSet/>
      <dgm:spPr/>
      <dgm:t>
        <a:bodyPr/>
        <a:lstStyle/>
        <a:p>
          <a:endParaRPr lang="en-US"/>
        </a:p>
      </dgm:t>
    </dgm:pt>
    <dgm:pt modelId="{BBF99E9E-E109-400F-8EAA-EA7DC6E33CA4}" type="sibTrans" cxnId="{8002C451-457B-48E8-ABED-E036B2158344}">
      <dgm:prSet/>
      <dgm:spPr/>
      <dgm:t>
        <a:bodyPr/>
        <a:lstStyle/>
        <a:p>
          <a:endParaRPr lang="en-US"/>
        </a:p>
      </dgm:t>
    </dgm:pt>
    <dgm:pt modelId="{74435E97-7186-499A-8867-13D4DB93E275}">
      <dgm:prSet/>
      <dgm:spPr/>
      <dgm:t>
        <a:bodyPr/>
        <a:lstStyle/>
        <a:p>
          <a:r>
            <a:rPr lang="en-US"/>
            <a:t>Approach: Used resampling techniques (5,000 iterations) to avoid assumptions about data normality.</a:t>
          </a:r>
        </a:p>
      </dgm:t>
    </dgm:pt>
    <dgm:pt modelId="{4E75D4E4-EAE5-47E4-BB79-6B866BB5F5D8}" type="parTrans" cxnId="{683DE9A5-34E8-49B2-BBD7-C4E28901A2D9}">
      <dgm:prSet/>
      <dgm:spPr/>
      <dgm:t>
        <a:bodyPr/>
        <a:lstStyle/>
        <a:p>
          <a:endParaRPr lang="en-US"/>
        </a:p>
      </dgm:t>
    </dgm:pt>
    <dgm:pt modelId="{DF6E1F10-4BCB-4875-A972-1A7826F5E1C7}" type="sibTrans" cxnId="{683DE9A5-34E8-49B2-BBD7-C4E28901A2D9}">
      <dgm:prSet/>
      <dgm:spPr/>
      <dgm:t>
        <a:bodyPr/>
        <a:lstStyle/>
        <a:p>
          <a:endParaRPr lang="en-US"/>
        </a:p>
      </dgm:t>
    </dgm:pt>
    <dgm:pt modelId="{2899F290-0B1F-43BB-9B92-8036460805CD}">
      <dgm:prSet/>
      <dgm:spPr/>
      <dgm:t>
        <a:bodyPr/>
        <a:lstStyle/>
        <a:p>
          <a:r>
            <a:rPr lang="en-US"/>
            <a:t>Fault</a:t>
          </a:r>
        </a:p>
      </dgm:t>
    </dgm:pt>
    <dgm:pt modelId="{E6FC7217-5B75-4529-8B0C-58F23B202673}" type="parTrans" cxnId="{063912B8-6A75-4201-8B60-DCCEC2261394}">
      <dgm:prSet/>
      <dgm:spPr/>
      <dgm:t>
        <a:bodyPr/>
        <a:lstStyle/>
        <a:p>
          <a:endParaRPr lang="en-US"/>
        </a:p>
      </dgm:t>
    </dgm:pt>
    <dgm:pt modelId="{BCF487E3-6264-4ADC-8723-F77081587D46}" type="sibTrans" cxnId="{063912B8-6A75-4201-8B60-DCCEC2261394}">
      <dgm:prSet/>
      <dgm:spPr/>
      <dgm:t>
        <a:bodyPr/>
        <a:lstStyle/>
        <a:p>
          <a:endParaRPr lang="en-US"/>
        </a:p>
      </dgm:t>
    </dgm:pt>
    <dgm:pt modelId="{F6A65E18-98A7-4E72-A8B6-7F8443ACD017}">
      <dgm:prSet/>
      <dgm:spPr/>
      <dgm:t>
        <a:bodyPr/>
        <a:lstStyle/>
        <a:p>
          <a:r>
            <a:rPr lang="en-US" dirty="0"/>
            <a:t>Metric 1: Fault Rate (Difference in Proportions)</a:t>
          </a:r>
        </a:p>
      </dgm:t>
    </dgm:pt>
    <dgm:pt modelId="{333BF28F-A6F1-4248-98DE-AB5FD2EA5DE0}" type="parTrans" cxnId="{8E2C83C6-F927-4FFF-B9E3-BEEC20A6391B}">
      <dgm:prSet/>
      <dgm:spPr/>
      <dgm:t>
        <a:bodyPr/>
        <a:lstStyle/>
        <a:p>
          <a:endParaRPr lang="en-US"/>
        </a:p>
      </dgm:t>
    </dgm:pt>
    <dgm:pt modelId="{D40B0CCB-7F33-4AD4-944F-C9354C4CCDB9}" type="sibTrans" cxnId="{8E2C83C6-F927-4FFF-B9E3-BEEC20A6391B}">
      <dgm:prSet/>
      <dgm:spPr/>
      <dgm:t>
        <a:bodyPr/>
        <a:lstStyle/>
        <a:p>
          <a:endParaRPr lang="en-US"/>
        </a:p>
      </dgm:t>
    </dgm:pt>
    <dgm:pt modelId="{5341272F-6944-4DC7-BBF0-060F1B453CD5}">
      <dgm:prSet/>
      <dgm:spPr/>
      <dgm:t>
        <a:bodyPr/>
        <a:lstStyle/>
        <a:p>
          <a:r>
            <a:rPr lang="en-US" dirty="0"/>
            <a:t>Tested via Permutation Test (to establish significance) and Bootstrapping (to estimate uncertainty).</a:t>
          </a:r>
        </a:p>
      </dgm:t>
    </dgm:pt>
    <dgm:pt modelId="{7AEABBAA-22C7-4637-8D73-B5096227123C}" type="parTrans" cxnId="{51E6B366-1A84-4645-96AB-A0E9AC9EDB8F}">
      <dgm:prSet/>
      <dgm:spPr/>
      <dgm:t>
        <a:bodyPr/>
        <a:lstStyle/>
        <a:p>
          <a:endParaRPr lang="en-US"/>
        </a:p>
      </dgm:t>
    </dgm:pt>
    <dgm:pt modelId="{67C8FF1E-1D91-40C9-A794-0AA5EB22620E}" type="sibTrans" cxnId="{51E6B366-1A84-4645-96AB-A0E9AC9EDB8F}">
      <dgm:prSet/>
      <dgm:spPr/>
      <dgm:t>
        <a:bodyPr/>
        <a:lstStyle/>
        <a:p>
          <a:endParaRPr lang="en-US"/>
        </a:p>
      </dgm:t>
    </dgm:pt>
    <dgm:pt modelId="{0690E647-CE12-418D-BD27-B9B83CFC93A6}">
      <dgm:prSet/>
      <dgm:spPr/>
      <dgm:t>
        <a:bodyPr/>
        <a:lstStyle/>
        <a:p>
          <a:r>
            <a:rPr lang="en-US"/>
            <a:t>Damage</a:t>
          </a:r>
        </a:p>
      </dgm:t>
    </dgm:pt>
    <dgm:pt modelId="{D47E6F78-DCE6-4A27-9933-1E11F92E184A}" type="parTrans" cxnId="{99EFA645-B837-46A0-AC64-1F92FA2AF910}">
      <dgm:prSet/>
      <dgm:spPr/>
      <dgm:t>
        <a:bodyPr/>
        <a:lstStyle/>
        <a:p>
          <a:endParaRPr lang="en-US"/>
        </a:p>
      </dgm:t>
    </dgm:pt>
    <dgm:pt modelId="{1DDDD757-03F6-45F1-B14D-AE196358CBA5}" type="sibTrans" cxnId="{99EFA645-B837-46A0-AC64-1F92FA2AF910}">
      <dgm:prSet/>
      <dgm:spPr/>
      <dgm:t>
        <a:bodyPr/>
        <a:lstStyle/>
        <a:p>
          <a:endParaRPr lang="en-US"/>
        </a:p>
      </dgm:t>
    </dgm:pt>
    <dgm:pt modelId="{A19857AB-0216-4259-A606-BF69E6033EB6}">
      <dgm:prSet/>
      <dgm:spPr/>
      <dgm:t>
        <a:bodyPr/>
        <a:lstStyle/>
        <a:p>
          <a:r>
            <a:rPr lang="en-US" dirty="0"/>
            <a:t>Metric 2: Damage Severity (Difference in Medians)</a:t>
          </a:r>
        </a:p>
      </dgm:t>
    </dgm:pt>
    <dgm:pt modelId="{9067CA22-2189-4655-82C1-3ABB1B80A775}" type="parTrans" cxnId="{2C7D46F5-DB19-470B-8D77-A65F5FEBDD34}">
      <dgm:prSet/>
      <dgm:spPr/>
      <dgm:t>
        <a:bodyPr/>
        <a:lstStyle/>
        <a:p>
          <a:endParaRPr lang="en-US"/>
        </a:p>
      </dgm:t>
    </dgm:pt>
    <dgm:pt modelId="{EC79FB21-16AB-4968-8862-782F70E70ADD}" type="sibTrans" cxnId="{2C7D46F5-DB19-470B-8D77-A65F5FEBDD34}">
      <dgm:prSet/>
      <dgm:spPr/>
      <dgm:t>
        <a:bodyPr/>
        <a:lstStyle/>
        <a:p>
          <a:endParaRPr lang="en-US"/>
        </a:p>
      </dgm:t>
    </dgm:pt>
    <dgm:pt modelId="{61958F99-9651-4DA6-A875-8D76F50C0018}">
      <dgm:prSet/>
      <dgm:spPr/>
      <dgm:t>
        <a:bodyPr/>
        <a:lstStyle/>
        <a:p>
          <a:r>
            <a:rPr lang="en-US" dirty="0"/>
            <a:t>Tested via Bootstrapping only.</a:t>
          </a:r>
        </a:p>
      </dgm:t>
    </dgm:pt>
    <dgm:pt modelId="{4B9B8632-87E9-4B8A-8CC9-10907D817F27}" type="parTrans" cxnId="{CD26A9AF-A989-4D5D-9B3C-CDB57858533C}">
      <dgm:prSet/>
      <dgm:spPr/>
      <dgm:t>
        <a:bodyPr/>
        <a:lstStyle/>
        <a:p>
          <a:endParaRPr lang="en-US"/>
        </a:p>
      </dgm:t>
    </dgm:pt>
    <dgm:pt modelId="{79E81B1B-E703-43DF-9E73-A7559CBFFEE6}" type="sibTrans" cxnId="{CD26A9AF-A989-4D5D-9B3C-CDB57858533C}">
      <dgm:prSet/>
      <dgm:spPr/>
      <dgm:t>
        <a:bodyPr/>
        <a:lstStyle/>
        <a:p>
          <a:endParaRPr lang="en-US"/>
        </a:p>
      </dgm:t>
    </dgm:pt>
    <dgm:pt modelId="{0C9B1B72-1BAD-450D-AB97-9D5E5A9D7C71}">
      <dgm:prSet/>
      <dgm:spPr/>
      <dgm:t>
        <a:bodyPr/>
        <a:lstStyle/>
        <a:p>
          <a:r>
            <a:rPr lang="en-US" dirty="0"/>
            <a:t>Why CLT does not apply:</a:t>
          </a:r>
        </a:p>
      </dgm:t>
    </dgm:pt>
    <dgm:pt modelId="{EDB117EA-7699-4373-BCC3-DB8F026AF8FA}" type="parTrans" cxnId="{DC383D12-CAA0-478C-B45F-C8F99C70CDAF}">
      <dgm:prSet/>
      <dgm:spPr/>
      <dgm:t>
        <a:bodyPr/>
        <a:lstStyle/>
        <a:p>
          <a:endParaRPr lang="en-US"/>
        </a:p>
      </dgm:t>
    </dgm:pt>
    <dgm:pt modelId="{AA01DF6A-018C-4B66-AE9E-F081650AF8CB}" type="sibTrans" cxnId="{DC383D12-CAA0-478C-B45F-C8F99C70CDAF}">
      <dgm:prSet/>
      <dgm:spPr/>
      <dgm:t>
        <a:bodyPr/>
        <a:lstStyle/>
        <a:p>
          <a:endParaRPr lang="en-US"/>
        </a:p>
      </dgm:t>
    </dgm:pt>
    <dgm:pt modelId="{8D018EC9-5859-8F4A-B0D2-DBC5895F9DE8}">
      <dgm:prSet/>
      <dgm:spPr/>
      <dgm:t>
        <a:bodyPr/>
        <a:lstStyle/>
        <a:p>
          <a:pPr>
            <a:buNone/>
          </a:pPr>
          <a:r>
            <a:rPr lang="en-US" b="0" dirty="0"/>
            <a:t>The damage score is discrete and ordinal (integers 0-4). The sampling distribution of a median from such a distribution is generally not normal, making standard parametric confidence intervals invalid.</a:t>
          </a:r>
          <a:endParaRPr lang="en-US" dirty="0"/>
        </a:p>
      </dgm:t>
    </dgm:pt>
    <dgm:pt modelId="{57E4D5D8-19C2-EB46-8039-4F83B60345D4}" type="parTrans" cxnId="{E48E6423-4FD3-9D4C-95D6-EC2A9921DFD2}">
      <dgm:prSet/>
      <dgm:spPr/>
    </dgm:pt>
    <dgm:pt modelId="{35675D0B-F3C4-4241-B8F8-9881C95D2CD9}" type="sibTrans" cxnId="{E48E6423-4FD3-9D4C-95D6-EC2A9921DFD2}">
      <dgm:prSet/>
      <dgm:spPr/>
    </dgm:pt>
    <dgm:pt modelId="{44E3D968-0B3B-8748-A1C8-B70FB12B7375}" type="pres">
      <dgm:prSet presAssocID="{46B0AF91-1C22-4D12-8EFE-0BCFAED14DE7}" presName="Name0" presStyleCnt="0">
        <dgm:presLayoutVars>
          <dgm:dir/>
          <dgm:animLvl val="lvl"/>
          <dgm:resizeHandles val="exact"/>
        </dgm:presLayoutVars>
      </dgm:prSet>
      <dgm:spPr/>
    </dgm:pt>
    <dgm:pt modelId="{93D20B98-E1BB-514E-98A1-9C0593E59868}" type="pres">
      <dgm:prSet presAssocID="{5BFA82A7-334D-4EE4-94CC-394D1665E6CF}" presName="linNode" presStyleCnt="0"/>
      <dgm:spPr/>
    </dgm:pt>
    <dgm:pt modelId="{166A3BF7-443B-4949-B69B-BE5BC5AEA94C}" type="pres">
      <dgm:prSet presAssocID="{5BFA82A7-334D-4EE4-94CC-394D1665E6CF}" presName="parentText" presStyleLbl="alignNode1" presStyleIdx="0" presStyleCnt="3">
        <dgm:presLayoutVars>
          <dgm:chMax val="1"/>
          <dgm:bulletEnabled/>
        </dgm:presLayoutVars>
      </dgm:prSet>
      <dgm:spPr/>
    </dgm:pt>
    <dgm:pt modelId="{A4B7BE35-85F0-814C-B917-0F8085544400}" type="pres">
      <dgm:prSet presAssocID="{5BFA82A7-334D-4EE4-94CC-394D1665E6CF}" presName="descendantText" presStyleLbl="alignAccFollowNode1" presStyleIdx="0" presStyleCnt="3">
        <dgm:presLayoutVars>
          <dgm:bulletEnabled/>
        </dgm:presLayoutVars>
      </dgm:prSet>
      <dgm:spPr/>
    </dgm:pt>
    <dgm:pt modelId="{72B0D381-ED78-5544-8152-CDE3EAC80C68}" type="pres">
      <dgm:prSet presAssocID="{BBF99E9E-E109-400F-8EAA-EA7DC6E33CA4}" presName="sp" presStyleCnt="0"/>
      <dgm:spPr/>
    </dgm:pt>
    <dgm:pt modelId="{41D610AB-E0DB-F34C-81E0-D3B1CC7F1B08}" type="pres">
      <dgm:prSet presAssocID="{2899F290-0B1F-43BB-9B92-8036460805CD}" presName="linNode" presStyleCnt="0"/>
      <dgm:spPr/>
    </dgm:pt>
    <dgm:pt modelId="{FABE14CA-BC11-654C-BFDF-C4A3A20A2B61}" type="pres">
      <dgm:prSet presAssocID="{2899F290-0B1F-43BB-9B92-8036460805CD}" presName="parentText" presStyleLbl="alignNode1" presStyleIdx="1" presStyleCnt="3">
        <dgm:presLayoutVars>
          <dgm:chMax val="1"/>
          <dgm:bulletEnabled/>
        </dgm:presLayoutVars>
      </dgm:prSet>
      <dgm:spPr/>
    </dgm:pt>
    <dgm:pt modelId="{FDF45F5A-1CB8-D844-A33B-D02070DB5B89}" type="pres">
      <dgm:prSet presAssocID="{2899F290-0B1F-43BB-9B92-8036460805CD}" presName="descendantText" presStyleLbl="alignAccFollowNode1" presStyleIdx="1" presStyleCnt="3">
        <dgm:presLayoutVars>
          <dgm:bulletEnabled/>
        </dgm:presLayoutVars>
      </dgm:prSet>
      <dgm:spPr/>
    </dgm:pt>
    <dgm:pt modelId="{A9ABDDCC-0BF7-5C44-8EA1-EE40570532C8}" type="pres">
      <dgm:prSet presAssocID="{BCF487E3-6264-4ADC-8723-F77081587D46}" presName="sp" presStyleCnt="0"/>
      <dgm:spPr/>
    </dgm:pt>
    <dgm:pt modelId="{54EC27A0-8B97-554A-A35E-9DE2B642E526}" type="pres">
      <dgm:prSet presAssocID="{0690E647-CE12-418D-BD27-B9B83CFC93A6}" presName="linNode" presStyleCnt="0"/>
      <dgm:spPr/>
    </dgm:pt>
    <dgm:pt modelId="{714E646F-598F-FE45-9279-41397558E4A3}" type="pres">
      <dgm:prSet presAssocID="{0690E647-CE12-418D-BD27-B9B83CFC93A6}" presName="parentText" presStyleLbl="alignNode1" presStyleIdx="2" presStyleCnt="3">
        <dgm:presLayoutVars>
          <dgm:chMax val="1"/>
          <dgm:bulletEnabled/>
        </dgm:presLayoutVars>
      </dgm:prSet>
      <dgm:spPr/>
    </dgm:pt>
    <dgm:pt modelId="{6A626003-CCE1-284A-8C64-2E4A69A7F908}" type="pres">
      <dgm:prSet presAssocID="{0690E647-CE12-418D-BD27-B9B83CFC93A6}" presName="descendantText" presStyleLbl="alignAccFollowNode1" presStyleIdx="2" presStyleCnt="3">
        <dgm:presLayoutVars>
          <dgm:bulletEnabled/>
        </dgm:presLayoutVars>
      </dgm:prSet>
      <dgm:spPr/>
    </dgm:pt>
  </dgm:ptLst>
  <dgm:cxnLst>
    <dgm:cxn modelId="{0DF4AA01-E6AA-3049-B5D3-E136A9E2418E}" type="presOf" srcId="{F6A65E18-98A7-4E72-A8B6-7F8443ACD017}" destId="{FDF45F5A-1CB8-D844-A33B-D02070DB5B89}" srcOrd="0" destOrd="0" presId="urn:microsoft.com/office/officeart/2016/7/layout/VerticalSolidActionList"/>
    <dgm:cxn modelId="{DC383D12-CAA0-478C-B45F-C8F99C70CDAF}" srcId="{A19857AB-0216-4259-A606-BF69E6033EB6}" destId="{0C9B1B72-1BAD-450D-AB97-9D5E5A9D7C71}" srcOrd="1" destOrd="0" parTransId="{EDB117EA-7699-4373-BCC3-DB8F026AF8FA}" sibTransId="{AA01DF6A-018C-4B66-AE9E-F081650AF8CB}"/>
    <dgm:cxn modelId="{019A5614-B67C-C941-A4F5-2B6A4773EE99}" type="presOf" srcId="{0690E647-CE12-418D-BD27-B9B83CFC93A6}" destId="{714E646F-598F-FE45-9279-41397558E4A3}" srcOrd="0" destOrd="0" presId="urn:microsoft.com/office/officeart/2016/7/layout/VerticalSolidActionList"/>
    <dgm:cxn modelId="{E48E6423-4FD3-9D4C-95D6-EC2A9921DFD2}" srcId="{A19857AB-0216-4259-A606-BF69E6033EB6}" destId="{8D018EC9-5859-8F4A-B0D2-DBC5895F9DE8}" srcOrd="2" destOrd="0" parTransId="{57E4D5D8-19C2-EB46-8039-4F83B60345D4}" sibTransId="{35675D0B-F3C4-4241-B8F8-9881C95D2CD9}"/>
    <dgm:cxn modelId="{769F8C25-86B8-D44E-8F27-BA5C3797F99A}" type="presOf" srcId="{5341272F-6944-4DC7-BBF0-060F1B453CD5}" destId="{FDF45F5A-1CB8-D844-A33B-D02070DB5B89}" srcOrd="0" destOrd="1" presId="urn:microsoft.com/office/officeart/2016/7/layout/VerticalSolidActionList"/>
    <dgm:cxn modelId="{99EFA645-B837-46A0-AC64-1F92FA2AF910}" srcId="{46B0AF91-1C22-4D12-8EFE-0BCFAED14DE7}" destId="{0690E647-CE12-418D-BD27-B9B83CFC93A6}" srcOrd="2" destOrd="0" parTransId="{D47E6F78-DCE6-4A27-9933-1E11F92E184A}" sibTransId="{1DDDD757-03F6-45F1-B14D-AE196358CBA5}"/>
    <dgm:cxn modelId="{8002C451-457B-48E8-ABED-E036B2158344}" srcId="{46B0AF91-1C22-4D12-8EFE-0BCFAED14DE7}" destId="{5BFA82A7-334D-4EE4-94CC-394D1665E6CF}" srcOrd="0" destOrd="0" parTransId="{FF87A19F-1C9E-4DC4-8381-8FF250490613}" sibTransId="{BBF99E9E-E109-400F-8EAA-EA7DC6E33CA4}"/>
    <dgm:cxn modelId="{864A1C5C-822E-0A41-BE52-103D33161615}" type="presOf" srcId="{5BFA82A7-334D-4EE4-94CC-394D1665E6CF}" destId="{166A3BF7-443B-4949-B69B-BE5BC5AEA94C}" srcOrd="0" destOrd="0" presId="urn:microsoft.com/office/officeart/2016/7/layout/VerticalSolidActionList"/>
    <dgm:cxn modelId="{3F7C5B5D-D849-2B4C-A551-EB80C83205EE}" type="presOf" srcId="{74435E97-7186-499A-8867-13D4DB93E275}" destId="{A4B7BE35-85F0-814C-B917-0F8085544400}" srcOrd="0" destOrd="0" presId="urn:microsoft.com/office/officeart/2016/7/layout/VerticalSolidActionList"/>
    <dgm:cxn modelId="{51E6B366-1A84-4645-96AB-A0E9AC9EDB8F}" srcId="{F6A65E18-98A7-4E72-A8B6-7F8443ACD017}" destId="{5341272F-6944-4DC7-BBF0-060F1B453CD5}" srcOrd="0" destOrd="0" parTransId="{7AEABBAA-22C7-4637-8D73-B5096227123C}" sibTransId="{67C8FF1E-1D91-40C9-A794-0AA5EB22620E}"/>
    <dgm:cxn modelId="{A712996F-5B75-E345-8983-B379605B6BF7}" type="presOf" srcId="{8D018EC9-5859-8F4A-B0D2-DBC5895F9DE8}" destId="{6A626003-CCE1-284A-8C64-2E4A69A7F908}" srcOrd="0" destOrd="3" presId="urn:microsoft.com/office/officeart/2016/7/layout/VerticalSolidActionList"/>
    <dgm:cxn modelId="{683DE9A5-34E8-49B2-BBD7-C4E28901A2D9}" srcId="{5BFA82A7-334D-4EE4-94CC-394D1665E6CF}" destId="{74435E97-7186-499A-8867-13D4DB93E275}" srcOrd="0" destOrd="0" parTransId="{4E75D4E4-EAE5-47E4-BB79-6B866BB5F5D8}" sibTransId="{DF6E1F10-4BCB-4875-A972-1A7826F5E1C7}"/>
    <dgm:cxn modelId="{CD26A9AF-A989-4D5D-9B3C-CDB57858533C}" srcId="{A19857AB-0216-4259-A606-BF69E6033EB6}" destId="{61958F99-9651-4DA6-A875-8D76F50C0018}" srcOrd="0" destOrd="0" parTransId="{4B9B8632-87E9-4B8A-8CC9-10907D817F27}" sibTransId="{79E81B1B-E703-43DF-9E73-A7559CBFFEE6}"/>
    <dgm:cxn modelId="{E3EAD0AF-DA56-DC47-B639-80AE7B7C801A}" type="presOf" srcId="{2899F290-0B1F-43BB-9B92-8036460805CD}" destId="{FABE14CA-BC11-654C-BFDF-C4A3A20A2B61}" srcOrd="0" destOrd="0" presId="urn:microsoft.com/office/officeart/2016/7/layout/VerticalSolidActionList"/>
    <dgm:cxn modelId="{063912B8-6A75-4201-8B60-DCCEC2261394}" srcId="{46B0AF91-1C22-4D12-8EFE-0BCFAED14DE7}" destId="{2899F290-0B1F-43BB-9B92-8036460805CD}" srcOrd="1" destOrd="0" parTransId="{E6FC7217-5B75-4529-8B0C-58F23B202673}" sibTransId="{BCF487E3-6264-4ADC-8723-F77081587D46}"/>
    <dgm:cxn modelId="{876AE4BF-C66C-704F-B9FB-78378B00BC2E}" type="presOf" srcId="{61958F99-9651-4DA6-A875-8D76F50C0018}" destId="{6A626003-CCE1-284A-8C64-2E4A69A7F908}" srcOrd="0" destOrd="1" presId="urn:microsoft.com/office/officeart/2016/7/layout/VerticalSolidActionList"/>
    <dgm:cxn modelId="{8E2C83C6-F927-4FFF-B9E3-BEEC20A6391B}" srcId="{2899F290-0B1F-43BB-9B92-8036460805CD}" destId="{F6A65E18-98A7-4E72-A8B6-7F8443ACD017}" srcOrd="0" destOrd="0" parTransId="{333BF28F-A6F1-4248-98DE-AB5FD2EA5DE0}" sibTransId="{D40B0CCB-7F33-4AD4-944F-C9354C4CCDB9}"/>
    <dgm:cxn modelId="{A3A642CF-5448-9B43-ACD2-7E7586CDD7D5}" type="presOf" srcId="{46B0AF91-1C22-4D12-8EFE-0BCFAED14DE7}" destId="{44E3D968-0B3B-8748-A1C8-B70FB12B7375}" srcOrd="0" destOrd="0" presId="urn:microsoft.com/office/officeart/2016/7/layout/VerticalSolidActionList"/>
    <dgm:cxn modelId="{02A3BCF1-CFD4-3B4A-AE79-01C67A066FE3}" type="presOf" srcId="{0C9B1B72-1BAD-450D-AB97-9D5E5A9D7C71}" destId="{6A626003-CCE1-284A-8C64-2E4A69A7F908}" srcOrd="0" destOrd="2" presId="urn:microsoft.com/office/officeart/2016/7/layout/VerticalSolidActionList"/>
    <dgm:cxn modelId="{2C7D46F5-DB19-470B-8D77-A65F5FEBDD34}" srcId="{0690E647-CE12-418D-BD27-B9B83CFC93A6}" destId="{A19857AB-0216-4259-A606-BF69E6033EB6}" srcOrd="0" destOrd="0" parTransId="{9067CA22-2189-4655-82C1-3ABB1B80A775}" sibTransId="{EC79FB21-16AB-4968-8862-782F70E70ADD}"/>
    <dgm:cxn modelId="{DB0277FE-24BC-174B-A562-D33A489C9BD8}" type="presOf" srcId="{A19857AB-0216-4259-A606-BF69E6033EB6}" destId="{6A626003-CCE1-284A-8C64-2E4A69A7F908}" srcOrd="0" destOrd="0" presId="urn:microsoft.com/office/officeart/2016/7/layout/VerticalSolidActionList"/>
    <dgm:cxn modelId="{847227E4-E548-5D4B-9F26-BA63793A6B3A}" type="presParOf" srcId="{44E3D968-0B3B-8748-A1C8-B70FB12B7375}" destId="{93D20B98-E1BB-514E-98A1-9C0593E59868}" srcOrd="0" destOrd="0" presId="urn:microsoft.com/office/officeart/2016/7/layout/VerticalSolidActionList"/>
    <dgm:cxn modelId="{858B0A36-CF1C-5D40-8FBD-A114DDF3DF51}" type="presParOf" srcId="{93D20B98-E1BB-514E-98A1-9C0593E59868}" destId="{166A3BF7-443B-4949-B69B-BE5BC5AEA94C}" srcOrd="0" destOrd="0" presId="urn:microsoft.com/office/officeart/2016/7/layout/VerticalSolidActionList"/>
    <dgm:cxn modelId="{087F3A37-A84A-1047-9845-9B1C3E1B5CEF}" type="presParOf" srcId="{93D20B98-E1BB-514E-98A1-9C0593E59868}" destId="{A4B7BE35-85F0-814C-B917-0F8085544400}" srcOrd="1" destOrd="0" presId="urn:microsoft.com/office/officeart/2016/7/layout/VerticalSolidActionList"/>
    <dgm:cxn modelId="{CF207D6A-F9BA-A54D-8692-CE927AE3D30D}" type="presParOf" srcId="{44E3D968-0B3B-8748-A1C8-B70FB12B7375}" destId="{72B0D381-ED78-5544-8152-CDE3EAC80C68}" srcOrd="1" destOrd="0" presId="urn:microsoft.com/office/officeart/2016/7/layout/VerticalSolidActionList"/>
    <dgm:cxn modelId="{0FAD5C4F-64C1-CD45-AC6D-F133AD8E7024}" type="presParOf" srcId="{44E3D968-0B3B-8748-A1C8-B70FB12B7375}" destId="{41D610AB-E0DB-F34C-81E0-D3B1CC7F1B08}" srcOrd="2" destOrd="0" presId="urn:microsoft.com/office/officeart/2016/7/layout/VerticalSolidActionList"/>
    <dgm:cxn modelId="{ACC83CDF-E561-6C41-B89C-E80EC5410758}" type="presParOf" srcId="{41D610AB-E0DB-F34C-81E0-D3B1CC7F1B08}" destId="{FABE14CA-BC11-654C-BFDF-C4A3A20A2B61}" srcOrd="0" destOrd="0" presId="urn:microsoft.com/office/officeart/2016/7/layout/VerticalSolidActionList"/>
    <dgm:cxn modelId="{2E0EEDA3-3C52-0D42-B303-42949AC045DD}" type="presParOf" srcId="{41D610AB-E0DB-F34C-81E0-D3B1CC7F1B08}" destId="{FDF45F5A-1CB8-D844-A33B-D02070DB5B89}" srcOrd="1" destOrd="0" presId="urn:microsoft.com/office/officeart/2016/7/layout/VerticalSolidActionList"/>
    <dgm:cxn modelId="{A84A89A5-4B91-4145-BCEC-0D37924A98CA}" type="presParOf" srcId="{44E3D968-0B3B-8748-A1C8-B70FB12B7375}" destId="{A9ABDDCC-0BF7-5C44-8EA1-EE40570532C8}" srcOrd="3" destOrd="0" presId="urn:microsoft.com/office/officeart/2016/7/layout/VerticalSolidActionList"/>
    <dgm:cxn modelId="{278FFE9C-B27A-0545-802D-A5C95707D96F}" type="presParOf" srcId="{44E3D968-0B3B-8748-A1C8-B70FB12B7375}" destId="{54EC27A0-8B97-554A-A35E-9DE2B642E526}" srcOrd="4" destOrd="0" presId="urn:microsoft.com/office/officeart/2016/7/layout/VerticalSolidActionList"/>
    <dgm:cxn modelId="{E5DCB051-F762-4C49-A39A-2717E3009CB9}" type="presParOf" srcId="{54EC27A0-8B97-554A-A35E-9DE2B642E526}" destId="{714E646F-598F-FE45-9279-41397558E4A3}" srcOrd="0" destOrd="0" presId="urn:microsoft.com/office/officeart/2016/7/layout/VerticalSolidActionList"/>
    <dgm:cxn modelId="{4A401870-0622-A844-9D2B-12428848ECE9}" type="presParOf" srcId="{54EC27A0-8B97-554A-A35E-9DE2B642E526}" destId="{6A626003-CCE1-284A-8C64-2E4A69A7F908}" srcOrd="1" destOrd="0" presId="urn:microsoft.com/office/officeart/2016/7/layout/VerticalSolidAction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73A4F6B-1EBF-410D-971A-BCCA4D93CB7B}"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46309F4B-C0F2-459E-A150-C60D373F5924}">
      <dgm:prSet/>
      <dgm:spPr/>
      <dgm:t>
        <a:bodyPr/>
        <a:lstStyle/>
        <a:p>
          <a:r>
            <a:rPr lang="en-US" b="1" i="0" baseline="0" dirty="0"/>
            <a:t>Conclusion:</a:t>
          </a:r>
          <a:r>
            <a:rPr lang="en-US" b="0" i="0" baseline="0" dirty="0"/>
            <a:t> Distraction is a definitive predictor of </a:t>
          </a:r>
          <a:r>
            <a:rPr lang="en-US" b="1" i="0" baseline="0" dirty="0"/>
            <a:t>liability</a:t>
          </a:r>
          <a:r>
            <a:rPr lang="en-US" b="0" i="0" baseline="0" dirty="0"/>
            <a:t> (causing the crash), but it does not guarantee the crash will be more </a:t>
          </a:r>
          <a:r>
            <a:rPr lang="en-US" b="1" i="0" baseline="0" dirty="0"/>
            <a:t>severe</a:t>
          </a:r>
          <a:r>
            <a:rPr lang="en-US" b="0" i="0" baseline="0" dirty="0"/>
            <a:t> than a baseline accident.</a:t>
          </a:r>
          <a:endParaRPr lang="en-US" dirty="0"/>
        </a:p>
      </dgm:t>
    </dgm:pt>
    <dgm:pt modelId="{A130CFD4-F162-4943-9237-2B390B7ACFE7}" type="parTrans" cxnId="{CD1257C4-EB94-437A-A67A-D628D9B5EA1C}">
      <dgm:prSet/>
      <dgm:spPr/>
      <dgm:t>
        <a:bodyPr/>
        <a:lstStyle/>
        <a:p>
          <a:endParaRPr lang="en-US"/>
        </a:p>
      </dgm:t>
    </dgm:pt>
    <dgm:pt modelId="{CA63F1E6-ABC3-4510-90E8-763D9B367C24}" type="sibTrans" cxnId="{CD1257C4-EB94-437A-A67A-D628D9B5EA1C}">
      <dgm:prSet/>
      <dgm:spPr/>
      <dgm:t>
        <a:bodyPr/>
        <a:lstStyle/>
        <a:p>
          <a:endParaRPr lang="en-US"/>
        </a:p>
      </dgm:t>
    </dgm:pt>
    <dgm:pt modelId="{733C249A-8218-455B-AB43-DD31E94B49AF}">
      <dgm:prSet/>
      <dgm:spPr/>
      <dgm:t>
        <a:bodyPr/>
        <a:lstStyle/>
        <a:p>
          <a:r>
            <a:rPr lang="en-US" b="1" i="0" baseline="0"/>
            <a:t>Limitations:</a:t>
          </a:r>
          <a:endParaRPr lang="en-US"/>
        </a:p>
      </dgm:t>
    </dgm:pt>
    <dgm:pt modelId="{00027DD1-6592-4EDF-9001-74ECE6F2503F}" type="parTrans" cxnId="{94ED7F01-142B-4F1F-81A8-FDE5767465A8}">
      <dgm:prSet/>
      <dgm:spPr/>
      <dgm:t>
        <a:bodyPr/>
        <a:lstStyle/>
        <a:p>
          <a:endParaRPr lang="en-US"/>
        </a:p>
      </dgm:t>
    </dgm:pt>
    <dgm:pt modelId="{D2343AC7-344C-4BF5-BC28-6F11CA3DD272}" type="sibTrans" cxnId="{94ED7F01-142B-4F1F-81A8-FDE5767465A8}">
      <dgm:prSet/>
      <dgm:spPr/>
      <dgm:t>
        <a:bodyPr/>
        <a:lstStyle/>
        <a:p>
          <a:endParaRPr lang="en-US"/>
        </a:p>
      </dgm:t>
    </dgm:pt>
    <dgm:pt modelId="{1D267A58-9A89-46AF-A506-BA128F57EC1F}">
      <dgm:prSet/>
      <dgm:spPr/>
      <dgm:t>
        <a:bodyPr/>
        <a:lstStyle/>
        <a:p>
          <a:r>
            <a:rPr lang="en-US" b="1" i="0" baseline="0" dirty="0"/>
            <a:t>Self-Reporting Bias:</a:t>
          </a:r>
          <a:r>
            <a:rPr lang="en-US" b="0" i="0" baseline="0" dirty="0"/>
            <a:t> Distraction is likely underreported in police data.</a:t>
          </a:r>
          <a:endParaRPr lang="en-US" dirty="0"/>
        </a:p>
      </dgm:t>
    </dgm:pt>
    <dgm:pt modelId="{9C627DE9-7068-406F-AE51-CA7DE8758621}" type="parTrans" cxnId="{D35AA2D1-5AC2-4F1C-92F2-064868E81328}">
      <dgm:prSet/>
      <dgm:spPr/>
      <dgm:t>
        <a:bodyPr/>
        <a:lstStyle/>
        <a:p>
          <a:endParaRPr lang="en-US"/>
        </a:p>
      </dgm:t>
    </dgm:pt>
    <dgm:pt modelId="{D41F0185-B7EB-4162-AE17-15C35950ED6D}" type="sibTrans" cxnId="{D35AA2D1-5AC2-4F1C-92F2-064868E81328}">
      <dgm:prSet/>
      <dgm:spPr/>
      <dgm:t>
        <a:bodyPr/>
        <a:lstStyle/>
        <a:p>
          <a:endParaRPr lang="en-US"/>
        </a:p>
      </dgm:t>
    </dgm:pt>
    <dgm:pt modelId="{8B23B5F1-B311-4131-8710-568371522164}">
      <dgm:prSet/>
      <dgm:spPr/>
      <dgm:t>
        <a:bodyPr/>
        <a:lstStyle/>
        <a:p>
          <a:r>
            <a:rPr lang="en-US" b="1" i="0" baseline="0" dirty="0"/>
            <a:t>Ordinal Scale:</a:t>
          </a:r>
          <a:r>
            <a:rPr lang="en-US" b="0" i="0" baseline="0" dirty="0"/>
            <a:t> The 0-4 damage scale is too coarse to capture subtle differences in crash intensity (e.g., repair costs).</a:t>
          </a:r>
          <a:endParaRPr lang="en-US" dirty="0"/>
        </a:p>
      </dgm:t>
    </dgm:pt>
    <dgm:pt modelId="{D401EE7F-6AEB-4CA7-B69C-6C7011BCC4EE}" type="parTrans" cxnId="{4CB41337-98FA-4D64-915E-B878F91F3235}">
      <dgm:prSet/>
      <dgm:spPr/>
      <dgm:t>
        <a:bodyPr/>
        <a:lstStyle/>
        <a:p>
          <a:endParaRPr lang="en-US"/>
        </a:p>
      </dgm:t>
    </dgm:pt>
    <dgm:pt modelId="{FC6CD4ED-CE34-4F44-8B94-06A5F8A428E7}" type="sibTrans" cxnId="{4CB41337-98FA-4D64-915E-B878F91F3235}">
      <dgm:prSet/>
      <dgm:spPr/>
      <dgm:t>
        <a:bodyPr/>
        <a:lstStyle/>
        <a:p>
          <a:endParaRPr lang="en-US"/>
        </a:p>
      </dgm:t>
    </dgm:pt>
    <dgm:pt modelId="{4F90F01F-7425-0646-8017-6086DE8FB76F}" type="pres">
      <dgm:prSet presAssocID="{673A4F6B-1EBF-410D-971A-BCCA4D93CB7B}" presName="linear" presStyleCnt="0">
        <dgm:presLayoutVars>
          <dgm:animLvl val="lvl"/>
          <dgm:resizeHandles val="exact"/>
        </dgm:presLayoutVars>
      </dgm:prSet>
      <dgm:spPr/>
    </dgm:pt>
    <dgm:pt modelId="{6DCD868E-7CA8-B442-A28F-2F6E310E2DCD}" type="pres">
      <dgm:prSet presAssocID="{46309F4B-C0F2-459E-A150-C60D373F5924}" presName="parentText" presStyleLbl="node1" presStyleIdx="0" presStyleCnt="2">
        <dgm:presLayoutVars>
          <dgm:chMax val="0"/>
          <dgm:bulletEnabled val="1"/>
        </dgm:presLayoutVars>
      </dgm:prSet>
      <dgm:spPr/>
    </dgm:pt>
    <dgm:pt modelId="{3830829C-EE92-AC4B-A9E4-565BB95CF281}" type="pres">
      <dgm:prSet presAssocID="{CA63F1E6-ABC3-4510-90E8-763D9B367C24}" presName="spacer" presStyleCnt="0"/>
      <dgm:spPr/>
    </dgm:pt>
    <dgm:pt modelId="{A56A4FAC-97E0-0C4D-9002-0AD5DED00025}" type="pres">
      <dgm:prSet presAssocID="{733C249A-8218-455B-AB43-DD31E94B49AF}" presName="parentText" presStyleLbl="node1" presStyleIdx="1" presStyleCnt="2">
        <dgm:presLayoutVars>
          <dgm:chMax val="0"/>
          <dgm:bulletEnabled val="1"/>
        </dgm:presLayoutVars>
      </dgm:prSet>
      <dgm:spPr/>
    </dgm:pt>
    <dgm:pt modelId="{E978E5B0-F6DA-674D-9F88-57D562D23A8E}" type="pres">
      <dgm:prSet presAssocID="{733C249A-8218-455B-AB43-DD31E94B49AF}" presName="childText" presStyleLbl="revTx" presStyleIdx="0" presStyleCnt="1">
        <dgm:presLayoutVars>
          <dgm:bulletEnabled val="1"/>
        </dgm:presLayoutVars>
      </dgm:prSet>
      <dgm:spPr/>
    </dgm:pt>
  </dgm:ptLst>
  <dgm:cxnLst>
    <dgm:cxn modelId="{94ED7F01-142B-4F1F-81A8-FDE5767465A8}" srcId="{673A4F6B-1EBF-410D-971A-BCCA4D93CB7B}" destId="{733C249A-8218-455B-AB43-DD31E94B49AF}" srcOrd="1" destOrd="0" parTransId="{00027DD1-6592-4EDF-9001-74ECE6F2503F}" sibTransId="{D2343AC7-344C-4BF5-BC28-6F11CA3DD272}"/>
    <dgm:cxn modelId="{4DD78804-1872-0F4C-8309-B0738A1DF6E6}" type="presOf" srcId="{1D267A58-9A89-46AF-A506-BA128F57EC1F}" destId="{E978E5B0-F6DA-674D-9F88-57D562D23A8E}" srcOrd="0" destOrd="0" presId="urn:microsoft.com/office/officeart/2005/8/layout/vList2"/>
    <dgm:cxn modelId="{0C942732-BBA2-334A-A72D-2FA4A481DBC5}" type="presOf" srcId="{733C249A-8218-455B-AB43-DD31E94B49AF}" destId="{A56A4FAC-97E0-0C4D-9002-0AD5DED00025}" srcOrd="0" destOrd="0" presId="urn:microsoft.com/office/officeart/2005/8/layout/vList2"/>
    <dgm:cxn modelId="{4CB41337-98FA-4D64-915E-B878F91F3235}" srcId="{733C249A-8218-455B-AB43-DD31E94B49AF}" destId="{8B23B5F1-B311-4131-8710-568371522164}" srcOrd="1" destOrd="0" parTransId="{D401EE7F-6AEB-4CA7-B69C-6C7011BCC4EE}" sibTransId="{FC6CD4ED-CE34-4F44-8B94-06A5F8A428E7}"/>
    <dgm:cxn modelId="{2E766A72-0102-1B4A-8942-6F1D538CB743}" type="presOf" srcId="{673A4F6B-1EBF-410D-971A-BCCA4D93CB7B}" destId="{4F90F01F-7425-0646-8017-6086DE8FB76F}" srcOrd="0" destOrd="0" presId="urn:microsoft.com/office/officeart/2005/8/layout/vList2"/>
    <dgm:cxn modelId="{34BFDFB4-0FDC-9D46-BCFF-76F47D341047}" type="presOf" srcId="{8B23B5F1-B311-4131-8710-568371522164}" destId="{E978E5B0-F6DA-674D-9F88-57D562D23A8E}" srcOrd="0" destOrd="1" presId="urn:microsoft.com/office/officeart/2005/8/layout/vList2"/>
    <dgm:cxn modelId="{CD1257C4-EB94-437A-A67A-D628D9B5EA1C}" srcId="{673A4F6B-1EBF-410D-971A-BCCA4D93CB7B}" destId="{46309F4B-C0F2-459E-A150-C60D373F5924}" srcOrd="0" destOrd="0" parTransId="{A130CFD4-F162-4943-9237-2B390B7ACFE7}" sibTransId="{CA63F1E6-ABC3-4510-90E8-763D9B367C24}"/>
    <dgm:cxn modelId="{D35AA2D1-5AC2-4F1C-92F2-064868E81328}" srcId="{733C249A-8218-455B-AB43-DD31E94B49AF}" destId="{1D267A58-9A89-46AF-A506-BA128F57EC1F}" srcOrd="0" destOrd="0" parTransId="{9C627DE9-7068-406F-AE51-CA7DE8758621}" sibTransId="{D41F0185-B7EB-4162-AE17-15C35950ED6D}"/>
    <dgm:cxn modelId="{01243EE1-D9F5-014E-A0E5-948777901700}" type="presOf" srcId="{46309F4B-C0F2-459E-A150-C60D373F5924}" destId="{6DCD868E-7CA8-B442-A28F-2F6E310E2DCD}" srcOrd="0" destOrd="0" presId="urn:microsoft.com/office/officeart/2005/8/layout/vList2"/>
    <dgm:cxn modelId="{F2232942-0C19-BD48-AF34-301A566BCEC1}" type="presParOf" srcId="{4F90F01F-7425-0646-8017-6086DE8FB76F}" destId="{6DCD868E-7CA8-B442-A28F-2F6E310E2DCD}" srcOrd="0" destOrd="0" presId="urn:microsoft.com/office/officeart/2005/8/layout/vList2"/>
    <dgm:cxn modelId="{402DB160-D9C4-3E41-823E-AB33CEB2A5FD}" type="presParOf" srcId="{4F90F01F-7425-0646-8017-6086DE8FB76F}" destId="{3830829C-EE92-AC4B-A9E4-565BB95CF281}" srcOrd="1" destOrd="0" presId="urn:microsoft.com/office/officeart/2005/8/layout/vList2"/>
    <dgm:cxn modelId="{8D05D67E-4C99-414F-9D23-F39C48A48386}" type="presParOf" srcId="{4F90F01F-7425-0646-8017-6086DE8FB76F}" destId="{A56A4FAC-97E0-0C4D-9002-0AD5DED00025}" srcOrd="2" destOrd="0" presId="urn:microsoft.com/office/officeart/2005/8/layout/vList2"/>
    <dgm:cxn modelId="{1167062A-9423-D844-A609-00169337A36A}" type="presParOf" srcId="{4F90F01F-7425-0646-8017-6086DE8FB76F}" destId="{E978E5B0-F6DA-674D-9F88-57D562D23A8E}"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6575D91-8746-4A33-80C9-E2D762B6C804}"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E60F802-7C6E-4E63-8D88-7094BAA0FCAD}">
      <dgm:prSet/>
      <dgm:spPr/>
      <dgm:t>
        <a:bodyPr/>
        <a:lstStyle/>
        <a:p>
          <a:r>
            <a:rPr lang="en-US"/>
            <a:t>Dataset: Montgomery County, MD. "Crash Reporting - Drivers Data." Data.gov. [Link](</a:t>
          </a:r>
          <a:r>
            <a:rPr lang="en-US" u="sng"/>
            <a:t>https://catalog.data.gov/dataset/crash-reporting-drivers-data</a:t>
          </a:r>
          <a:r>
            <a:rPr lang="en-US"/>
            <a:t>)</a:t>
          </a:r>
        </a:p>
      </dgm:t>
    </dgm:pt>
    <dgm:pt modelId="{B9DE8CE9-B699-453B-BB40-BCD38B1CA520}" type="parTrans" cxnId="{5D23F6B9-B202-4F22-ACAA-76776DA8C7BC}">
      <dgm:prSet/>
      <dgm:spPr/>
      <dgm:t>
        <a:bodyPr/>
        <a:lstStyle/>
        <a:p>
          <a:endParaRPr lang="en-US"/>
        </a:p>
      </dgm:t>
    </dgm:pt>
    <dgm:pt modelId="{476A14B4-59DB-46EE-BA47-87DCBD9643AF}" type="sibTrans" cxnId="{5D23F6B9-B202-4F22-ACAA-76776DA8C7BC}">
      <dgm:prSet/>
      <dgm:spPr/>
      <dgm:t>
        <a:bodyPr/>
        <a:lstStyle/>
        <a:p>
          <a:endParaRPr lang="en-US"/>
        </a:p>
      </dgm:t>
    </dgm:pt>
    <dgm:pt modelId="{4C58AD74-8C3D-49F0-9FBE-1BF575F4A27E}">
      <dgm:prSet/>
      <dgm:spPr/>
      <dgm:t>
        <a:bodyPr/>
        <a:lstStyle/>
        <a:p>
          <a:r>
            <a:rPr lang="en-US"/>
            <a:t>Tools: Python, Pandas, NumPy, Matplotlib, Seaborn, OS.</a:t>
          </a:r>
        </a:p>
      </dgm:t>
    </dgm:pt>
    <dgm:pt modelId="{E0C27B65-48A3-4581-A0B9-87149F1AC389}" type="parTrans" cxnId="{BD8A55B2-6352-4E9C-8DAB-8EF55E8B88D8}">
      <dgm:prSet/>
      <dgm:spPr/>
      <dgm:t>
        <a:bodyPr/>
        <a:lstStyle/>
        <a:p>
          <a:endParaRPr lang="en-US"/>
        </a:p>
      </dgm:t>
    </dgm:pt>
    <dgm:pt modelId="{933A809E-3DFA-422C-B9A9-5D305BEA6F9B}" type="sibTrans" cxnId="{BD8A55B2-6352-4E9C-8DAB-8EF55E8B88D8}">
      <dgm:prSet/>
      <dgm:spPr/>
      <dgm:t>
        <a:bodyPr/>
        <a:lstStyle/>
        <a:p>
          <a:endParaRPr lang="en-US"/>
        </a:p>
      </dgm:t>
    </dgm:pt>
    <dgm:pt modelId="{93C994F5-9056-4ACD-B82A-B350CA3BC469}" type="pres">
      <dgm:prSet presAssocID="{46575D91-8746-4A33-80C9-E2D762B6C804}" presName="root" presStyleCnt="0">
        <dgm:presLayoutVars>
          <dgm:dir/>
          <dgm:resizeHandles val="exact"/>
        </dgm:presLayoutVars>
      </dgm:prSet>
      <dgm:spPr/>
    </dgm:pt>
    <dgm:pt modelId="{8A00FA41-374C-407D-8AC4-C88281FE9239}" type="pres">
      <dgm:prSet presAssocID="{8E60F802-7C6E-4E63-8D88-7094BAA0FCAD}" presName="compNode" presStyleCnt="0"/>
      <dgm:spPr/>
    </dgm:pt>
    <dgm:pt modelId="{8D90FC27-7F6C-407F-B2B6-BB3CFB37E41D}" type="pres">
      <dgm:prSet presAssocID="{8E60F802-7C6E-4E63-8D88-7094BAA0FCAD}"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671DE8B4-1C12-4133-A543-EAA8E72A88C1}" type="pres">
      <dgm:prSet presAssocID="{8E60F802-7C6E-4E63-8D88-7094BAA0FCAD}" presName="spaceRect" presStyleCnt="0"/>
      <dgm:spPr/>
    </dgm:pt>
    <dgm:pt modelId="{04659F7B-7CE8-4CE5-94ED-C6E70176C26B}" type="pres">
      <dgm:prSet presAssocID="{8E60F802-7C6E-4E63-8D88-7094BAA0FCAD}" presName="textRect" presStyleLbl="revTx" presStyleIdx="0" presStyleCnt="2">
        <dgm:presLayoutVars>
          <dgm:chMax val="1"/>
          <dgm:chPref val="1"/>
        </dgm:presLayoutVars>
      </dgm:prSet>
      <dgm:spPr/>
    </dgm:pt>
    <dgm:pt modelId="{C1545B76-C31E-4E01-A5D2-52C7F5441D92}" type="pres">
      <dgm:prSet presAssocID="{476A14B4-59DB-46EE-BA47-87DCBD9643AF}" presName="sibTrans" presStyleCnt="0"/>
      <dgm:spPr/>
    </dgm:pt>
    <dgm:pt modelId="{06C2D30F-404A-4A71-9F67-FB34EAF037B4}" type="pres">
      <dgm:prSet presAssocID="{4C58AD74-8C3D-49F0-9FBE-1BF575F4A27E}" presName="compNode" presStyleCnt="0"/>
      <dgm:spPr/>
    </dgm:pt>
    <dgm:pt modelId="{5A076232-E4A0-492F-BA52-54CC66909F6A}" type="pres">
      <dgm:prSet presAssocID="{4C58AD74-8C3D-49F0-9FBE-1BF575F4A27E}"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anda"/>
        </a:ext>
      </dgm:extLst>
    </dgm:pt>
    <dgm:pt modelId="{70A879FB-3236-42F2-98EB-81EBEE2FF86C}" type="pres">
      <dgm:prSet presAssocID="{4C58AD74-8C3D-49F0-9FBE-1BF575F4A27E}" presName="spaceRect" presStyleCnt="0"/>
      <dgm:spPr/>
    </dgm:pt>
    <dgm:pt modelId="{893DB6C8-06F4-4EF0-8865-7FAAA01C2BC3}" type="pres">
      <dgm:prSet presAssocID="{4C58AD74-8C3D-49F0-9FBE-1BF575F4A27E}" presName="textRect" presStyleLbl="revTx" presStyleIdx="1" presStyleCnt="2">
        <dgm:presLayoutVars>
          <dgm:chMax val="1"/>
          <dgm:chPref val="1"/>
        </dgm:presLayoutVars>
      </dgm:prSet>
      <dgm:spPr/>
    </dgm:pt>
  </dgm:ptLst>
  <dgm:cxnLst>
    <dgm:cxn modelId="{F989C955-5018-4571-8B6E-7A000FDD0D2B}" type="presOf" srcId="{46575D91-8746-4A33-80C9-E2D762B6C804}" destId="{93C994F5-9056-4ACD-B82A-B350CA3BC469}" srcOrd="0" destOrd="0" presId="urn:microsoft.com/office/officeart/2018/2/layout/IconLabelList"/>
    <dgm:cxn modelId="{B90DD493-D891-4F16-B95A-7747D1990B3A}" type="presOf" srcId="{8E60F802-7C6E-4E63-8D88-7094BAA0FCAD}" destId="{04659F7B-7CE8-4CE5-94ED-C6E70176C26B}" srcOrd="0" destOrd="0" presId="urn:microsoft.com/office/officeart/2018/2/layout/IconLabelList"/>
    <dgm:cxn modelId="{BD8A55B2-6352-4E9C-8DAB-8EF55E8B88D8}" srcId="{46575D91-8746-4A33-80C9-E2D762B6C804}" destId="{4C58AD74-8C3D-49F0-9FBE-1BF575F4A27E}" srcOrd="1" destOrd="0" parTransId="{E0C27B65-48A3-4581-A0B9-87149F1AC389}" sibTransId="{933A809E-3DFA-422C-B9A9-5D305BEA6F9B}"/>
    <dgm:cxn modelId="{5D23F6B9-B202-4F22-ACAA-76776DA8C7BC}" srcId="{46575D91-8746-4A33-80C9-E2D762B6C804}" destId="{8E60F802-7C6E-4E63-8D88-7094BAA0FCAD}" srcOrd="0" destOrd="0" parTransId="{B9DE8CE9-B699-453B-BB40-BCD38B1CA520}" sibTransId="{476A14B4-59DB-46EE-BA47-87DCBD9643AF}"/>
    <dgm:cxn modelId="{6FD72CD0-62E1-47CA-A2A4-7ADFCB99E4F0}" type="presOf" srcId="{4C58AD74-8C3D-49F0-9FBE-1BF575F4A27E}" destId="{893DB6C8-06F4-4EF0-8865-7FAAA01C2BC3}" srcOrd="0" destOrd="0" presId="urn:microsoft.com/office/officeart/2018/2/layout/IconLabelList"/>
    <dgm:cxn modelId="{31FF90CF-0E83-4363-99B6-708B3C9772C0}" type="presParOf" srcId="{93C994F5-9056-4ACD-B82A-B350CA3BC469}" destId="{8A00FA41-374C-407D-8AC4-C88281FE9239}" srcOrd="0" destOrd="0" presId="urn:microsoft.com/office/officeart/2018/2/layout/IconLabelList"/>
    <dgm:cxn modelId="{19D49C9A-BAFF-41BE-9CFB-E0074B3209FF}" type="presParOf" srcId="{8A00FA41-374C-407D-8AC4-C88281FE9239}" destId="{8D90FC27-7F6C-407F-B2B6-BB3CFB37E41D}" srcOrd="0" destOrd="0" presId="urn:microsoft.com/office/officeart/2018/2/layout/IconLabelList"/>
    <dgm:cxn modelId="{0F49B93A-7C03-4D26-8AC1-27563A5F7E3D}" type="presParOf" srcId="{8A00FA41-374C-407D-8AC4-C88281FE9239}" destId="{671DE8B4-1C12-4133-A543-EAA8E72A88C1}" srcOrd="1" destOrd="0" presId="urn:microsoft.com/office/officeart/2018/2/layout/IconLabelList"/>
    <dgm:cxn modelId="{50F1A861-ED29-45CA-98CB-415CFE1709BF}" type="presParOf" srcId="{8A00FA41-374C-407D-8AC4-C88281FE9239}" destId="{04659F7B-7CE8-4CE5-94ED-C6E70176C26B}" srcOrd="2" destOrd="0" presId="urn:microsoft.com/office/officeart/2018/2/layout/IconLabelList"/>
    <dgm:cxn modelId="{30FD9474-BF98-4FAB-8DEE-395B24916A02}" type="presParOf" srcId="{93C994F5-9056-4ACD-B82A-B350CA3BC469}" destId="{C1545B76-C31E-4E01-A5D2-52C7F5441D92}" srcOrd="1" destOrd="0" presId="urn:microsoft.com/office/officeart/2018/2/layout/IconLabelList"/>
    <dgm:cxn modelId="{429679C0-8C5F-4DEE-A055-2EB938E3BFD4}" type="presParOf" srcId="{93C994F5-9056-4ACD-B82A-B350CA3BC469}" destId="{06C2D30F-404A-4A71-9F67-FB34EAF037B4}" srcOrd="2" destOrd="0" presId="urn:microsoft.com/office/officeart/2018/2/layout/IconLabelList"/>
    <dgm:cxn modelId="{DE1BBF7B-C7A2-4DAF-942C-1182DF4D9AA1}" type="presParOf" srcId="{06C2D30F-404A-4A71-9F67-FB34EAF037B4}" destId="{5A076232-E4A0-492F-BA52-54CC66909F6A}" srcOrd="0" destOrd="0" presId="urn:microsoft.com/office/officeart/2018/2/layout/IconLabelList"/>
    <dgm:cxn modelId="{75A2ED83-635F-4482-83D9-111CB8A1E11D}" type="presParOf" srcId="{06C2D30F-404A-4A71-9F67-FB34EAF037B4}" destId="{70A879FB-3236-42F2-98EB-81EBEE2FF86C}" srcOrd="1" destOrd="0" presId="urn:microsoft.com/office/officeart/2018/2/layout/IconLabelList"/>
    <dgm:cxn modelId="{4EAB4D87-C308-467A-93A4-CD006820D9E1}" type="presParOf" srcId="{06C2D30F-404A-4A71-9F67-FB34EAF037B4}" destId="{893DB6C8-06F4-4EF0-8865-7FAAA01C2BC3}"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77B70A-5B3A-4646-9F06-D6DC0A5E694D}">
      <dsp:nvSpPr>
        <dsp:cNvPr id="0" name=""/>
        <dsp:cNvSpPr/>
      </dsp:nvSpPr>
      <dsp:spPr>
        <a:xfrm>
          <a:off x="0" y="3490581"/>
          <a:ext cx="5913437" cy="1145686"/>
        </a:xfrm>
        <a:prstGeom prst="rect">
          <a:avLst/>
        </a:prstGeom>
        <a:gradFill rotWithShape="0">
          <a:gsLst>
            <a:gs pos="0">
              <a:schemeClr val="accent2">
                <a:hueOff val="0"/>
                <a:satOff val="0"/>
                <a:lumOff val="0"/>
                <a:alphaOff val="0"/>
                <a:tint val="98000"/>
                <a:satMod val="110000"/>
                <a:lumMod val="104000"/>
              </a:schemeClr>
            </a:gs>
            <a:gs pos="69000">
              <a:schemeClr val="accent2">
                <a:hueOff val="0"/>
                <a:satOff val="0"/>
                <a:lumOff val="0"/>
                <a:alphaOff val="0"/>
                <a:shade val="88000"/>
                <a:satMod val="130000"/>
                <a:lumMod val="92000"/>
              </a:schemeClr>
            </a:gs>
            <a:gs pos="100000">
              <a:schemeClr val="accent2">
                <a:hueOff val="0"/>
                <a:satOff val="0"/>
                <a:lumOff val="0"/>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b="1" kern="1200"/>
            <a:t>Hypothesis:</a:t>
          </a:r>
          <a:endParaRPr lang="en-US" sz="1500" kern="1200"/>
        </a:p>
      </dsp:txBody>
      <dsp:txXfrm>
        <a:off x="0" y="3490581"/>
        <a:ext cx="5913437" cy="618670"/>
      </dsp:txXfrm>
    </dsp:sp>
    <dsp:sp modelId="{79675938-371C-E241-B08A-216175D7AFE6}">
      <dsp:nvSpPr>
        <dsp:cNvPr id="0" name=""/>
        <dsp:cNvSpPr/>
      </dsp:nvSpPr>
      <dsp:spPr>
        <a:xfrm>
          <a:off x="0" y="4086338"/>
          <a:ext cx="2956718" cy="527015"/>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en-US" sz="1200" b="1" kern="1200"/>
            <a:t>Null:</a:t>
          </a:r>
          <a:r>
            <a:rPr lang="en-US" sz="1200" kern="1200"/>
            <a:t> Distraction has no effect on fault rates or damage severity.</a:t>
          </a:r>
        </a:p>
      </dsp:txBody>
      <dsp:txXfrm>
        <a:off x="0" y="4086338"/>
        <a:ext cx="2956718" cy="527015"/>
      </dsp:txXfrm>
    </dsp:sp>
    <dsp:sp modelId="{CD650A08-8FC3-A14C-9410-B15BB942AE9E}">
      <dsp:nvSpPr>
        <dsp:cNvPr id="0" name=""/>
        <dsp:cNvSpPr/>
      </dsp:nvSpPr>
      <dsp:spPr>
        <a:xfrm>
          <a:off x="2956718" y="4086338"/>
          <a:ext cx="2956718" cy="527015"/>
        </a:xfrm>
        <a:prstGeom prst="rect">
          <a:avLst/>
        </a:prstGeom>
        <a:solidFill>
          <a:schemeClr val="accent2">
            <a:tint val="40000"/>
            <a:alpha val="90000"/>
            <a:hueOff val="-1048205"/>
            <a:satOff val="4201"/>
            <a:lumOff val="624"/>
            <a:alphaOff val="0"/>
          </a:schemeClr>
        </a:solidFill>
        <a:ln w="9525" cap="flat" cmpd="sng" algn="ctr">
          <a:solidFill>
            <a:schemeClr val="accent2">
              <a:tint val="40000"/>
              <a:alpha val="90000"/>
              <a:hueOff val="-1048205"/>
              <a:satOff val="4201"/>
              <a:lumOff val="624"/>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en-US" sz="1200" b="1" kern="1200"/>
            <a:t>Alternative:</a:t>
          </a:r>
          <a:r>
            <a:rPr lang="en-US" sz="1200" kern="1200"/>
            <a:t> Distracted drivers are more likely to be at fault and cause more severe damage.</a:t>
          </a:r>
        </a:p>
      </dsp:txBody>
      <dsp:txXfrm>
        <a:off x="2956718" y="4086338"/>
        <a:ext cx="2956718" cy="527015"/>
      </dsp:txXfrm>
    </dsp:sp>
    <dsp:sp modelId="{7FA5C4CB-A306-E048-B469-FF444A8422A5}">
      <dsp:nvSpPr>
        <dsp:cNvPr id="0" name=""/>
        <dsp:cNvSpPr/>
      </dsp:nvSpPr>
      <dsp:spPr>
        <a:xfrm rot="10800000">
          <a:off x="0" y="1745700"/>
          <a:ext cx="5913437" cy="1762066"/>
        </a:xfrm>
        <a:prstGeom prst="upArrowCallout">
          <a:avLst/>
        </a:prstGeom>
        <a:gradFill rotWithShape="0">
          <a:gsLst>
            <a:gs pos="0">
              <a:schemeClr val="accent2">
                <a:hueOff val="-1696488"/>
                <a:satOff val="5592"/>
                <a:lumOff val="5981"/>
                <a:alphaOff val="0"/>
                <a:tint val="98000"/>
                <a:satMod val="110000"/>
                <a:lumMod val="104000"/>
              </a:schemeClr>
            </a:gs>
            <a:gs pos="69000">
              <a:schemeClr val="accent2">
                <a:hueOff val="-1696488"/>
                <a:satOff val="5592"/>
                <a:lumOff val="5981"/>
                <a:alphaOff val="0"/>
                <a:shade val="88000"/>
                <a:satMod val="130000"/>
                <a:lumMod val="92000"/>
              </a:schemeClr>
            </a:gs>
            <a:gs pos="100000">
              <a:schemeClr val="accent2">
                <a:hueOff val="-1696488"/>
                <a:satOff val="5592"/>
                <a:lumOff val="5981"/>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b="1" kern="1200"/>
            <a:t>Key Variables:</a:t>
          </a:r>
          <a:endParaRPr lang="en-US" sz="1500" kern="1200"/>
        </a:p>
      </dsp:txBody>
      <dsp:txXfrm rot="-10800000">
        <a:off x="0" y="1745700"/>
        <a:ext cx="5913437" cy="618485"/>
      </dsp:txXfrm>
    </dsp:sp>
    <dsp:sp modelId="{89CE0525-81E2-F641-8A74-D289140296D5}">
      <dsp:nvSpPr>
        <dsp:cNvPr id="0" name=""/>
        <dsp:cNvSpPr/>
      </dsp:nvSpPr>
      <dsp:spPr>
        <a:xfrm>
          <a:off x="0" y="2364185"/>
          <a:ext cx="2956718" cy="526857"/>
        </a:xfrm>
        <a:prstGeom prst="rect">
          <a:avLst/>
        </a:prstGeom>
        <a:solidFill>
          <a:schemeClr val="accent2">
            <a:tint val="40000"/>
            <a:alpha val="90000"/>
            <a:hueOff val="-2096409"/>
            <a:satOff val="8402"/>
            <a:lumOff val="1248"/>
            <a:alphaOff val="0"/>
          </a:schemeClr>
        </a:solidFill>
        <a:ln w="9525" cap="flat" cmpd="sng" algn="ctr">
          <a:solidFill>
            <a:schemeClr val="accent2">
              <a:tint val="40000"/>
              <a:alpha val="90000"/>
              <a:hueOff val="-2096409"/>
              <a:satOff val="8402"/>
              <a:lumOff val="1248"/>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en-US" sz="1200" b="1" kern="1200"/>
            <a:t>Independent</a:t>
          </a:r>
          <a:r>
            <a:rPr lang="en-US" sz="1200" kern="1200"/>
            <a:t>: Distraction Status (Distracted vs. Not Distracted).</a:t>
          </a:r>
        </a:p>
      </dsp:txBody>
      <dsp:txXfrm>
        <a:off x="0" y="2364185"/>
        <a:ext cx="2956718" cy="526857"/>
      </dsp:txXfrm>
    </dsp:sp>
    <dsp:sp modelId="{B228CA8A-3D21-1A49-AD2C-6E7226595E82}">
      <dsp:nvSpPr>
        <dsp:cNvPr id="0" name=""/>
        <dsp:cNvSpPr/>
      </dsp:nvSpPr>
      <dsp:spPr>
        <a:xfrm>
          <a:off x="2956718" y="2364185"/>
          <a:ext cx="2956718" cy="526857"/>
        </a:xfrm>
        <a:prstGeom prst="rect">
          <a:avLst/>
        </a:prstGeom>
        <a:solidFill>
          <a:schemeClr val="accent2">
            <a:tint val="40000"/>
            <a:alpha val="90000"/>
            <a:hueOff val="-3144614"/>
            <a:satOff val="12603"/>
            <a:lumOff val="1871"/>
            <a:alphaOff val="0"/>
          </a:schemeClr>
        </a:solidFill>
        <a:ln w="9525" cap="flat" cmpd="sng" algn="ctr">
          <a:solidFill>
            <a:schemeClr val="accent2">
              <a:tint val="40000"/>
              <a:alpha val="90000"/>
              <a:hueOff val="-3144614"/>
              <a:satOff val="12603"/>
              <a:lumOff val="1871"/>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en-US" sz="1200" b="1" kern="1200"/>
            <a:t>Dependent:</a:t>
          </a:r>
          <a:r>
            <a:rPr lang="en-US" sz="1200" kern="1200"/>
            <a:t> Fault Status (Binary) and Vehicle Damage (Ordinal 0-4).</a:t>
          </a:r>
        </a:p>
      </dsp:txBody>
      <dsp:txXfrm>
        <a:off x="2956718" y="2364185"/>
        <a:ext cx="2956718" cy="526857"/>
      </dsp:txXfrm>
    </dsp:sp>
    <dsp:sp modelId="{F5D033D3-10A9-154A-976B-C1EB3D4080E1}">
      <dsp:nvSpPr>
        <dsp:cNvPr id="0" name=""/>
        <dsp:cNvSpPr/>
      </dsp:nvSpPr>
      <dsp:spPr>
        <a:xfrm rot="10800000">
          <a:off x="0" y="819"/>
          <a:ext cx="5913437" cy="1762066"/>
        </a:xfrm>
        <a:prstGeom prst="upArrowCallout">
          <a:avLst/>
        </a:prstGeom>
        <a:gradFill rotWithShape="0">
          <a:gsLst>
            <a:gs pos="0">
              <a:schemeClr val="accent2">
                <a:hueOff val="-3392975"/>
                <a:satOff val="11185"/>
                <a:lumOff val="11961"/>
                <a:alphaOff val="0"/>
                <a:tint val="98000"/>
                <a:satMod val="110000"/>
                <a:lumMod val="104000"/>
              </a:schemeClr>
            </a:gs>
            <a:gs pos="69000">
              <a:schemeClr val="accent2">
                <a:hueOff val="-3392975"/>
                <a:satOff val="11185"/>
                <a:lumOff val="11961"/>
                <a:alphaOff val="0"/>
                <a:shade val="88000"/>
                <a:satMod val="130000"/>
                <a:lumMod val="92000"/>
              </a:schemeClr>
            </a:gs>
            <a:gs pos="100000">
              <a:schemeClr val="accent2">
                <a:hueOff val="-3392975"/>
                <a:satOff val="11185"/>
                <a:lumOff val="11961"/>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666750">
            <a:lnSpc>
              <a:spcPct val="90000"/>
            </a:lnSpc>
            <a:spcBef>
              <a:spcPct val="0"/>
            </a:spcBef>
            <a:spcAft>
              <a:spcPct val="35000"/>
            </a:spcAft>
            <a:buNone/>
          </a:pPr>
          <a:r>
            <a:rPr lang="en-US" sz="1500" b="1" kern="1200"/>
            <a:t>Data Source:  </a:t>
          </a:r>
          <a:r>
            <a:rPr lang="en-US" sz="1500" kern="1200"/>
            <a:t>“Crash Reporting- Drivers Data” (Montgomery County, MD) from Data.gov</a:t>
          </a:r>
        </a:p>
      </dsp:txBody>
      <dsp:txXfrm rot="-10800000">
        <a:off x="0" y="819"/>
        <a:ext cx="5913437" cy="618485"/>
      </dsp:txXfrm>
    </dsp:sp>
    <dsp:sp modelId="{9479A8E7-5757-D341-AA07-C587EFF73A36}">
      <dsp:nvSpPr>
        <dsp:cNvPr id="0" name=""/>
        <dsp:cNvSpPr/>
      </dsp:nvSpPr>
      <dsp:spPr>
        <a:xfrm>
          <a:off x="0" y="619304"/>
          <a:ext cx="5913437" cy="526857"/>
        </a:xfrm>
        <a:prstGeom prst="rect">
          <a:avLst/>
        </a:prstGeom>
        <a:solidFill>
          <a:schemeClr val="accent2">
            <a:tint val="40000"/>
            <a:alpha val="90000"/>
            <a:hueOff val="-4192819"/>
            <a:satOff val="16804"/>
            <a:lumOff val="2495"/>
            <a:alphaOff val="0"/>
          </a:schemeClr>
        </a:solidFill>
        <a:ln w="9525" cap="flat" cmpd="sng" algn="ctr">
          <a:solidFill>
            <a:schemeClr val="accent2">
              <a:tint val="40000"/>
              <a:alpha val="90000"/>
              <a:hueOff val="-4192819"/>
              <a:satOff val="16804"/>
              <a:lumOff val="2495"/>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en-US" sz="1200" kern="1200"/>
            <a:t>Size: ~160,000 drivers analyzed</a:t>
          </a:r>
        </a:p>
      </dsp:txBody>
      <dsp:txXfrm>
        <a:off x="0" y="619304"/>
        <a:ext cx="5913437" cy="52685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B7BE35-85F0-814C-B917-0F8085544400}">
      <dsp:nvSpPr>
        <dsp:cNvPr id="0" name=""/>
        <dsp:cNvSpPr/>
      </dsp:nvSpPr>
      <dsp:spPr>
        <a:xfrm>
          <a:off x="1182687" y="1449"/>
          <a:ext cx="4730749" cy="1485317"/>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1790" tIns="377271" rIns="91790" bIns="377271" numCol="1" spcCol="1270" anchor="ctr" anchorCtr="0">
          <a:noAutofit/>
        </a:bodyPr>
        <a:lstStyle/>
        <a:p>
          <a:pPr marL="0" lvl="0" indent="0" algn="l" defTabSz="488950">
            <a:lnSpc>
              <a:spcPct val="90000"/>
            </a:lnSpc>
            <a:spcBef>
              <a:spcPct val="0"/>
            </a:spcBef>
            <a:spcAft>
              <a:spcPct val="35000"/>
            </a:spcAft>
            <a:buNone/>
          </a:pPr>
          <a:r>
            <a:rPr lang="en-US" sz="1100" kern="1200"/>
            <a:t>Approach: Used resampling techniques (5,000 iterations) to avoid assumptions about data normality.</a:t>
          </a:r>
        </a:p>
      </dsp:txBody>
      <dsp:txXfrm>
        <a:off x="1182687" y="1449"/>
        <a:ext cx="4730749" cy="1485317"/>
      </dsp:txXfrm>
    </dsp:sp>
    <dsp:sp modelId="{166A3BF7-443B-4949-B69B-BE5BC5AEA94C}">
      <dsp:nvSpPr>
        <dsp:cNvPr id="0" name=""/>
        <dsp:cNvSpPr/>
      </dsp:nvSpPr>
      <dsp:spPr>
        <a:xfrm>
          <a:off x="0" y="1449"/>
          <a:ext cx="1182687" cy="1485317"/>
        </a:xfrm>
        <a:prstGeom prst="rect">
          <a:avLst/>
        </a:prstGeom>
        <a:gradFill rotWithShape="0">
          <a:gsLst>
            <a:gs pos="0">
              <a:schemeClr val="accent2">
                <a:hueOff val="0"/>
                <a:satOff val="0"/>
                <a:lumOff val="0"/>
                <a:alphaOff val="0"/>
                <a:tint val="98000"/>
                <a:satMod val="110000"/>
                <a:lumMod val="104000"/>
              </a:schemeClr>
            </a:gs>
            <a:gs pos="69000">
              <a:schemeClr val="accent2">
                <a:hueOff val="0"/>
                <a:satOff val="0"/>
                <a:lumOff val="0"/>
                <a:alphaOff val="0"/>
                <a:shade val="88000"/>
                <a:satMod val="130000"/>
                <a:lumMod val="92000"/>
              </a:schemeClr>
            </a:gs>
            <a:gs pos="100000">
              <a:schemeClr val="accent2">
                <a:hueOff val="0"/>
                <a:satOff val="0"/>
                <a:lumOff val="0"/>
                <a:alphaOff val="0"/>
                <a:shade val="78000"/>
                <a:satMod val="130000"/>
                <a:lumMod val="92000"/>
              </a:schemeClr>
            </a:gs>
          </a:gsLst>
          <a:lin ang="5400000" scaled="0"/>
        </a:gradFill>
        <a:ln w="9525" cap="flat" cmpd="sng" algn="ctr">
          <a:solidFill>
            <a:schemeClr val="accent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2584" tIns="146716" rIns="62584" bIns="146716" numCol="1" spcCol="1270" anchor="ctr" anchorCtr="0">
          <a:noAutofit/>
        </a:bodyPr>
        <a:lstStyle/>
        <a:p>
          <a:pPr marL="0" lvl="0" indent="0" algn="ctr" defTabSz="622300">
            <a:lnSpc>
              <a:spcPct val="90000"/>
            </a:lnSpc>
            <a:spcBef>
              <a:spcPct val="0"/>
            </a:spcBef>
            <a:spcAft>
              <a:spcPct val="35000"/>
            </a:spcAft>
            <a:buNone/>
          </a:pPr>
          <a:r>
            <a:rPr lang="en-US" sz="1400" kern="1200"/>
            <a:t>Approach</a:t>
          </a:r>
        </a:p>
      </dsp:txBody>
      <dsp:txXfrm>
        <a:off x="0" y="1449"/>
        <a:ext cx="1182687" cy="1485317"/>
      </dsp:txXfrm>
    </dsp:sp>
    <dsp:sp modelId="{FDF45F5A-1CB8-D844-A33B-D02070DB5B89}">
      <dsp:nvSpPr>
        <dsp:cNvPr id="0" name=""/>
        <dsp:cNvSpPr/>
      </dsp:nvSpPr>
      <dsp:spPr>
        <a:xfrm>
          <a:off x="1182687" y="1575885"/>
          <a:ext cx="4730749" cy="1485317"/>
        </a:xfrm>
        <a:prstGeom prst="rect">
          <a:avLst/>
        </a:prstGeom>
        <a:solidFill>
          <a:schemeClr val="accent2">
            <a:tint val="40000"/>
            <a:alpha val="90000"/>
            <a:hueOff val="-2096409"/>
            <a:satOff val="8402"/>
            <a:lumOff val="1248"/>
            <a:alphaOff val="0"/>
          </a:schemeClr>
        </a:solidFill>
        <a:ln w="9525" cap="flat" cmpd="sng" algn="ctr">
          <a:solidFill>
            <a:schemeClr val="accent2">
              <a:tint val="40000"/>
              <a:alpha val="90000"/>
              <a:hueOff val="-2096409"/>
              <a:satOff val="8402"/>
              <a:lumOff val="1248"/>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1790" tIns="377271" rIns="91790" bIns="377271" numCol="1" spcCol="1270" anchor="t" anchorCtr="0">
          <a:noAutofit/>
        </a:bodyPr>
        <a:lstStyle/>
        <a:p>
          <a:pPr marL="0" lvl="0" indent="0" algn="l" defTabSz="488950">
            <a:lnSpc>
              <a:spcPct val="90000"/>
            </a:lnSpc>
            <a:spcBef>
              <a:spcPct val="0"/>
            </a:spcBef>
            <a:spcAft>
              <a:spcPct val="35000"/>
            </a:spcAft>
            <a:buNone/>
          </a:pPr>
          <a:r>
            <a:rPr lang="en-US" sz="1100" kern="1200" dirty="0"/>
            <a:t>Metric 1: Fault Rate (Difference in Proportions)</a:t>
          </a:r>
        </a:p>
        <a:p>
          <a:pPr marL="57150" lvl="1" indent="-57150" algn="l" defTabSz="400050">
            <a:lnSpc>
              <a:spcPct val="90000"/>
            </a:lnSpc>
            <a:spcBef>
              <a:spcPct val="0"/>
            </a:spcBef>
            <a:spcAft>
              <a:spcPct val="15000"/>
            </a:spcAft>
            <a:buChar char="•"/>
          </a:pPr>
          <a:r>
            <a:rPr lang="en-US" sz="900" kern="1200" dirty="0"/>
            <a:t>Tested via Permutation Test (to establish significance) and Bootstrapping (to estimate uncertainty).</a:t>
          </a:r>
        </a:p>
      </dsp:txBody>
      <dsp:txXfrm>
        <a:off x="1182687" y="1575885"/>
        <a:ext cx="4730749" cy="1485317"/>
      </dsp:txXfrm>
    </dsp:sp>
    <dsp:sp modelId="{FABE14CA-BC11-654C-BFDF-C4A3A20A2B61}">
      <dsp:nvSpPr>
        <dsp:cNvPr id="0" name=""/>
        <dsp:cNvSpPr/>
      </dsp:nvSpPr>
      <dsp:spPr>
        <a:xfrm>
          <a:off x="0" y="1575885"/>
          <a:ext cx="1182687" cy="1485317"/>
        </a:xfrm>
        <a:prstGeom prst="rect">
          <a:avLst/>
        </a:prstGeom>
        <a:gradFill rotWithShape="0">
          <a:gsLst>
            <a:gs pos="0">
              <a:schemeClr val="accent2">
                <a:hueOff val="-1696488"/>
                <a:satOff val="5592"/>
                <a:lumOff val="5981"/>
                <a:alphaOff val="0"/>
                <a:tint val="98000"/>
                <a:satMod val="110000"/>
                <a:lumMod val="104000"/>
              </a:schemeClr>
            </a:gs>
            <a:gs pos="69000">
              <a:schemeClr val="accent2">
                <a:hueOff val="-1696488"/>
                <a:satOff val="5592"/>
                <a:lumOff val="5981"/>
                <a:alphaOff val="0"/>
                <a:shade val="88000"/>
                <a:satMod val="130000"/>
                <a:lumMod val="92000"/>
              </a:schemeClr>
            </a:gs>
            <a:gs pos="100000">
              <a:schemeClr val="accent2">
                <a:hueOff val="-1696488"/>
                <a:satOff val="5592"/>
                <a:lumOff val="5981"/>
                <a:alphaOff val="0"/>
                <a:shade val="78000"/>
                <a:satMod val="130000"/>
                <a:lumMod val="92000"/>
              </a:schemeClr>
            </a:gs>
          </a:gsLst>
          <a:lin ang="5400000" scaled="0"/>
        </a:gradFill>
        <a:ln w="9525" cap="flat" cmpd="sng" algn="ctr">
          <a:solidFill>
            <a:schemeClr val="accent2">
              <a:hueOff val="-1696488"/>
              <a:satOff val="5592"/>
              <a:lumOff val="5981"/>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2584" tIns="146716" rIns="62584" bIns="146716" numCol="1" spcCol="1270" anchor="ctr" anchorCtr="0">
          <a:noAutofit/>
        </a:bodyPr>
        <a:lstStyle/>
        <a:p>
          <a:pPr marL="0" lvl="0" indent="0" algn="ctr" defTabSz="622300">
            <a:lnSpc>
              <a:spcPct val="90000"/>
            </a:lnSpc>
            <a:spcBef>
              <a:spcPct val="0"/>
            </a:spcBef>
            <a:spcAft>
              <a:spcPct val="35000"/>
            </a:spcAft>
            <a:buNone/>
          </a:pPr>
          <a:r>
            <a:rPr lang="en-US" sz="1400" kern="1200"/>
            <a:t>Fault</a:t>
          </a:r>
        </a:p>
      </dsp:txBody>
      <dsp:txXfrm>
        <a:off x="0" y="1575885"/>
        <a:ext cx="1182687" cy="1485317"/>
      </dsp:txXfrm>
    </dsp:sp>
    <dsp:sp modelId="{6A626003-CCE1-284A-8C64-2E4A69A7F908}">
      <dsp:nvSpPr>
        <dsp:cNvPr id="0" name=""/>
        <dsp:cNvSpPr/>
      </dsp:nvSpPr>
      <dsp:spPr>
        <a:xfrm>
          <a:off x="1182687" y="3150321"/>
          <a:ext cx="4730749" cy="1485317"/>
        </a:xfrm>
        <a:prstGeom prst="rect">
          <a:avLst/>
        </a:prstGeom>
        <a:solidFill>
          <a:schemeClr val="accent2">
            <a:tint val="40000"/>
            <a:alpha val="90000"/>
            <a:hueOff val="-4192819"/>
            <a:satOff val="16804"/>
            <a:lumOff val="2495"/>
            <a:alphaOff val="0"/>
          </a:schemeClr>
        </a:solidFill>
        <a:ln w="9525" cap="flat" cmpd="sng" algn="ctr">
          <a:solidFill>
            <a:schemeClr val="accent2">
              <a:tint val="40000"/>
              <a:alpha val="90000"/>
              <a:hueOff val="-4192819"/>
              <a:satOff val="16804"/>
              <a:lumOff val="2495"/>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1790" tIns="377271" rIns="91790" bIns="377271" numCol="1" spcCol="1270" anchor="t" anchorCtr="0">
          <a:noAutofit/>
        </a:bodyPr>
        <a:lstStyle/>
        <a:p>
          <a:pPr marL="0" lvl="0" indent="0" algn="l" defTabSz="488950">
            <a:lnSpc>
              <a:spcPct val="90000"/>
            </a:lnSpc>
            <a:spcBef>
              <a:spcPct val="0"/>
            </a:spcBef>
            <a:spcAft>
              <a:spcPct val="35000"/>
            </a:spcAft>
            <a:buNone/>
          </a:pPr>
          <a:r>
            <a:rPr lang="en-US" sz="1100" kern="1200" dirty="0"/>
            <a:t>Metric 2: Damage Severity (Difference in Medians)</a:t>
          </a:r>
        </a:p>
        <a:p>
          <a:pPr marL="57150" lvl="1" indent="-57150" algn="l" defTabSz="400050">
            <a:lnSpc>
              <a:spcPct val="90000"/>
            </a:lnSpc>
            <a:spcBef>
              <a:spcPct val="0"/>
            </a:spcBef>
            <a:spcAft>
              <a:spcPct val="15000"/>
            </a:spcAft>
            <a:buChar char="•"/>
          </a:pPr>
          <a:r>
            <a:rPr lang="en-US" sz="900" kern="1200" dirty="0"/>
            <a:t>Tested via Bootstrapping only.</a:t>
          </a:r>
        </a:p>
        <a:p>
          <a:pPr marL="57150" lvl="1" indent="-57150" algn="l" defTabSz="400050">
            <a:lnSpc>
              <a:spcPct val="90000"/>
            </a:lnSpc>
            <a:spcBef>
              <a:spcPct val="0"/>
            </a:spcBef>
            <a:spcAft>
              <a:spcPct val="15000"/>
            </a:spcAft>
            <a:buChar char="•"/>
          </a:pPr>
          <a:r>
            <a:rPr lang="en-US" sz="900" kern="1200" dirty="0"/>
            <a:t>Why CLT does not apply:</a:t>
          </a:r>
        </a:p>
        <a:p>
          <a:pPr marL="57150" lvl="1" indent="-57150" algn="l" defTabSz="400050">
            <a:lnSpc>
              <a:spcPct val="90000"/>
            </a:lnSpc>
            <a:spcBef>
              <a:spcPct val="0"/>
            </a:spcBef>
            <a:spcAft>
              <a:spcPct val="15000"/>
            </a:spcAft>
            <a:buNone/>
          </a:pPr>
          <a:r>
            <a:rPr lang="en-US" sz="900" b="0" kern="1200" dirty="0"/>
            <a:t>The damage score is discrete and ordinal (integers 0-4). The sampling distribution of a median from such a distribution is generally not normal, making standard parametric confidence intervals invalid.</a:t>
          </a:r>
          <a:endParaRPr lang="en-US" sz="900" kern="1200" dirty="0"/>
        </a:p>
      </dsp:txBody>
      <dsp:txXfrm>
        <a:off x="1182687" y="3150321"/>
        <a:ext cx="4730749" cy="1485317"/>
      </dsp:txXfrm>
    </dsp:sp>
    <dsp:sp modelId="{714E646F-598F-FE45-9279-41397558E4A3}">
      <dsp:nvSpPr>
        <dsp:cNvPr id="0" name=""/>
        <dsp:cNvSpPr/>
      </dsp:nvSpPr>
      <dsp:spPr>
        <a:xfrm>
          <a:off x="0" y="3150321"/>
          <a:ext cx="1182687" cy="1485317"/>
        </a:xfrm>
        <a:prstGeom prst="rect">
          <a:avLst/>
        </a:prstGeom>
        <a:gradFill rotWithShape="0">
          <a:gsLst>
            <a:gs pos="0">
              <a:schemeClr val="accent2">
                <a:hueOff val="-3392975"/>
                <a:satOff val="11185"/>
                <a:lumOff val="11961"/>
                <a:alphaOff val="0"/>
                <a:tint val="98000"/>
                <a:satMod val="110000"/>
                <a:lumMod val="104000"/>
              </a:schemeClr>
            </a:gs>
            <a:gs pos="69000">
              <a:schemeClr val="accent2">
                <a:hueOff val="-3392975"/>
                <a:satOff val="11185"/>
                <a:lumOff val="11961"/>
                <a:alphaOff val="0"/>
                <a:shade val="88000"/>
                <a:satMod val="130000"/>
                <a:lumMod val="92000"/>
              </a:schemeClr>
            </a:gs>
            <a:gs pos="100000">
              <a:schemeClr val="accent2">
                <a:hueOff val="-3392975"/>
                <a:satOff val="11185"/>
                <a:lumOff val="11961"/>
                <a:alphaOff val="0"/>
                <a:shade val="78000"/>
                <a:satMod val="130000"/>
                <a:lumMod val="92000"/>
              </a:schemeClr>
            </a:gs>
          </a:gsLst>
          <a:lin ang="5400000" scaled="0"/>
        </a:gradFill>
        <a:ln w="9525" cap="flat" cmpd="sng" algn="ctr">
          <a:solidFill>
            <a:schemeClr val="accent2">
              <a:hueOff val="-3392975"/>
              <a:satOff val="11185"/>
              <a:lumOff val="11961"/>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2584" tIns="146716" rIns="62584" bIns="146716" numCol="1" spcCol="1270" anchor="ctr" anchorCtr="0">
          <a:noAutofit/>
        </a:bodyPr>
        <a:lstStyle/>
        <a:p>
          <a:pPr marL="0" lvl="0" indent="0" algn="ctr" defTabSz="622300">
            <a:lnSpc>
              <a:spcPct val="90000"/>
            </a:lnSpc>
            <a:spcBef>
              <a:spcPct val="0"/>
            </a:spcBef>
            <a:spcAft>
              <a:spcPct val="35000"/>
            </a:spcAft>
            <a:buNone/>
          </a:pPr>
          <a:r>
            <a:rPr lang="en-US" sz="1400" kern="1200"/>
            <a:t>Damage</a:t>
          </a:r>
        </a:p>
      </dsp:txBody>
      <dsp:txXfrm>
        <a:off x="0" y="3150321"/>
        <a:ext cx="1182687" cy="148531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D868E-7CA8-B442-A28F-2F6E310E2DCD}">
      <dsp:nvSpPr>
        <dsp:cNvPr id="0" name=""/>
        <dsp:cNvSpPr/>
      </dsp:nvSpPr>
      <dsp:spPr>
        <a:xfrm>
          <a:off x="0" y="70006"/>
          <a:ext cx="5913437" cy="1560780"/>
        </a:xfrm>
        <a:prstGeom prst="roundRect">
          <a:avLst/>
        </a:prstGeom>
        <a:gradFill rotWithShape="0">
          <a:gsLst>
            <a:gs pos="0">
              <a:schemeClr val="accent2">
                <a:hueOff val="0"/>
                <a:satOff val="0"/>
                <a:lumOff val="0"/>
                <a:alphaOff val="0"/>
                <a:tint val="98000"/>
                <a:satMod val="110000"/>
                <a:lumMod val="104000"/>
              </a:schemeClr>
            </a:gs>
            <a:gs pos="69000">
              <a:schemeClr val="accent2">
                <a:hueOff val="0"/>
                <a:satOff val="0"/>
                <a:lumOff val="0"/>
                <a:alphaOff val="0"/>
                <a:shade val="88000"/>
                <a:satMod val="130000"/>
                <a:lumMod val="92000"/>
              </a:schemeClr>
            </a:gs>
            <a:gs pos="100000">
              <a:schemeClr val="accent2">
                <a:hueOff val="0"/>
                <a:satOff val="0"/>
                <a:lumOff val="0"/>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baseline="0" dirty="0"/>
            <a:t>Conclusion:</a:t>
          </a:r>
          <a:r>
            <a:rPr lang="en-US" sz="2300" b="0" i="0" kern="1200" baseline="0" dirty="0"/>
            <a:t> Distraction is a definitive predictor of </a:t>
          </a:r>
          <a:r>
            <a:rPr lang="en-US" sz="2300" b="1" i="0" kern="1200" baseline="0" dirty="0"/>
            <a:t>liability</a:t>
          </a:r>
          <a:r>
            <a:rPr lang="en-US" sz="2300" b="0" i="0" kern="1200" baseline="0" dirty="0"/>
            <a:t> (causing the crash), but it does not guarantee the crash will be more </a:t>
          </a:r>
          <a:r>
            <a:rPr lang="en-US" sz="2300" b="1" i="0" kern="1200" baseline="0" dirty="0"/>
            <a:t>severe</a:t>
          </a:r>
          <a:r>
            <a:rPr lang="en-US" sz="2300" b="0" i="0" kern="1200" baseline="0" dirty="0"/>
            <a:t> than a baseline accident.</a:t>
          </a:r>
          <a:endParaRPr lang="en-US" sz="2300" kern="1200" dirty="0"/>
        </a:p>
      </dsp:txBody>
      <dsp:txXfrm>
        <a:off x="76191" y="146197"/>
        <a:ext cx="5761055" cy="1408398"/>
      </dsp:txXfrm>
    </dsp:sp>
    <dsp:sp modelId="{A56A4FAC-97E0-0C4D-9002-0AD5DED00025}">
      <dsp:nvSpPr>
        <dsp:cNvPr id="0" name=""/>
        <dsp:cNvSpPr/>
      </dsp:nvSpPr>
      <dsp:spPr>
        <a:xfrm>
          <a:off x="0" y="1697026"/>
          <a:ext cx="5913437" cy="1560780"/>
        </a:xfrm>
        <a:prstGeom prst="roundRect">
          <a:avLst/>
        </a:prstGeom>
        <a:gradFill rotWithShape="0">
          <a:gsLst>
            <a:gs pos="0">
              <a:schemeClr val="accent2">
                <a:hueOff val="-3392975"/>
                <a:satOff val="11185"/>
                <a:lumOff val="11961"/>
                <a:alphaOff val="0"/>
                <a:tint val="98000"/>
                <a:satMod val="110000"/>
                <a:lumMod val="104000"/>
              </a:schemeClr>
            </a:gs>
            <a:gs pos="69000">
              <a:schemeClr val="accent2">
                <a:hueOff val="-3392975"/>
                <a:satOff val="11185"/>
                <a:lumOff val="11961"/>
                <a:alphaOff val="0"/>
                <a:shade val="88000"/>
                <a:satMod val="130000"/>
                <a:lumMod val="92000"/>
              </a:schemeClr>
            </a:gs>
            <a:gs pos="100000">
              <a:schemeClr val="accent2">
                <a:hueOff val="-3392975"/>
                <a:satOff val="11185"/>
                <a:lumOff val="11961"/>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baseline="0"/>
            <a:t>Limitations:</a:t>
          </a:r>
          <a:endParaRPr lang="en-US" sz="2300" kern="1200"/>
        </a:p>
      </dsp:txBody>
      <dsp:txXfrm>
        <a:off x="76191" y="1773217"/>
        <a:ext cx="5761055" cy="1408398"/>
      </dsp:txXfrm>
    </dsp:sp>
    <dsp:sp modelId="{E978E5B0-F6DA-674D-9F88-57D562D23A8E}">
      <dsp:nvSpPr>
        <dsp:cNvPr id="0" name=""/>
        <dsp:cNvSpPr/>
      </dsp:nvSpPr>
      <dsp:spPr>
        <a:xfrm>
          <a:off x="0" y="3257806"/>
          <a:ext cx="5913437" cy="13092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7752"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en-US" sz="1800" b="1" i="0" kern="1200" baseline="0" dirty="0"/>
            <a:t>Self-Reporting Bias:</a:t>
          </a:r>
          <a:r>
            <a:rPr lang="en-US" sz="1800" b="0" i="0" kern="1200" baseline="0" dirty="0"/>
            <a:t> Distraction is likely underreported in police data.</a:t>
          </a:r>
          <a:endParaRPr lang="en-US" sz="1800" kern="1200" dirty="0"/>
        </a:p>
        <a:p>
          <a:pPr marL="171450" lvl="1" indent="-171450" algn="l" defTabSz="800100">
            <a:lnSpc>
              <a:spcPct val="90000"/>
            </a:lnSpc>
            <a:spcBef>
              <a:spcPct val="0"/>
            </a:spcBef>
            <a:spcAft>
              <a:spcPct val="20000"/>
            </a:spcAft>
            <a:buChar char="•"/>
          </a:pPr>
          <a:r>
            <a:rPr lang="en-US" sz="1800" b="1" i="0" kern="1200" baseline="0" dirty="0"/>
            <a:t>Ordinal Scale:</a:t>
          </a:r>
          <a:r>
            <a:rPr lang="en-US" sz="1800" b="0" i="0" kern="1200" baseline="0" dirty="0"/>
            <a:t> The 0-4 damage scale is too coarse to capture subtle differences in crash intensity (e.g., repair costs).</a:t>
          </a:r>
          <a:endParaRPr lang="en-US" sz="1800" kern="1200" dirty="0"/>
        </a:p>
      </dsp:txBody>
      <dsp:txXfrm>
        <a:off x="0" y="3257806"/>
        <a:ext cx="5913437" cy="130927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90FC27-7F6C-407F-B2B6-BB3CFB37E41D}">
      <dsp:nvSpPr>
        <dsp:cNvPr id="0" name=""/>
        <dsp:cNvSpPr/>
      </dsp:nvSpPr>
      <dsp:spPr>
        <a:xfrm>
          <a:off x="790390" y="1189230"/>
          <a:ext cx="1199812" cy="1199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4659F7B-7CE8-4CE5-94ED-C6E70176C26B}">
      <dsp:nvSpPr>
        <dsp:cNvPr id="0" name=""/>
        <dsp:cNvSpPr/>
      </dsp:nvSpPr>
      <dsp:spPr>
        <a:xfrm>
          <a:off x="57171" y="2727857"/>
          <a:ext cx="266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Dataset: Montgomery County, MD. "Crash Reporting - Drivers Data." Data.gov. [Link](</a:t>
          </a:r>
          <a:r>
            <a:rPr lang="en-US" sz="1100" u="sng" kern="1200"/>
            <a:t>https://catalog.data.gov/dataset/crash-reporting-drivers-data</a:t>
          </a:r>
          <a:r>
            <a:rPr lang="en-US" sz="1100" kern="1200"/>
            <a:t>)</a:t>
          </a:r>
        </a:p>
      </dsp:txBody>
      <dsp:txXfrm>
        <a:off x="57171" y="2727857"/>
        <a:ext cx="2666250" cy="720000"/>
      </dsp:txXfrm>
    </dsp:sp>
    <dsp:sp modelId="{5A076232-E4A0-492F-BA52-54CC66909F6A}">
      <dsp:nvSpPr>
        <dsp:cNvPr id="0" name=""/>
        <dsp:cNvSpPr/>
      </dsp:nvSpPr>
      <dsp:spPr>
        <a:xfrm>
          <a:off x="3923234" y="1189230"/>
          <a:ext cx="1199812" cy="1199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93DB6C8-06F4-4EF0-8865-7FAAA01C2BC3}">
      <dsp:nvSpPr>
        <dsp:cNvPr id="0" name=""/>
        <dsp:cNvSpPr/>
      </dsp:nvSpPr>
      <dsp:spPr>
        <a:xfrm>
          <a:off x="3190015" y="2727857"/>
          <a:ext cx="266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Tools: Python, Pandas, NumPy, Matplotlib, Seaborn, OS.</a:t>
          </a:r>
        </a:p>
      </dsp:txBody>
      <dsp:txXfrm>
        <a:off x="3190015" y="2727857"/>
        <a:ext cx="2666250"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7B2D18-B300-FA43-B69B-62FFA26063C8}" type="datetimeFigureOut">
              <a:rPr lang="en-US" smtClean="0"/>
              <a:t>12/15/25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A168D-38D9-B047-822A-F167E3340AA0}" type="slidenum">
              <a:rPr lang="en-US" smtClean="0"/>
              <a:t>‹#›</a:t>
            </a:fld>
            <a:endParaRPr lang="en-US"/>
          </a:p>
        </p:txBody>
      </p:sp>
    </p:spTree>
    <p:extLst>
      <p:ext uri="{BB962C8B-B14F-4D97-AF65-F5344CB8AC3E}">
        <p14:creationId xmlns:p14="http://schemas.microsoft.com/office/powerpoint/2010/main" val="40552943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Distracted driving is a major public safety issue. Quantifying the specific risk helps inform insurance models and public policy.</a:t>
            </a:r>
          </a:p>
        </p:txBody>
      </p:sp>
      <p:sp>
        <p:nvSpPr>
          <p:cNvPr id="4" name="Slide Number Placeholder 3"/>
          <p:cNvSpPr>
            <a:spLocks noGrp="1"/>
          </p:cNvSpPr>
          <p:nvPr>
            <p:ph type="sldNum" sz="quarter" idx="5"/>
          </p:nvPr>
        </p:nvSpPr>
        <p:spPr/>
        <p:txBody>
          <a:bodyPr/>
          <a:lstStyle/>
          <a:p>
            <a:fld id="{583A168D-38D9-B047-822A-F167E3340AA0}" type="slidenum">
              <a:rPr lang="en-US" smtClean="0"/>
              <a:t>1</a:t>
            </a:fld>
            <a:endParaRPr lang="en-US"/>
          </a:p>
        </p:txBody>
      </p:sp>
    </p:spTree>
    <p:extLst>
      <p:ext uri="{BB962C8B-B14F-4D97-AF65-F5344CB8AC3E}">
        <p14:creationId xmlns:p14="http://schemas.microsoft.com/office/powerpoint/2010/main" val="2774408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83A168D-38D9-B047-822A-F167E3340AA0}" type="slidenum">
              <a:rPr lang="en-US" smtClean="0"/>
              <a:t>3</a:t>
            </a:fld>
            <a:endParaRPr lang="en-US"/>
          </a:p>
        </p:txBody>
      </p:sp>
    </p:spTree>
    <p:extLst>
      <p:ext uri="{BB962C8B-B14F-4D97-AF65-F5344CB8AC3E}">
        <p14:creationId xmlns:p14="http://schemas.microsoft.com/office/powerpoint/2010/main" val="2281499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3A168D-38D9-B047-822A-F167E3340AA0}" type="slidenum">
              <a:rPr lang="en-US" smtClean="0"/>
              <a:t>4</a:t>
            </a:fld>
            <a:endParaRPr lang="en-US"/>
          </a:p>
        </p:txBody>
      </p:sp>
    </p:spTree>
    <p:extLst>
      <p:ext uri="{BB962C8B-B14F-4D97-AF65-F5344CB8AC3E}">
        <p14:creationId xmlns:p14="http://schemas.microsoft.com/office/powerpoint/2010/main" val="464376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12/15/25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E658F20F-9F59-BA4D-B3F5-F1EF2E2B2A8E}"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751728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27654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F7C1B1-FAD3-1847-BAA2-20EE38C9D46F}" type="datetimeFigureOut">
              <a:rPr lang="en-US" smtClean="0"/>
              <a:t>12/15/25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99391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F7C1B1-FAD3-1847-BAA2-20EE38C9D46F}" type="datetimeFigureOut">
              <a:rPr lang="en-US" smtClean="0"/>
              <a:t>12/15/25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658F20F-9F59-BA4D-B3F5-F1EF2E2B2A8E}"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97945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5F7C1B1-FAD3-1847-BAA2-20EE38C9D46F}" type="datetimeFigureOut">
              <a:rPr lang="en-US" smtClean="0"/>
              <a:t>12/15/25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658F20F-9F59-BA4D-B3F5-F1EF2E2B2A8E}"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969715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5F7C1B1-FAD3-1847-BAA2-20EE38C9D46F}" type="datetimeFigureOut">
              <a:rPr lang="en-US" smtClean="0"/>
              <a:t>12/15/25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658F20F-9F59-BA4D-B3F5-F1EF2E2B2A8E}"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508851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F7C1B1-FAD3-1847-BAA2-20EE38C9D46F}" type="datetimeFigureOut">
              <a:rPr lang="en-US" smtClean="0"/>
              <a:t>12/15/25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658F20F-9F59-BA4D-B3F5-F1EF2E2B2A8E}" type="slidenum">
              <a:rPr lang="en-US" smtClean="0"/>
              <a:t>‹#›</a:t>
            </a:fld>
            <a:endParaRPr lang="en-US"/>
          </a:p>
        </p:txBody>
      </p:sp>
    </p:spTree>
    <p:extLst>
      <p:ext uri="{BB962C8B-B14F-4D97-AF65-F5344CB8AC3E}">
        <p14:creationId xmlns:p14="http://schemas.microsoft.com/office/powerpoint/2010/main" val="1412574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5F7C1B1-FAD3-1847-BAA2-20EE38C9D46F}" type="datetimeFigureOut">
              <a:rPr lang="en-US" smtClean="0"/>
              <a:t>12/15/25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658F20F-9F59-BA4D-B3F5-F1EF2E2B2A8E}"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61911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65F7C1B1-FAD3-1847-BAA2-20EE38C9D46F}" type="datetimeFigureOut">
              <a:rPr lang="en-US" smtClean="0"/>
              <a:t>12/15/25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E658F20F-9F59-BA4D-B3F5-F1EF2E2B2A8E}"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87314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3933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68662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65F7C1B1-FAD3-1847-BAA2-20EE38C9D46F}" type="datetimeFigureOut">
              <a:rPr lang="en-US" smtClean="0"/>
              <a:t>12/15/25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E658F20F-9F59-BA4D-B3F5-F1EF2E2B2A8E}"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008153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jpg"/><Relationship Id="rId7" Type="http://schemas.openxmlformats.org/officeDocument/2006/relationships/diagramColors" Target="../diagrams/colors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Layout" Target="../slideLayouts/slideLayout2.xml"/><Relationship Id="rId4" Type="http://schemas.openxmlformats.org/officeDocument/2006/relationships/hyperlink" Target="https://freesvg.org/thank-you-deco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F6621CF-F493-40D5-98AE-24A9D3AD43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8" y="0"/>
            <a:ext cx="12194875" cy="495026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42F98E-7BA5-3485-7740-79A5C38107D6}"/>
              </a:ext>
            </a:extLst>
          </p:cNvPr>
          <p:cNvSpPr>
            <a:spLocks noGrp="1"/>
          </p:cNvSpPr>
          <p:nvPr>
            <p:ph type="ctrTitle"/>
          </p:nvPr>
        </p:nvSpPr>
        <p:spPr>
          <a:xfrm>
            <a:off x="5078896" y="643467"/>
            <a:ext cx="5975956" cy="4127545"/>
          </a:xfrm>
        </p:spPr>
        <p:txBody>
          <a:bodyPr anchor="ctr">
            <a:normAutofit/>
          </a:bodyPr>
          <a:lstStyle/>
          <a:p>
            <a:r>
              <a:rPr lang="en-US" sz="4800"/>
              <a:t>Distracted Driving Impact Analysis: Fault &amp; Severity</a:t>
            </a:r>
          </a:p>
        </p:txBody>
      </p:sp>
      <p:sp>
        <p:nvSpPr>
          <p:cNvPr id="11" name="Rectangle 10">
            <a:extLst>
              <a:ext uri="{FF2B5EF4-FFF2-40B4-BE49-F238E27FC236}">
                <a16:creationId xmlns:a16="http://schemas.microsoft.com/office/drawing/2014/main" id="{CADEE02A-D296-42EA-88F5-7803F69CE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4950269"/>
            <a:ext cx="12191695" cy="1907732"/>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F7998FD2-E0A2-F55A-C49F-B75CBDC8A055}"/>
              </a:ext>
            </a:extLst>
          </p:cNvPr>
          <p:cNvSpPr>
            <a:spLocks noGrp="1"/>
          </p:cNvSpPr>
          <p:nvPr>
            <p:ph type="subTitle" idx="1"/>
          </p:nvPr>
        </p:nvSpPr>
        <p:spPr>
          <a:xfrm>
            <a:off x="5078896" y="5118231"/>
            <a:ext cx="5975956" cy="977621"/>
          </a:xfrm>
        </p:spPr>
        <p:txBody>
          <a:bodyPr>
            <a:normAutofit/>
          </a:bodyPr>
          <a:lstStyle/>
          <a:p>
            <a:pPr>
              <a:lnSpc>
                <a:spcPct val="110000"/>
              </a:lnSpc>
            </a:pPr>
            <a:r>
              <a:rPr lang="en-US" sz="1100" b="1" dirty="0">
                <a:solidFill>
                  <a:srgbClr val="FFFFFF"/>
                </a:solidFill>
              </a:rPr>
              <a:t>Name: </a:t>
            </a:r>
            <a:r>
              <a:rPr lang="en-US" sz="1100" dirty="0">
                <a:solidFill>
                  <a:srgbClr val="FFFFFF"/>
                </a:solidFill>
              </a:rPr>
              <a:t>Caroline Ayieko</a:t>
            </a:r>
          </a:p>
          <a:p>
            <a:pPr>
              <a:lnSpc>
                <a:spcPct val="110000"/>
              </a:lnSpc>
            </a:pPr>
            <a:r>
              <a:rPr lang="en-US" sz="1100" b="1" dirty="0">
                <a:solidFill>
                  <a:srgbClr val="FFFFFF"/>
                </a:solidFill>
              </a:rPr>
              <a:t>Question: </a:t>
            </a:r>
            <a:r>
              <a:rPr lang="en-US" sz="1100" dirty="0">
                <a:solidFill>
                  <a:srgbClr val="FFFFFF"/>
                </a:solidFill>
              </a:rPr>
              <a:t>Does Distracted driving significantly increase the likelihood of a driver being found  “At Fault” and lead to more severe vehicle damage?</a:t>
            </a:r>
          </a:p>
          <a:p>
            <a:pPr>
              <a:lnSpc>
                <a:spcPct val="110000"/>
              </a:lnSpc>
            </a:pPr>
            <a:endParaRPr lang="en-US" sz="1100" dirty="0">
              <a:solidFill>
                <a:srgbClr val="FFFFFF"/>
              </a:solidFill>
            </a:endParaRPr>
          </a:p>
        </p:txBody>
      </p:sp>
      <p:pic>
        <p:nvPicPr>
          <p:cNvPr id="5" name="Picture 4" descr="Blurred motion traffic">
            <a:extLst>
              <a:ext uri="{FF2B5EF4-FFF2-40B4-BE49-F238E27FC236}">
                <a16:creationId xmlns:a16="http://schemas.microsoft.com/office/drawing/2014/main" id="{681B07CF-1D95-EAAD-5D80-BB687670EA56}"/>
              </a:ext>
            </a:extLst>
          </p:cNvPr>
          <p:cNvPicPr>
            <a:picLocks noChangeAspect="1"/>
          </p:cNvPicPr>
          <p:nvPr/>
        </p:nvPicPr>
        <p:blipFill>
          <a:blip r:embed="rId3"/>
          <a:srcRect l="38200" r="16530" b="-2"/>
          <a:stretch>
            <a:fillRect/>
          </a:stretch>
        </p:blipFill>
        <p:spPr>
          <a:xfrm>
            <a:off x="3179" y="-2"/>
            <a:ext cx="4651117" cy="6858002"/>
          </a:xfrm>
          <a:prstGeom prst="rect">
            <a:avLst/>
          </a:prstGeom>
        </p:spPr>
      </p:pic>
    </p:spTree>
    <p:extLst>
      <p:ext uri="{BB962C8B-B14F-4D97-AF65-F5344CB8AC3E}">
        <p14:creationId xmlns:p14="http://schemas.microsoft.com/office/powerpoint/2010/main" val="28946784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2D32A60-013B-47A8-8833-D24240809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E27932B-B694-4C4C-90D7-A0333A7C58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9A2A9D9A-D5B7-93BE-263A-5BEB8A6B3608}"/>
              </a:ext>
            </a:extLst>
          </p:cNvPr>
          <p:cNvSpPr>
            <a:spLocks noGrp="1"/>
          </p:cNvSpPr>
          <p:nvPr>
            <p:ph type="title"/>
          </p:nvPr>
        </p:nvSpPr>
        <p:spPr>
          <a:xfrm>
            <a:off x="1451579" y="2303047"/>
            <a:ext cx="3272093" cy="2674198"/>
          </a:xfrm>
        </p:spPr>
        <p:txBody>
          <a:bodyPr anchor="t">
            <a:normAutofit/>
          </a:bodyPr>
          <a:lstStyle/>
          <a:p>
            <a:r>
              <a:rPr lang="en-US" dirty="0"/>
              <a:t>Data &amp; hypotheses</a:t>
            </a:r>
          </a:p>
        </p:txBody>
      </p:sp>
      <p:cxnSp>
        <p:nvCxnSpPr>
          <p:cNvPr id="13" name="Straight Connector 12">
            <a:extLst>
              <a:ext uri="{FF2B5EF4-FFF2-40B4-BE49-F238E27FC236}">
                <a16:creationId xmlns:a16="http://schemas.microsoft.com/office/drawing/2014/main" id="{9EBB0476-5CF0-4F44-8D68-5D42D7AEE4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1579" y="2146542"/>
            <a:ext cx="3272094"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15" name="Title 1">
            <a:extLst>
              <a:ext uri="{FF2B5EF4-FFF2-40B4-BE49-F238E27FC236}">
                <a16:creationId xmlns:a16="http://schemas.microsoft.com/office/drawing/2014/main" id="{A9DA474E-6B91-4200-840F-0257B2358A75}"/>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pic>
        <p:nvPicPr>
          <p:cNvPr id="17" name="Picture 16">
            <a:extLst>
              <a:ext uri="{FF2B5EF4-FFF2-40B4-BE49-F238E27FC236}">
                <a16:creationId xmlns:a16="http://schemas.microsoft.com/office/drawing/2014/main" id="{DF63C9AD-AE6E-4512-8171-91612E84CCF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9" name="Straight Connector 18">
            <a:extLst>
              <a:ext uri="{FF2B5EF4-FFF2-40B4-BE49-F238E27FC236}">
                <a16:creationId xmlns:a16="http://schemas.microsoft.com/office/drawing/2014/main" id="{FE1A49CE-B63D-457A-A180-1C883E1A63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5B09019E-25EF-58E6-BFB0-648B77E6DE2F}"/>
              </a:ext>
            </a:extLst>
          </p:cNvPr>
          <p:cNvGraphicFramePr>
            <a:graphicFrameLocks noGrp="1"/>
          </p:cNvGraphicFramePr>
          <p:nvPr>
            <p:ph idx="1"/>
            <p:extLst>
              <p:ext uri="{D42A27DB-BD31-4B8C-83A1-F6EECF244321}">
                <p14:modId xmlns:p14="http://schemas.microsoft.com/office/powerpoint/2010/main" val="3156852468"/>
              </p:ext>
            </p:extLst>
          </p:nvPr>
        </p:nvGraphicFramePr>
        <p:xfrm>
          <a:off x="5141913" y="803275"/>
          <a:ext cx="5913437" cy="46370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8689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2D32A60-013B-47A8-8833-D24240809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E27932B-B694-4C4C-90D7-A0333A7C58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10E91D96-FED9-BCDC-EE6B-ABF735DB2D2D}"/>
              </a:ext>
            </a:extLst>
          </p:cNvPr>
          <p:cNvSpPr>
            <a:spLocks noGrp="1"/>
          </p:cNvSpPr>
          <p:nvPr>
            <p:ph type="title"/>
          </p:nvPr>
        </p:nvSpPr>
        <p:spPr>
          <a:xfrm>
            <a:off x="1451579" y="2303047"/>
            <a:ext cx="3272093" cy="2674198"/>
          </a:xfrm>
        </p:spPr>
        <p:txBody>
          <a:bodyPr anchor="t">
            <a:normAutofit/>
          </a:bodyPr>
          <a:lstStyle/>
          <a:p>
            <a:r>
              <a:rPr lang="en-US" sz="3000"/>
              <a:t>Methodology</a:t>
            </a:r>
          </a:p>
        </p:txBody>
      </p:sp>
      <p:cxnSp>
        <p:nvCxnSpPr>
          <p:cNvPr id="14" name="Straight Connector 13">
            <a:extLst>
              <a:ext uri="{FF2B5EF4-FFF2-40B4-BE49-F238E27FC236}">
                <a16:creationId xmlns:a16="http://schemas.microsoft.com/office/drawing/2014/main" id="{9EBB0476-5CF0-4F44-8D68-5D42D7AEE4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1579" y="2146542"/>
            <a:ext cx="3272094"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16" name="Title 1">
            <a:extLst>
              <a:ext uri="{FF2B5EF4-FFF2-40B4-BE49-F238E27FC236}">
                <a16:creationId xmlns:a16="http://schemas.microsoft.com/office/drawing/2014/main" id="{A9DA474E-6B91-4200-840F-0257B2358A75}"/>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pic>
        <p:nvPicPr>
          <p:cNvPr id="18" name="Picture 17">
            <a:extLst>
              <a:ext uri="{FF2B5EF4-FFF2-40B4-BE49-F238E27FC236}">
                <a16:creationId xmlns:a16="http://schemas.microsoft.com/office/drawing/2014/main" id="{DF63C9AD-AE6E-4512-8171-91612E84CCF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20" name="Straight Connector 19">
            <a:extLst>
              <a:ext uri="{FF2B5EF4-FFF2-40B4-BE49-F238E27FC236}">
                <a16:creationId xmlns:a16="http://schemas.microsoft.com/office/drawing/2014/main" id="{FE1A49CE-B63D-457A-A180-1C883E1A63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F571C53D-012C-41E2-3D36-64F22657C2AB}"/>
              </a:ext>
            </a:extLst>
          </p:cNvPr>
          <p:cNvGraphicFramePr>
            <a:graphicFrameLocks noGrp="1"/>
          </p:cNvGraphicFramePr>
          <p:nvPr>
            <p:ph idx="1"/>
            <p:extLst>
              <p:ext uri="{D42A27DB-BD31-4B8C-83A1-F6EECF244321}">
                <p14:modId xmlns:p14="http://schemas.microsoft.com/office/powerpoint/2010/main" val="587321993"/>
              </p:ext>
            </p:extLst>
          </p:nvPr>
        </p:nvGraphicFramePr>
        <p:xfrm>
          <a:off x="5141913" y="803275"/>
          <a:ext cx="5913437" cy="463708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884498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075E0-6A8D-16B9-D7BA-5E4B104B34D7}"/>
              </a:ext>
            </a:extLst>
          </p:cNvPr>
          <p:cNvSpPr>
            <a:spLocks noGrp="1"/>
          </p:cNvSpPr>
          <p:nvPr>
            <p:ph type="title"/>
          </p:nvPr>
        </p:nvSpPr>
        <p:spPr>
          <a:xfrm>
            <a:off x="1451579" y="804519"/>
            <a:ext cx="9603275" cy="1049235"/>
          </a:xfrm>
        </p:spPr>
        <p:txBody>
          <a:bodyPr>
            <a:normAutofit/>
          </a:bodyPr>
          <a:lstStyle/>
          <a:p>
            <a:r>
              <a:rPr lang="en-US" dirty="0"/>
              <a:t>Key result: metric 1-fault rate</a:t>
            </a:r>
          </a:p>
        </p:txBody>
      </p:sp>
      <p:sp>
        <p:nvSpPr>
          <p:cNvPr id="4" name="Rectangle 1">
            <a:extLst>
              <a:ext uri="{FF2B5EF4-FFF2-40B4-BE49-F238E27FC236}">
                <a16:creationId xmlns:a16="http://schemas.microsoft.com/office/drawing/2014/main" id="{174A9DB4-24BD-D709-19D6-F440AAAB937B}"/>
              </a:ext>
            </a:extLst>
          </p:cNvPr>
          <p:cNvSpPr>
            <a:spLocks noGrp="1" noChangeArrowheads="1"/>
          </p:cNvSpPr>
          <p:nvPr>
            <p:ph idx="1"/>
          </p:nvPr>
        </p:nvSpPr>
        <p:spPr bwMode="auto">
          <a:xfrm>
            <a:off x="1451579" y="2015734"/>
            <a:ext cx="5622284" cy="345061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1" i="0" u="none" strike="noStrike" cap="none" normalizeH="0" baseline="0" dirty="0">
                <a:ln>
                  <a:noFill/>
                </a:ln>
                <a:effectLst/>
                <a:latin typeface="Arial" panose="020B0604020202020204" pitchFamily="34" charset="0"/>
              </a:rPr>
              <a:t>Finding:</a:t>
            </a:r>
            <a:r>
              <a:rPr kumimoji="0" lang="en-US" altLang="en-US" sz="1300" b="0" i="0" u="none" strike="noStrike" cap="none" normalizeH="0" baseline="0" dirty="0">
                <a:ln>
                  <a:noFill/>
                </a:ln>
                <a:effectLst/>
                <a:latin typeface="Arial" panose="020B0604020202020204" pitchFamily="34" charset="0"/>
              </a:rPr>
              <a:t> Distracted drivers were approximately </a:t>
            </a:r>
            <a:r>
              <a:rPr kumimoji="0" lang="en-US" altLang="en-US" sz="1300" b="1" i="0" u="none" strike="noStrike" cap="none" normalizeH="0" baseline="0" dirty="0">
                <a:ln>
                  <a:noFill/>
                </a:ln>
                <a:effectLst/>
                <a:latin typeface="Arial" panose="020B0604020202020204" pitchFamily="34" charset="0"/>
              </a:rPr>
              <a:t>66% more likely</a:t>
            </a:r>
            <a:r>
              <a:rPr kumimoji="0" lang="en-US" altLang="en-US" sz="1300" b="0" i="0" u="none" strike="noStrike" cap="none" normalizeH="0" baseline="0" dirty="0">
                <a:ln>
                  <a:noFill/>
                </a:ln>
                <a:effectLst/>
                <a:latin typeface="Arial" panose="020B0604020202020204" pitchFamily="34" charset="0"/>
              </a:rPr>
              <a:t> to be found at fault than non-distracted drivers.</a:t>
            </a:r>
          </a:p>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1" i="0" u="none" strike="noStrike" cap="none" normalizeH="0" baseline="0" dirty="0">
                <a:ln>
                  <a:noFill/>
                </a:ln>
                <a:effectLst/>
                <a:latin typeface="Arial" panose="020B0604020202020204" pitchFamily="34" charset="0"/>
              </a:rPr>
              <a:t>Significance:</a:t>
            </a:r>
            <a:r>
              <a:rPr kumimoji="0" lang="en-US" altLang="en-US" sz="1300" b="0" i="0" u="none" strike="noStrike" cap="none" normalizeH="0" baseline="0" dirty="0">
                <a:ln>
                  <a:noFill/>
                </a:ln>
                <a:effectLst/>
                <a:latin typeface="Arial" panose="020B0604020202020204" pitchFamily="34" charset="0"/>
              </a:rPr>
              <a:t> P-value = </a:t>
            </a:r>
            <a:r>
              <a:rPr kumimoji="0" lang="en-US" altLang="en-US" sz="1300" b="1" i="0" u="none" strike="noStrike" cap="none" normalizeH="0" baseline="0" dirty="0">
                <a:ln>
                  <a:noFill/>
                </a:ln>
                <a:effectLst/>
                <a:latin typeface="Arial" panose="020B0604020202020204" pitchFamily="34" charset="0"/>
              </a:rPr>
              <a:t>0.0000</a:t>
            </a:r>
            <a:r>
              <a:rPr kumimoji="0" lang="en-US" altLang="en-US" sz="1300" b="0" i="0" u="none" strike="noStrike" cap="none" normalizeH="0" baseline="0" dirty="0">
                <a:ln>
                  <a:noFill/>
                </a:ln>
                <a:effectLst/>
                <a:latin typeface="Arial" panose="020B0604020202020204" pitchFamily="34" charset="0"/>
              </a:rPr>
              <a:t>.</a:t>
            </a:r>
          </a:p>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1" i="0" u="none" strike="noStrike" cap="none" normalizeH="0" baseline="0" dirty="0">
                <a:ln>
                  <a:noFill/>
                </a:ln>
                <a:effectLst/>
                <a:latin typeface="Arial" panose="020B0604020202020204" pitchFamily="34" charset="0"/>
              </a:rPr>
              <a:t>Uncertainty:</a:t>
            </a:r>
            <a:r>
              <a:rPr kumimoji="0" lang="en-US" altLang="en-US" sz="1300" b="0" i="0" u="none" strike="noStrike" cap="none" normalizeH="0" baseline="0" dirty="0">
                <a:ln>
                  <a:noFill/>
                </a:ln>
                <a:effectLst/>
                <a:latin typeface="Arial" panose="020B0604020202020204" pitchFamily="34" charset="0"/>
              </a:rPr>
              <a:t> 95% Confidence Interval: </a:t>
            </a:r>
            <a:r>
              <a:rPr kumimoji="0" lang="en-US" altLang="en-US" sz="1300" b="1" i="0" u="none" strike="noStrike" cap="none" normalizeH="0" baseline="0" dirty="0">
                <a:ln>
                  <a:noFill/>
                </a:ln>
                <a:effectLst/>
                <a:latin typeface="Arial" panose="020B0604020202020204" pitchFamily="34" charset="0"/>
              </a:rPr>
              <a:t>[0.656, 0.663]</a:t>
            </a:r>
            <a:r>
              <a:rPr kumimoji="0" lang="en-US" altLang="en-US" sz="1300" b="0" i="0" u="none" strike="noStrike" cap="none" normalizeH="0" baseline="0" dirty="0">
                <a:ln>
                  <a:noFill/>
                </a:ln>
                <a:effectLst/>
                <a:latin typeface="Arial" panose="020B0604020202020204" pitchFamily="34" charset="0"/>
              </a:rPr>
              <a:t>.</a:t>
            </a:r>
          </a:p>
          <a:p>
            <a:pPr marL="0" marR="0" lvl="0" indent="0" defTabSz="914400" rtl="0" eaLnBrk="0" fontAlgn="base" latinLnBrk="0" hangingPunct="0">
              <a:lnSpc>
                <a:spcPct val="110000"/>
              </a:lnSpc>
              <a:spcBef>
                <a:spcPct val="0"/>
              </a:spcBef>
              <a:spcAft>
                <a:spcPts val="600"/>
              </a:spcAft>
              <a:buClrTx/>
              <a:buSzTx/>
              <a:buFontTx/>
              <a:buChar char="•"/>
              <a:tabLst/>
            </a:pPr>
            <a:r>
              <a:rPr lang="en-US" altLang="en-US" sz="1300" b="1" dirty="0">
                <a:latin typeface="Arial" panose="020B0604020202020204" pitchFamily="34" charset="0"/>
              </a:rPr>
              <a:t>T</a:t>
            </a:r>
            <a:r>
              <a:rPr kumimoji="0" lang="en-US" altLang="en-US" sz="1300" b="1" i="0" u="none" strike="noStrike" cap="none" normalizeH="0" baseline="0" dirty="0">
                <a:ln>
                  <a:noFill/>
                </a:ln>
                <a:effectLst/>
                <a:latin typeface="Arial" panose="020B0604020202020204" pitchFamily="34" charset="0"/>
              </a:rPr>
              <a:t>he "Massive Statistical Gap" Plot.</a:t>
            </a:r>
            <a:endParaRPr kumimoji="0" lang="en-US" altLang="en-US" sz="1300" b="0" i="0" u="none" strike="noStrike" cap="none" normalizeH="0" baseline="0" dirty="0">
              <a:ln>
                <a:noFill/>
              </a:ln>
              <a:effectLst/>
              <a:latin typeface="Arial" panose="020B0604020202020204" pitchFamily="34" charset="0"/>
            </a:endParaRPr>
          </a:p>
          <a:p>
            <a:pPr marL="457200" lvl="1" indent="0" eaLnBrk="0" fontAlgn="base" hangingPunct="0">
              <a:lnSpc>
                <a:spcPct val="110000"/>
              </a:lnSpc>
              <a:spcBef>
                <a:spcPct val="0"/>
              </a:spcBef>
              <a:spcAft>
                <a:spcPts val="600"/>
              </a:spcAft>
              <a:buClrTx/>
              <a:buSzTx/>
              <a:buFontTx/>
              <a:buChar char="•"/>
            </a:pPr>
            <a:r>
              <a:rPr kumimoji="0" lang="en-US" altLang="en-US" sz="1100" b="0" i="1" u="none" strike="noStrike" cap="none" normalizeH="0" baseline="0" dirty="0">
                <a:ln>
                  <a:noFill/>
                </a:ln>
                <a:effectLst/>
                <a:latin typeface="Arial" panose="020B0604020202020204" pitchFamily="34" charset="0"/>
              </a:rPr>
              <a:t>Why:</a:t>
            </a:r>
            <a:r>
              <a:rPr kumimoji="0" lang="en-US" altLang="en-US" sz="1100" b="0" i="0" u="none" strike="noStrike" cap="none" normalizeH="0" baseline="0" dirty="0">
                <a:ln>
                  <a:noFill/>
                </a:ln>
                <a:effectLst/>
                <a:latin typeface="Arial" panose="020B0604020202020204" pitchFamily="34" charset="0"/>
              </a:rPr>
              <a:t> </a:t>
            </a:r>
            <a:r>
              <a:rPr kumimoji="0" lang="en-US" altLang="en-US" sz="1200" b="0" i="0" u="none" strike="noStrike" cap="none" normalizeH="0" baseline="0" dirty="0">
                <a:ln>
                  <a:noFill/>
                </a:ln>
                <a:effectLst/>
                <a:latin typeface="Arial" panose="020B0604020202020204" pitchFamily="34" charset="0"/>
              </a:rPr>
              <a:t>This visualization (the side-by-side plot with the grey null distribution on the left and your red observed line far to the right) is the strongest evidence you have. It visually proves that the observed effect is impossible to generate by random chance.</a:t>
            </a:r>
          </a:p>
          <a:p>
            <a:pPr marL="0" marR="0" lvl="0" indent="0" defTabSz="914400" rtl="0" eaLnBrk="0" fontAlgn="base" latinLnBrk="0" hangingPunct="0">
              <a:lnSpc>
                <a:spcPct val="110000"/>
              </a:lnSpc>
              <a:spcBef>
                <a:spcPct val="0"/>
              </a:spcBef>
              <a:spcAft>
                <a:spcPts val="600"/>
              </a:spcAft>
              <a:buClrTx/>
              <a:buSzTx/>
              <a:buFontTx/>
              <a:buNone/>
              <a:tabLst/>
            </a:pPr>
            <a:endParaRPr kumimoji="0" lang="en-US" altLang="en-US" sz="1300" b="0" i="0" u="none" strike="noStrike" cap="none" normalizeH="0" baseline="0" dirty="0">
              <a:ln>
                <a:noFill/>
              </a:ln>
              <a:effectLst/>
              <a:latin typeface="Arial" panose="020B0604020202020204" pitchFamily="34" charset="0"/>
            </a:endParaRPr>
          </a:p>
        </p:txBody>
      </p:sp>
      <p:pic>
        <p:nvPicPr>
          <p:cNvPr id="6" name="Picture 5" descr="A screenshot of a graph&#10;&#10;AI-generated content may be incorrect.">
            <a:extLst>
              <a:ext uri="{FF2B5EF4-FFF2-40B4-BE49-F238E27FC236}">
                <a16:creationId xmlns:a16="http://schemas.microsoft.com/office/drawing/2014/main" id="{B3B9C56D-A96C-A601-AED7-024E4CDE5921}"/>
              </a:ext>
            </a:extLst>
          </p:cNvPr>
          <p:cNvPicPr>
            <a:picLocks noChangeAspect="1"/>
          </p:cNvPicPr>
          <p:nvPr/>
        </p:nvPicPr>
        <p:blipFill>
          <a:blip r:embed="rId3"/>
          <a:stretch>
            <a:fillRect/>
          </a:stretch>
        </p:blipFill>
        <p:spPr>
          <a:xfrm>
            <a:off x="7073863" y="2199503"/>
            <a:ext cx="4603272" cy="3266844"/>
          </a:xfrm>
          <a:prstGeom prst="rect">
            <a:avLst/>
          </a:prstGeom>
        </p:spPr>
      </p:pic>
    </p:spTree>
    <p:extLst>
      <p:ext uri="{BB962C8B-B14F-4D97-AF65-F5344CB8AC3E}">
        <p14:creationId xmlns:p14="http://schemas.microsoft.com/office/powerpoint/2010/main" val="22359894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E9830-377C-5044-75A4-F74FFD252EF8}"/>
              </a:ext>
            </a:extLst>
          </p:cNvPr>
          <p:cNvSpPr>
            <a:spLocks noGrp="1"/>
          </p:cNvSpPr>
          <p:nvPr>
            <p:ph type="title"/>
          </p:nvPr>
        </p:nvSpPr>
        <p:spPr/>
        <p:txBody>
          <a:bodyPr/>
          <a:lstStyle/>
          <a:p>
            <a:r>
              <a:rPr lang="en-US" dirty="0"/>
              <a:t>Bootstrap distribution </a:t>
            </a:r>
          </a:p>
        </p:txBody>
      </p:sp>
      <p:pic>
        <p:nvPicPr>
          <p:cNvPr id="5" name="Content Placeholder 4" descr="A graph of a function&#10;&#10;AI-generated content may be incorrect.">
            <a:extLst>
              <a:ext uri="{FF2B5EF4-FFF2-40B4-BE49-F238E27FC236}">
                <a16:creationId xmlns:a16="http://schemas.microsoft.com/office/drawing/2014/main" id="{69E15D6F-FC85-9B1F-5200-55216141EF38}"/>
              </a:ext>
            </a:extLst>
          </p:cNvPr>
          <p:cNvPicPr>
            <a:picLocks noGrp="1" noChangeAspect="1"/>
          </p:cNvPicPr>
          <p:nvPr>
            <p:ph idx="1"/>
          </p:nvPr>
        </p:nvPicPr>
        <p:blipFill>
          <a:blip r:embed="rId2"/>
          <a:stretch>
            <a:fillRect/>
          </a:stretch>
        </p:blipFill>
        <p:spPr>
          <a:xfrm>
            <a:off x="1617205" y="2016125"/>
            <a:ext cx="9271914" cy="3449638"/>
          </a:xfrm>
        </p:spPr>
      </p:pic>
    </p:spTree>
    <p:extLst>
      <p:ext uri="{BB962C8B-B14F-4D97-AF65-F5344CB8AC3E}">
        <p14:creationId xmlns:p14="http://schemas.microsoft.com/office/powerpoint/2010/main" val="14734578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A1B5A-D3E9-9917-B16F-4B61F4D501E1}"/>
              </a:ext>
            </a:extLst>
          </p:cNvPr>
          <p:cNvSpPr>
            <a:spLocks noGrp="1"/>
          </p:cNvSpPr>
          <p:nvPr>
            <p:ph type="title"/>
          </p:nvPr>
        </p:nvSpPr>
        <p:spPr>
          <a:xfrm>
            <a:off x="1451579" y="804519"/>
            <a:ext cx="9603275" cy="1049235"/>
          </a:xfrm>
        </p:spPr>
        <p:txBody>
          <a:bodyPr>
            <a:normAutofit/>
          </a:bodyPr>
          <a:lstStyle/>
          <a:p>
            <a:r>
              <a:rPr lang="en-US" dirty="0"/>
              <a:t>Key result metric 2: Damage severity</a:t>
            </a:r>
          </a:p>
        </p:txBody>
      </p:sp>
      <p:sp>
        <p:nvSpPr>
          <p:cNvPr id="5" name="Rectangle 2">
            <a:extLst>
              <a:ext uri="{FF2B5EF4-FFF2-40B4-BE49-F238E27FC236}">
                <a16:creationId xmlns:a16="http://schemas.microsoft.com/office/drawing/2014/main" id="{F57F8A5B-2C12-FDB1-D20B-6B3A0571990E}"/>
              </a:ext>
            </a:extLst>
          </p:cNvPr>
          <p:cNvSpPr>
            <a:spLocks noGrp="1" noChangeArrowheads="1"/>
          </p:cNvSpPr>
          <p:nvPr>
            <p:ph idx="1"/>
          </p:nvPr>
        </p:nvSpPr>
        <p:spPr bwMode="auto">
          <a:xfrm>
            <a:off x="1451579" y="2015734"/>
            <a:ext cx="5622284" cy="345061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lvl="0" eaLnBrk="0" fontAlgn="base" hangingPunct="0">
              <a:lnSpc>
                <a:spcPct val="110000"/>
              </a:lnSpc>
              <a:spcBef>
                <a:spcPct val="0"/>
              </a:spcBef>
              <a:spcAft>
                <a:spcPct val="0"/>
              </a:spcAft>
              <a:buClrTx/>
              <a:buSzTx/>
            </a:pPr>
            <a:r>
              <a:rPr lang="en-US" sz="1300" b="1" dirty="0"/>
              <a:t>Finding:</a:t>
            </a:r>
            <a:r>
              <a:rPr lang="en-US" sz="1300" dirty="0"/>
              <a:t> The observed difference in </a:t>
            </a:r>
            <a:r>
              <a:rPr lang="en-US" sz="1300" b="1" dirty="0"/>
              <a:t>median</a:t>
            </a:r>
            <a:r>
              <a:rPr lang="en-US" sz="1300" dirty="0"/>
              <a:t> damage was </a:t>
            </a:r>
            <a:r>
              <a:rPr lang="en-US" sz="1300" b="1" dirty="0"/>
              <a:t>0.0</a:t>
            </a:r>
            <a:r>
              <a:rPr lang="en-US" sz="1300" dirty="0"/>
              <a:t>. </a:t>
            </a:r>
            <a:r>
              <a:rPr kumimoji="0" lang="en-US" altLang="en-US" sz="1300" b="0" i="0" u="none" strike="noStrike" cap="none" normalizeH="0" baseline="0" dirty="0">
                <a:ln>
                  <a:noFill/>
                </a:ln>
                <a:effectLst/>
                <a:latin typeface="Arial" panose="020B0604020202020204" pitchFamily="34" charset="0"/>
              </a:rPr>
              <a:t>Both groups had a median score of 2.0  ("Functional Damage").</a:t>
            </a:r>
          </a:p>
          <a:p>
            <a:pPr marR="0" lvl="0" defTabSz="914400" rtl="0" eaLnBrk="0" fontAlgn="base" latinLnBrk="0" hangingPunct="0">
              <a:lnSpc>
                <a:spcPct val="110000"/>
              </a:lnSpc>
              <a:spcBef>
                <a:spcPct val="0"/>
              </a:spcBef>
              <a:spcAft>
                <a:spcPct val="0"/>
              </a:spcAft>
              <a:buClrTx/>
              <a:buSzTx/>
              <a:tabLst/>
            </a:pPr>
            <a:r>
              <a:rPr kumimoji="0" lang="en-US" altLang="en-US" sz="1300" b="1" i="0" u="none" strike="noStrike" cap="none" normalizeH="0" baseline="0" dirty="0">
                <a:ln>
                  <a:noFill/>
                </a:ln>
                <a:effectLst/>
                <a:latin typeface="Arial" panose="020B0604020202020204" pitchFamily="34" charset="0"/>
              </a:rPr>
              <a:t>Uncertainty:</a:t>
            </a:r>
            <a:r>
              <a:rPr kumimoji="0" lang="en-US" altLang="en-US" sz="1300" b="0" i="0" u="none" strike="noStrike" cap="none" normalizeH="0" baseline="0" dirty="0">
                <a:ln>
                  <a:noFill/>
                </a:ln>
                <a:effectLst/>
                <a:latin typeface="Arial" panose="020B0604020202020204" pitchFamily="34" charset="0"/>
              </a:rPr>
              <a:t> 95% Confidence Interval: </a:t>
            </a:r>
            <a:r>
              <a:rPr kumimoji="0" lang="en-US" altLang="en-US" sz="1300" b="1" i="0" u="none" strike="noStrike" cap="none" normalizeH="0" baseline="0" dirty="0">
                <a:ln>
                  <a:noFill/>
                </a:ln>
                <a:effectLst/>
                <a:latin typeface="Arial" panose="020B0604020202020204" pitchFamily="34" charset="0"/>
              </a:rPr>
              <a:t>[0.0, 1.0]</a:t>
            </a:r>
            <a:r>
              <a:rPr kumimoji="0" lang="en-US" altLang="en-US" sz="1300" b="0" i="0" u="none" strike="noStrike" cap="none" normalizeH="0" baseline="0" dirty="0">
                <a:ln>
                  <a:noFill/>
                </a:ln>
                <a:effectLst/>
                <a:latin typeface="Arial" panose="020B0604020202020204" pitchFamily="34" charset="0"/>
              </a:rPr>
              <a:t>.</a:t>
            </a:r>
          </a:p>
          <a:p>
            <a:pPr marR="0" lvl="0" defTabSz="914400" rtl="0" eaLnBrk="0" fontAlgn="base" latinLnBrk="0" hangingPunct="0">
              <a:lnSpc>
                <a:spcPct val="110000"/>
              </a:lnSpc>
              <a:spcBef>
                <a:spcPct val="0"/>
              </a:spcBef>
              <a:spcAft>
                <a:spcPct val="0"/>
              </a:spcAft>
              <a:buClrTx/>
              <a:buSzTx/>
              <a:tabLst/>
            </a:pPr>
            <a:r>
              <a:rPr kumimoji="0" lang="en-US" altLang="en-US" sz="1300" b="1" i="0" u="none" strike="noStrike" cap="none" normalizeH="0" baseline="0" dirty="0">
                <a:ln>
                  <a:noFill/>
                </a:ln>
                <a:effectLst/>
                <a:latin typeface="Arial" panose="020B0604020202020204" pitchFamily="34" charset="0"/>
              </a:rPr>
              <a:t>Interpretation:</a:t>
            </a:r>
            <a:r>
              <a:rPr kumimoji="0" lang="en-US" altLang="en-US" sz="1300" b="0" i="0" u="none" strike="noStrike" cap="none" normalizeH="0" baseline="0" dirty="0">
                <a:ln>
                  <a:noFill/>
                </a:ln>
                <a:effectLst/>
                <a:latin typeface="Arial" panose="020B0604020202020204" pitchFamily="34" charset="0"/>
              </a:rPr>
              <a:t> While the median didn't shift, the interval extends to 1.0, suggesting a potential skew toward higher severity that the median metric misses due to the coarse data scale.</a:t>
            </a:r>
          </a:p>
          <a:p>
            <a:pPr>
              <a:lnSpc>
                <a:spcPct val="110000"/>
              </a:lnSpc>
            </a:pPr>
            <a:r>
              <a:rPr lang="en-US" sz="1300" b="1" dirty="0"/>
              <a:t>The Bootstrap Median Histogram.</a:t>
            </a:r>
            <a:endParaRPr lang="en-US" sz="1300" dirty="0"/>
          </a:p>
          <a:p>
            <a:pPr lvl="1">
              <a:lnSpc>
                <a:spcPct val="110000"/>
              </a:lnSpc>
            </a:pPr>
            <a:r>
              <a:rPr lang="en-US" sz="1300" i="1" dirty="0"/>
              <a:t>Why:</a:t>
            </a:r>
            <a:r>
              <a:rPr lang="en-US" sz="1300" dirty="0"/>
              <a:t> This (the purple histogram) shows the discrete nature of the data and </a:t>
            </a:r>
          </a:p>
          <a:p>
            <a:pPr>
              <a:lnSpc>
                <a:spcPct val="110000"/>
              </a:lnSpc>
            </a:pPr>
            <a:r>
              <a:rPr lang="en-US" sz="1300" dirty="0"/>
              <a:t>helps explain why the result is less conclusive than the fault rate.</a:t>
            </a:r>
          </a:p>
          <a:p>
            <a:pPr marL="0" marR="0" lvl="0" indent="0" defTabSz="914400" rtl="0" eaLnBrk="0" fontAlgn="base" latinLnBrk="0" hangingPunct="0">
              <a:lnSpc>
                <a:spcPct val="110000"/>
              </a:lnSpc>
              <a:spcBef>
                <a:spcPct val="0"/>
              </a:spcBef>
              <a:spcAft>
                <a:spcPct val="0"/>
              </a:spcAft>
              <a:buClrTx/>
              <a:buSzTx/>
              <a:buFontTx/>
              <a:buChar char="•"/>
              <a:tabLst/>
            </a:pPr>
            <a:endParaRPr kumimoji="0" lang="en-US" altLang="en-US" sz="1300" b="0" i="0" u="none" strike="noStrike" cap="none" normalizeH="0" baseline="0" dirty="0">
              <a:ln>
                <a:noFill/>
              </a:ln>
              <a:effectLst/>
              <a:latin typeface="Arial" panose="020B0604020202020204" pitchFamily="34" charset="0"/>
            </a:endParaRPr>
          </a:p>
        </p:txBody>
      </p:sp>
      <p:pic>
        <p:nvPicPr>
          <p:cNvPr id="8" name="Picture 7" descr="A graph with purple bars&#10;&#10;AI-generated content may be incorrect.">
            <a:extLst>
              <a:ext uri="{FF2B5EF4-FFF2-40B4-BE49-F238E27FC236}">
                <a16:creationId xmlns:a16="http://schemas.microsoft.com/office/drawing/2014/main" id="{1ED0FB77-420E-FAF7-1113-1AC01E3BF33E}"/>
              </a:ext>
            </a:extLst>
          </p:cNvPr>
          <p:cNvPicPr>
            <a:picLocks noChangeAspect="1"/>
          </p:cNvPicPr>
          <p:nvPr/>
        </p:nvPicPr>
        <p:blipFill>
          <a:blip r:embed="rId2"/>
          <a:srcRect t="2214" r="3" b="3"/>
          <a:stretch>
            <a:fillRect/>
          </a:stretch>
        </p:blipFill>
        <p:spPr>
          <a:xfrm>
            <a:off x="7554139" y="2310714"/>
            <a:ext cx="3500715" cy="2615613"/>
          </a:xfrm>
          <a:prstGeom prst="rect">
            <a:avLst/>
          </a:prstGeom>
        </p:spPr>
      </p:pic>
    </p:spTree>
    <p:extLst>
      <p:ext uri="{BB962C8B-B14F-4D97-AF65-F5344CB8AC3E}">
        <p14:creationId xmlns:p14="http://schemas.microsoft.com/office/powerpoint/2010/main" val="160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32D32A60-013B-47A8-8833-D24240809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E27932B-B694-4C4C-90D7-A0333A7C58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C6637CA1-2195-E0D7-E05A-FC0131D6C890}"/>
              </a:ext>
            </a:extLst>
          </p:cNvPr>
          <p:cNvSpPr>
            <a:spLocks noGrp="1"/>
          </p:cNvSpPr>
          <p:nvPr>
            <p:ph type="title"/>
          </p:nvPr>
        </p:nvSpPr>
        <p:spPr>
          <a:xfrm>
            <a:off x="1451579" y="2303047"/>
            <a:ext cx="3272093" cy="2674198"/>
          </a:xfrm>
        </p:spPr>
        <p:txBody>
          <a:bodyPr anchor="t">
            <a:normAutofit/>
          </a:bodyPr>
          <a:lstStyle/>
          <a:p>
            <a:r>
              <a:rPr lang="en-US"/>
              <a:t>Conclusion &amp; limitations</a:t>
            </a:r>
            <a:endParaRPr lang="en-US" dirty="0"/>
          </a:p>
        </p:txBody>
      </p:sp>
      <p:cxnSp>
        <p:nvCxnSpPr>
          <p:cNvPr id="24" name="Straight Connector 23">
            <a:extLst>
              <a:ext uri="{FF2B5EF4-FFF2-40B4-BE49-F238E27FC236}">
                <a16:creationId xmlns:a16="http://schemas.microsoft.com/office/drawing/2014/main" id="{9EBB0476-5CF0-4F44-8D68-5D42D7AEE4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1579" y="2146542"/>
            <a:ext cx="3272094"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5" name="Title 1">
            <a:extLst>
              <a:ext uri="{FF2B5EF4-FFF2-40B4-BE49-F238E27FC236}">
                <a16:creationId xmlns:a16="http://schemas.microsoft.com/office/drawing/2014/main" id="{A9DA474E-6B91-4200-840F-0257B2358A75}"/>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pic>
        <p:nvPicPr>
          <p:cNvPr id="26" name="Picture 25">
            <a:extLst>
              <a:ext uri="{FF2B5EF4-FFF2-40B4-BE49-F238E27FC236}">
                <a16:creationId xmlns:a16="http://schemas.microsoft.com/office/drawing/2014/main" id="{DF63C9AD-AE6E-4512-8171-91612E84CCF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27" name="Straight Connector 26">
            <a:extLst>
              <a:ext uri="{FF2B5EF4-FFF2-40B4-BE49-F238E27FC236}">
                <a16:creationId xmlns:a16="http://schemas.microsoft.com/office/drawing/2014/main" id="{FE1A49CE-B63D-457A-A180-1C883E1A63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28" name="Rectangle 1">
            <a:extLst>
              <a:ext uri="{FF2B5EF4-FFF2-40B4-BE49-F238E27FC236}">
                <a16:creationId xmlns:a16="http://schemas.microsoft.com/office/drawing/2014/main" id="{636776B7-ADA0-410A-944B-E9EF04B5CD00}"/>
              </a:ext>
            </a:extLst>
          </p:cNvPr>
          <p:cNvGraphicFramePr>
            <a:graphicFrameLocks noGrp="1"/>
          </p:cNvGraphicFramePr>
          <p:nvPr>
            <p:ph idx="1"/>
            <p:extLst>
              <p:ext uri="{D42A27DB-BD31-4B8C-83A1-F6EECF244321}">
                <p14:modId xmlns:p14="http://schemas.microsoft.com/office/powerpoint/2010/main" val="4135004779"/>
              </p:ext>
            </p:extLst>
          </p:nvPr>
        </p:nvGraphicFramePr>
        <p:xfrm>
          <a:off x="5141913" y="803275"/>
          <a:ext cx="5913437" cy="46370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91038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2D32A60-013B-47A8-8833-D24240809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E27932B-B694-4C4C-90D7-A0333A7C58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8E2DEABB-1B28-5402-4602-F3CBA7287B13}"/>
              </a:ext>
            </a:extLst>
          </p:cNvPr>
          <p:cNvSpPr>
            <a:spLocks noGrp="1"/>
          </p:cNvSpPr>
          <p:nvPr>
            <p:ph type="title"/>
          </p:nvPr>
        </p:nvSpPr>
        <p:spPr>
          <a:xfrm>
            <a:off x="1451579" y="2303047"/>
            <a:ext cx="3272093" cy="2674198"/>
          </a:xfrm>
        </p:spPr>
        <p:txBody>
          <a:bodyPr anchor="t">
            <a:normAutofit/>
          </a:bodyPr>
          <a:lstStyle/>
          <a:p>
            <a:r>
              <a:rPr lang="en-US" dirty="0"/>
              <a:t>References</a:t>
            </a:r>
          </a:p>
        </p:txBody>
      </p:sp>
      <p:cxnSp>
        <p:nvCxnSpPr>
          <p:cNvPr id="20" name="Straight Connector 19">
            <a:extLst>
              <a:ext uri="{FF2B5EF4-FFF2-40B4-BE49-F238E27FC236}">
                <a16:creationId xmlns:a16="http://schemas.microsoft.com/office/drawing/2014/main" id="{9EBB0476-5CF0-4F44-8D68-5D42D7AEE4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1579" y="2146542"/>
            <a:ext cx="3272094"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2" name="Title 1">
            <a:extLst>
              <a:ext uri="{FF2B5EF4-FFF2-40B4-BE49-F238E27FC236}">
                <a16:creationId xmlns:a16="http://schemas.microsoft.com/office/drawing/2014/main" id="{A9DA474E-6B91-4200-840F-0257B2358A75}"/>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pic>
        <p:nvPicPr>
          <p:cNvPr id="24" name="Picture 23">
            <a:extLst>
              <a:ext uri="{FF2B5EF4-FFF2-40B4-BE49-F238E27FC236}">
                <a16:creationId xmlns:a16="http://schemas.microsoft.com/office/drawing/2014/main" id="{DF63C9AD-AE6E-4512-8171-91612E84CCF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26" name="Straight Connector 25">
            <a:extLst>
              <a:ext uri="{FF2B5EF4-FFF2-40B4-BE49-F238E27FC236}">
                <a16:creationId xmlns:a16="http://schemas.microsoft.com/office/drawing/2014/main" id="{FE1A49CE-B63D-457A-A180-1C883E1A63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12" name="Content Placeholder 2">
            <a:extLst>
              <a:ext uri="{FF2B5EF4-FFF2-40B4-BE49-F238E27FC236}">
                <a16:creationId xmlns:a16="http://schemas.microsoft.com/office/drawing/2014/main" id="{75B2F848-43BA-7B1A-2EC6-863CECCC2F07}"/>
              </a:ext>
            </a:extLst>
          </p:cNvPr>
          <p:cNvGraphicFramePr>
            <a:graphicFrameLocks noGrp="1"/>
          </p:cNvGraphicFramePr>
          <p:nvPr>
            <p:ph idx="1"/>
            <p:extLst>
              <p:ext uri="{D42A27DB-BD31-4B8C-83A1-F6EECF244321}">
                <p14:modId xmlns:p14="http://schemas.microsoft.com/office/powerpoint/2010/main" val="3601075278"/>
              </p:ext>
            </p:extLst>
          </p:nvPr>
        </p:nvGraphicFramePr>
        <p:xfrm>
          <a:off x="5141913" y="803275"/>
          <a:ext cx="5913437" cy="46370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73648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DDE5CDF-1512-4CDA-B956-23D223F8DE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B029D7D8-5A6B-4C76-94C8-15798C6C5AD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4" name="Straight Connector 13">
            <a:extLst>
              <a:ext uri="{FF2B5EF4-FFF2-40B4-BE49-F238E27FC236}">
                <a16:creationId xmlns:a16="http://schemas.microsoft.com/office/drawing/2014/main" id="{A5C9319C-E20D-4884-952F-60B6A58C3E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F1176DA6-4BBF-42A4-9C94-E6613CCD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9AAB0AE-172B-4FB4-80C2-86CD6B824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chemeClr val="bg1"/>
          </a:solidFill>
          <a:ln w="22225">
            <a:solidFill>
              <a:srgbClr val="90CC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text with brown letters&#10;&#10;AI-generated content may be incorrect.">
            <a:extLst>
              <a:ext uri="{FF2B5EF4-FFF2-40B4-BE49-F238E27FC236}">
                <a16:creationId xmlns:a16="http://schemas.microsoft.com/office/drawing/2014/main" id="{C80D848F-69A2-D46E-5FA2-0013873028F4}"/>
              </a:ext>
            </a:extLst>
          </p:cNvPr>
          <p:cNvPicPr>
            <a:picLocks noGrp="1" noChangeAspect="1"/>
          </p:cNvPicPr>
          <p:nvPr>
            <p:ph idx="1"/>
          </p:nvPr>
        </p:nvPicPr>
        <p:blipFill>
          <a:blip r:embed="rId3">
            <a:extLst>
              <a:ext uri="{837473B0-CC2E-450A-ABE3-18F120FF3D39}">
                <a1611:picAttrSrcUrl xmlns:a1611="http://schemas.microsoft.com/office/drawing/2016/11/main" r:id="rId4"/>
              </a:ext>
            </a:extLst>
          </a:blip>
          <a:stretch>
            <a:fillRect/>
          </a:stretch>
        </p:blipFill>
        <p:spPr>
          <a:xfrm>
            <a:off x="3310467" y="643467"/>
            <a:ext cx="5571066" cy="5571066"/>
          </a:xfrm>
          <a:prstGeom prst="rect">
            <a:avLst/>
          </a:prstGeom>
        </p:spPr>
      </p:pic>
    </p:spTree>
    <p:extLst>
      <p:ext uri="{BB962C8B-B14F-4D97-AF65-F5344CB8AC3E}">
        <p14:creationId xmlns:p14="http://schemas.microsoft.com/office/powerpoint/2010/main" val="3433237647"/>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236</TotalTime>
  <Words>583</Words>
  <Application>Microsoft Macintosh PowerPoint</Application>
  <PresentationFormat>Widescreen</PresentationFormat>
  <Paragraphs>49</Paragraphs>
  <Slides>9</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Arial</vt:lpstr>
      <vt:lpstr>Gill Sans MT</vt:lpstr>
      <vt:lpstr>Gallery</vt:lpstr>
      <vt:lpstr>Distracted Driving Impact Analysis: Fault &amp; Severity</vt:lpstr>
      <vt:lpstr>Data &amp; hypotheses</vt:lpstr>
      <vt:lpstr>Methodology</vt:lpstr>
      <vt:lpstr>Key result: metric 1-fault rate</vt:lpstr>
      <vt:lpstr>Bootstrap distribution </vt:lpstr>
      <vt:lpstr>Key result metric 2: Damage severity</vt:lpstr>
      <vt:lpstr>Conclusion &amp; limitations</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Ayieko, Caroline K.</dc:creator>
  <cp:lastModifiedBy>Ayieko, Caroline K.</cp:lastModifiedBy>
  <cp:revision>6</cp:revision>
  <dcterms:created xsi:type="dcterms:W3CDTF">2025-12-14T20:42:36Z</dcterms:created>
  <dcterms:modified xsi:type="dcterms:W3CDTF">2025-12-16T01:44:46Z</dcterms:modified>
</cp:coreProperties>
</file>